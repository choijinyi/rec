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371" r:id="rId3"/>
    <p:sldId id="373" r:id="rId4"/>
    <p:sldId id="372" r:id="rId5"/>
    <p:sldId id="374" r:id="rId6"/>
    <p:sldId id="375" r:id="rId7"/>
    <p:sldId id="376" r:id="rId8"/>
    <p:sldId id="377" r:id="rId9"/>
    <p:sldId id="386" r:id="rId10"/>
    <p:sldId id="378" r:id="rId11"/>
    <p:sldId id="387" r:id="rId12"/>
    <p:sldId id="379" r:id="rId13"/>
    <p:sldId id="380" r:id="rId14"/>
    <p:sldId id="381" r:id="rId15"/>
    <p:sldId id="382" r:id="rId16"/>
    <p:sldId id="383" r:id="rId17"/>
    <p:sldId id="384" r:id="rId18"/>
    <p:sldId id="385" r:id="rId19"/>
    <p:sldId id="353" r:id="rId20"/>
    <p:sldId id="605" r:id="rId21"/>
    <p:sldId id="600" r:id="rId22"/>
    <p:sldId id="601" r:id="rId23"/>
    <p:sldId id="602" r:id="rId24"/>
    <p:sldId id="603" r:id="rId25"/>
    <p:sldId id="604" r:id="rId26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04">
          <p15:clr>
            <a:srgbClr val="A4A3A4"/>
          </p15:clr>
        </p15:guide>
        <p15:guide id="2" pos="22">
          <p15:clr>
            <a:srgbClr val="A4A3A4"/>
          </p15:clr>
        </p15:guide>
        <p15:guide id="3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0609"/>
    <a:srgbClr val="9DD323"/>
    <a:srgbClr val="FFE285"/>
    <a:srgbClr val="FFF1C5"/>
    <a:srgbClr val="450305"/>
    <a:srgbClr val="08054B"/>
    <a:srgbClr val="9999FF"/>
    <a:srgbClr val="111E2D"/>
    <a:srgbClr val="5B0507"/>
    <a:srgbClr val="2294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7764" autoAdjust="0"/>
    <p:restoredTop sz="94660"/>
  </p:normalViewPr>
  <p:slideViewPr>
    <p:cSldViewPr showGuides="1">
      <p:cViewPr varScale="1">
        <p:scale>
          <a:sx n="143" d="100"/>
          <a:sy n="143" d="100"/>
        </p:scale>
        <p:origin x="282" y="114"/>
      </p:cViewPr>
      <p:guideLst>
        <p:guide orient="horz" pos="804"/>
        <p:guide pos="22"/>
        <p:guide pos="15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94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A8BA1D-DC00-4CE0-BE36-D7A503F5CE90}" type="datetimeFigureOut">
              <a:rPr lang="ko-KR" altLang="en-US" smtClean="0"/>
              <a:t>2022-11-01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BD12AE-ABD7-472E-9FAC-3CF530EFE1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0823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A0E132-1DBB-4F67-8947-C145EAAEE5FB}" type="datetimeFigureOut">
              <a:rPr lang="ko-KR" altLang="en-US" smtClean="0"/>
              <a:t>2022-11-01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B6F3E7-5E6C-49FF-B69F-C58D5237C7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6021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B6F3E7-5E6C-49FF-B69F-C58D5237C70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0840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36546"/>
            <a:ext cx="2127250" cy="60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3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555526"/>
            <a:ext cx="9144000" cy="4587875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chemeClr val="bg1">
                  <a:alpha val="50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ctrTitle"/>
          </p:nvPr>
        </p:nvSpPr>
        <p:spPr>
          <a:xfrm>
            <a:off x="35496" y="123478"/>
            <a:ext cx="7631882" cy="432048"/>
          </a:xfrm>
          <a:prstGeom prst="rect">
            <a:avLst/>
          </a:prstGeom>
        </p:spPr>
        <p:txBody>
          <a:bodyPr vert="horz" lIns="91426" tIns="45712" rIns="91426" bIns="45712" rtlCol="0" anchor="ctr">
            <a:noAutofit/>
          </a:bodyPr>
          <a:lstStyle>
            <a:lvl1pPr algn="l" defTabSz="914257" rtl="0" eaLnBrk="1" latinLnBrk="1" hangingPunct="1">
              <a:spcBef>
                <a:spcPct val="0"/>
              </a:spcBef>
              <a:buNone/>
              <a:defRPr lang="ko-KR" altLang="en-US" sz="2500" b="1" kern="1200" cap="none" spc="-50" baseline="0" dirty="0">
                <a:ln w="18415" cmpd="sng">
                  <a:noFill/>
                  <a:prstDash val="solid"/>
                </a:ln>
                <a:solidFill>
                  <a:srgbClr val="1D1C1C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0" y="555526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3167610" y="4979372"/>
            <a:ext cx="280878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KOREA SOONGSIL CYBER UNIVERSITY </a:t>
            </a:r>
            <a:endParaRPr lang="ko-KR" altLang="en-US" sz="600" spc="3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9898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9144000" cy="5143401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90000"/>
                </a:srgbClr>
              </a:gs>
              <a:gs pos="100000">
                <a:schemeClr val="bg1">
                  <a:alpha val="80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3167610" y="4979372"/>
            <a:ext cx="280878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KOREA SOONGSIL CYBER UNIVERSITY </a:t>
            </a:r>
            <a:endParaRPr lang="ko-KR" altLang="en-US" sz="600" spc="3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323528" y="123478"/>
            <a:ext cx="7631882" cy="432048"/>
          </a:xfrm>
          <a:prstGeom prst="rect">
            <a:avLst/>
          </a:prstGeom>
        </p:spPr>
        <p:txBody>
          <a:bodyPr vert="horz" lIns="91426" tIns="45712" rIns="91426" bIns="45712" rtlCol="0" anchor="ctr">
            <a:noAutofit/>
          </a:bodyPr>
          <a:lstStyle>
            <a:lvl1pPr algn="l" defTabSz="914257" rtl="0" eaLnBrk="1" latinLnBrk="1" hangingPunct="1">
              <a:spcBef>
                <a:spcPct val="0"/>
              </a:spcBef>
              <a:buNone/>
              <a:defRPr lang="ko-KR" altLang="en-US" sz="2500" b="1" kern="1200" spc="-50" baseline="0" dirty="0">
                <a:solidFill>
                  <a:srgbClr val="5B050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2860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3167610" y="4979372"/>
            <a:ext cx="280878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KOREA SOONGSIL CYBER UNIVERSITY </a:t>
            </a:r>
            <a:endParaRPr lang="ko-KR" altLang="en-US" sz="600" spc="3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2714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167610" y="4979372"/>
            <a:ext cx="280878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KOREA SOONGSIL CYBER UNIVERSITY </a:t>
            </a:r>
            <a:endParaRPr lang="ko-KR" altLang="en-US" sz="600" spc="300" dirty="0">
              <a:solidFill>
                <a:schemeClr val="tx1">
                  <a:lumMod val="65000"/>
                  <a:lumOff val="3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1499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D:\아초_C\ah\템플릿작업\템플릿08\main0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4587975"/>
          </a:xfrm>
          <a:prstGeom prst="rect">
            <a:avLst/>
          </a:prstGeom>
          <a:noFill/>
        </p:spPr>
      </p:pic>
      <p:sp>
        <p:nvSpPr>
          <p:cNvPr id="11" name="직사각형 10"/>
          <p:cNvSpPr/>
          <p:nvPr userDrawn="1"/>
        </p:nvSpPr>
        <p:spPr>
          <a:xfrm>
            <a:off x="0" y="555526"/>
            <a:ext cx="9144000" cy="4176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2344467" y="4887039"/>
            <a:ext cx="4455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300" dirty="0">
                <a:solidFill>
                  <a:srgbClr val="DDDDDD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KOREA SOONGSIL CYBER UNIVERSITY </a:t>
            </a:r>
            <a:endParaRPr lang="ko-KR" altLang="en-US" sz="1200" spc="300" dirty="0">
              <a:solidFill>
                <a:srgbClr val="DDDDDD"/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15" name="제목 1"/>
          <p:cNvSpPr>
            <a:spLocks noGrp="1"/>
          </p:cNvSpPr>
          <p:nvPr>
            <p:ph type="ctrTitle"/>
          </p:nvPr>
        </p:nvSpPr>
        <p:spPr>
          <a:xfrm>
            <a:off x="107504" y="51470"/>
            <a:ext cx="8135938" cy="432048"/>
          </a:xfrm>
          <a:prstGeom prst="rect">
            <a:avLst/>
          </a:prstGeom>
        </p:spPr>
        <p:txBody>
          <a:bodyPr vert="horz" lIns="91426" tIns="45712" rIns="91426" bIns="45712" rtlCol="0" anchor="ctr">
            <a:noAutofit/>
          </a:bodyPr>
          <a:lstStyle>
            <a:lvl1pPr marL="0" algn="l" defTabSz="914257" rtl="0" eaLnBrk="1" latinLnBrk="1" hangingPunct="1">
              <a:spcBef>
                <a:spcPct val="0"/>
              </a:spcBef>
              <a:buNone/>
              <a:defRPr lang="ko-KR" altLang="en-US" sz="2800" b="1" kern="1200" spc="-100" dirty="0">
                <a:ln w="18415" cmpd="sng">
                  <a:noFill/>
                  <a:prstDash val="solid"/>
                </a:ln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2344467" y="4887039"/>
            <a:ext cx="4455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300" dirty="0">
                <a:solidFill>
                  <a:srgbClr val="DDDDDD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KOREA SOONGSIL CYBER UNIVERSITY </a:t>
            </a:r>
            <a:endParaRPr lang="ko-KR" altLang="en-US" sz="1200" spc="300" dirty="0">
              <a:solidFill>
                <a:srgbClr val="DDDDDD"/>
              </a:solidFill>
              <a:latin typeface="나눔명조" panose="02020603020101020101" pitchFamily="18" charset="-127"/>
              <a:ea typeface="나눔명조" panose="02020603020101020101" pitchFamily="18" charset="-127"/>
            </a:endParaRPr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-36512" y="4803998"/>
            <a:ext cx="576064" cy="436902"/>
          </a:xfrm>
          <a:prstGeom prst="rect">
            <a:avLst/>
          </a:prstGeom>
          <a:noFill/>
        </p:spPr>
        <p:txBody>
          <a:bodyPr lIns="0" rIns="0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1800" b="1" kern="120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D2F414-BE58-44A0-A06B-7595B7FE6A8D}" type="slidenum">
              <a:rPr kumimoji="0" lang="ko-KR" altLang="en-US" sz="1400" b="0" i="0" u="none" strike="noStrike" kern="1200" cap="none" spc="0" normalizeH="0" baseline="0" noProof="0" smtClean="0">
                <a:ln>
                  <a:noFill/>
                </a:ln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767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3C70D-A747-430E-A386-35C85EDEDCEF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03911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6F9FC"/>
            </a:gs>
            <a:gs pos="100000">
              <a:schemeClr val="bg1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21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6" r:id="rId3"/>
    <p:sldLayoutId id="2147483654" r:id="rId4"/>
    <p:sldLayoutId id="2147483655" r:id="rId5"/>
    <p:sldLayoutId id="2147483657" r:id="rId6"/>
    <p:sldLayoutId id="2147483658" r:id="rId7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jpeg"/><Relationship Id="rId4" Type="http://schemas.openxmlformats.org/officeDocument/2006/relationships/hyperlink" Target="https://youtu.be/V_-Mi9J6kLU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/>
        </p:nvSpPr>
        <p:spPr>
          <a:xfrm>
            <a:off x="2604" y="957982"/>
            <a:ext cx="9144000" cy="864096"/>
          </a:xfrm>
          <a:prstGeom prst="roundRect">
            <a:avLst>
              <a:gd name="adj" fmla="val 4777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447256" y="1097682"/>
            <a:ext cx="5472608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3200" b="1" spc="-100" dirty="0">
                <a:ln w="18415" cmpd="sng">
                  <a:noFill/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여가의 속성들</a:t>
            </a:r>
          </a:p>
        </p:txBody>
      </p:sp>
    </p:spTree>
    <p:extLst>
      <p:ext uri="{BB962C8B-B14F-4D97-AF65-F5344CB8AC3E}">
        <p14:creationId xmlns:p14="http://schemas.microsoft.com/office/powerpoint/2010/main" val="2419946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24494" y="771550"/>
            <a:ext cx="8135938" cy="432048"/>
          </a:xfrm>
        </p:spPr>
        <p:txBody>
          <a:bodyPr>
            <a:noAutofit/>
          </a:bodyPr>
          <a:lstStyle/>
          <a:p>
            <a:r>
              <a:rPr lang="en-US" altLang="ko-KR" dirty="0"/>
              <a:t>    </a:t>
            </a:r>
            <a:r>
              <a:rPr lang="ko-KR" altLang="en-US" dirty="0"/>
              <a:t>함께 배우는 레크리에이션</a:t>
            </a:r>
          </a:p>
        </p:txBody>
      </p:sp>
      <p:grpSp>
        <p:nvGrpSpPr>
          <p:cNvPr id="3" name="그룹 14"/>
          <p:cNvGrpSpPr/>
          <p:nvPr/>
        </p:nvGrpSpPr>
        <p:grpSpPr>
          <a:xfrm>
            <a:off x="143384" y="1851669"/>
            <a:ext cx="5265723" cy="380613"/>
            <a:chOff x="-3558356" y="1180753"/>
            <a:chExt cx="2880320" cy="380613"/>
          </a:xfrm>
        </p:grpSpPr>
        <p:grpSp>
          <p:nvGrpSpPr>
            <p:cNvPr id="4" name="그룹 15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19" name="모서리가 둥근 직사각형 18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-373384" algn="ctr">
                  <a:lnSpc>
                    <a:spcPct val="80000"/>
                  </a:lnSpc>
                  <a:buClr>
                    <a:schemeClr val="hlink"/>
                  </a:buClr>
                  <a:buSzPts val="1200"/>
                  <a:defRPr/>
                </a:pPr>
                <a:endParaRPr lang="ko-KR" altLang="en-US" sz="1200">
                  <a:solidFill>
                    <a:sysClr val="window" lastClr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20" name="그림 19" descr="7.png"/>
              <p:cNvPicPr>
                <a:picLocks noChangeAspect="1"/>
              </p:cNvPicPr>
              <p:nvPr/>
            </p:nvPicPr>
            <p:blipFill>
              <a:blip r:embed="rId2" cstate="print"/>
              <a:srcRect l="36136" t="27801" r="50166" b="42889"/>
              <a:stretch>
                <a:fillRect/>
              </a:stretch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</p:spPr>
          </p:pic>
        </p:grpSp>
        <p:sp>
          <p:nvSpPr>
            <p:cNvPr id="17" name="TextBox 125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</p:spPr>
          <p:txBody>
            <a:bodyPr wrap="square" lIns="91426" tIns="45712" rIns="91426" bIns="45712" rtlCol="0" anchor="ctr">
              <a:spAutoFit/>
              <a:scene3d>
                <a:camera prst="orthographicFront"/>
                <a:lightRig rig="threePt" dir="t"/>
              </a:scene3d>
              <a:sp3d>
                <a:bevelT w="1270" h="1270"/>
              </a:sp3d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b="1" spc="-150" dirty="0">
                  <a:gradFill flip="none" rotWithShape="1">
                    <a:gsLst>
                      <a:gs pos="0">
                        <a:schemeClr val="bg1">
                          <a:lumMod val="75000"/>
                          <a:tint val="66000"/>
                          <a:satMod val="160000"/>
                        </a:schemeClr>
                      </a:gs>
                      <a:gs pos="50000">
                        <a:schemeClr val="bg1">
                          <a:lumMod val="75000"/>
                          <a:tint val="44500"/>
                          <a:satMod val="160000"/>
                        </a:schemeClr>
                      </a:gs>
                      <a:gs pos="100000">
                        <a:schemeClr val="bg1">
                          <a:lumMod val="75000"/>
                          <a:tint val="23500"/>
                          <a:satMod val="160000"/>
                        </a:schemeClr>
                      </a:gs>
                    </a:gsLst>
                    <a:lin ang="2700000" scaled="1"/>
                    <a:tileRect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게임에 대한 잘못 된 상식</a:t>
              </a:r>
            </a:p>
          </p:txBody>
        </p:sp>
      </p:grpSp>
      <p:sp>
        <p:nvSpPr>
          <p:cNvPr id="24" name="직사각형 32"/>
          <p:cNvSpPr/>
          <p:nvPr/>
        </p:nvSpPr>
        <p:spPr>
          <a:xfrm>
            <a:off x="232012" y="2272420"/>
            <a:ext cx="5088319" cy="1091418"/>
          </a:xfrm>
          <a:prstGeom prst="roundRect">
            <a:avLst>
              <a:gd name="adj" fmla="val 3362"/>
            </a:avLst>
          </a:prstGeom>
          <a:solidFill>
            <a:sysClr val="window" lastClr="FFFFFF"/>
          </a:solidFill>
          <a:ln w="12700" cap="flat" cmpd="sng" algn="ctr">
            <a:gradFill>
              <a:gsLst>
                <a:gs pos="0">
                  <a:srgbClr val="B8B8B8"/>
                </a:gs>
                <a:gs pos="50000">
                  <a:sysClr val="window" lastClr="FFFFFF">
                    <a:lumMod val="85000"/>
                  </a:sysClr>
                </a:gs>
                <a:gs pos="100000">
                  <a:srgbClr val="B8B8B8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>
            <a:innerShdw blurRad="228600">
              <a:sysClr val="window" lastClr="FFFFFF">
                <a:lumMod val="75000"/>
              </a:sysClr>
            </a:innerShdw>
          </a:effectLst>
          <a:scene3d>
            <a:camera prst="orthographicFront"/>
            <a:lightRig rig="flat" dir="t"/>
          </a:scene3d>
        </p:spPr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292028" y="2390279"/>
            <a:ext cx="4962360" cy="7194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4305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1457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5762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2915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67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17220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새로운 게임을 찾아라</a:t>
            </a:r>
            <a:r>
              <a:rPr lang="en-US" altLang="ko-KR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?</a:t>
            </a:r>
          </a:p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재미있으면 조금만 더</a:t>
            </a:r>
            <a:r>
              <a:rPr lang="en-US" altLang="ko-KR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1494757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여가의 속성들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0" y="700259"/>
            <a:ext cx="593873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■"/>
            </a:pPr>
            <a:endParaRPr kumimoji="1" lang="ko-KR" altLang="en-US" b="1" spc="-150" dirty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51519" y="1270256"/>
            <a:ext cx="5689353" cy="252563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  <a:effectLst>
            <a:outerShdw blurRad="114300" dist="63500" dir="30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174625" algn="ctr">
              <a:lnSpc>
                <a:spcPct val="114000"/>
              </a:lnSpc>
              <a:spcBef>
                <a:spcPts val="1200"/>
              </a:spcBef>
              <a:buFont typeface="Arial" pitchFamily="34" charset="0"/>
              <a:buChar char="•"/>
              <a:defRPr/>
            </a:pP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483558" y="1841325"/>
            <a:ext cx="5384586" cy="1769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좋은 삶에 대한 이해</a:t>
            </a:r>
          </a:p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삶에 대한 질적인 평가는 시대를 따라 다르다</a:t>
            </a:r>
            <a:endParaRPr lang="en-US" altLang="ko-KR" b="1" spc="-12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27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그러나 삶에 대한 평가는 누구나 하고 있다</a:t>
            </a:r>
            <a:endParaRPr lang="en-US" altLang="ko-KR" b="1" spc="-12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27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대부분의 사람들의 삶의 질에 대한 평가는 상대평가이다</a:t>
            </a:r>
            <a:endParaRPr lang="en-US" altLang="ko-KR" b="1" spc="-12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27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과거와 현재와 미래의 삶</a:t>
            </a:r>
            <a:endParaRPr lang="en-US" altLang="ko-KR" b="1" spc="-12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27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363293" y="1386819"/>
            <a:ext cx="5360835" cy="396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175117" tIns="87558" rIns="175117" bIns="87558" anchor="ctr" anchorCtr="0">
            <a:noAutofit/>
          </a:bodyPr>
          <a:lstStyle>
            <a:defPPr>
              <a:defRPr lang="ko-KR"/>
            </a:defPPr>
            <a:lvl1pPr>
              <a:defRPr b="1" spc="-100">
                <a:solidFill>
                  <a:schemeClr val="accent4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pPr marL="285750" indent="-285750" latinLnBrk="0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ko-KR" altLang="en-US" spc="-50" dirty="0">
                <a:gradFill>
                  <a:gsLst>
                    <a:gs pos="100000">
                      <a:schemeClr val="tx2">
                        <a:lumMod val="50000"/>
                      </a:schemeClr>
                    </a:gs>
                    <a:gs pos="0">
                      <a:schemeClr val="tx2">
                        <a:lumMod val="75000"/>
                      </a:schemeClr>
                    </a:gs>
                  </a:gsLst>
                  <a:lin ang="5400000" scaled="0"/>
                </a:gradFill>
                <a:cs typeface="Arial" pitchFamily="34" charset="0"/>
              </a:rPr>
              <a:t>여가 이해           좋은 삶에 대한 이해</a:t>
            </a:r>
            <a:endParaRPr lang="en-US" altLang="ko-KR" spc="-50" dirty="0">
              <a:gradFill>
                <a:gsLst>
                  <a:gs pos="100000">
                    <a:schemeClr val="tx2">
                      <a:lumMod val="50000"/>
                    </a:schemeClr>
                  </a:gs>
                  <a:gs pos="0">
                    <a:schemeClr val="tx2">
                      <a:lumMod val="75000"/>
                    </a:schemeClr>
                  </a:gs>
                </a:gsLst>
                <a:lin ang="5400000" scaled="0"/>
              </a:gradFill>
              <a:cs typeface="Arial" pitchFamily="34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7504" y="699542"/>
            <a:ext cx="48245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85725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2000" b="1" dirty="0">
                <a:solidFill>
                  <a:srgbClr val="08054B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1) </a:t>
            </a:r>
            <a:r>
              <a:rPr lang="ko-KR" altLang="en-US" sz="2000" b="1" dirty="0">
                <a:solidFill>
                  <a:srgbClr val="08054B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좋은 삶이란</a:t>
            </a:r>
          </a:p>
        </p:txBody>
      </p:sp>
      <p:sp>
        <p:nvSpPr>
          <p:cNvPr id="12" name="오른쪽 화살표 11"/>
          <p:cNvSpPr/>
          <p:nvPr/>
        </p:nvSpPr>
        <p:spPr>
          <a:xfrm>
            <a:off x="1821842" y="1477776"/>
            <a:ext cx="432048" cy="216024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026" name="Picture 2" descr="삶의 질 순위 이미지 검색결과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72251"/>
            <a:ext cx="2736304" cy="4988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6558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여가의 속성들</a:t>
            </a:r>
          </a:p>
        </p:txBody>
      </p:sp>
      <p:pic>
        <p:nvPicPr>
          <p:cNvPr id="2050" name="Picture 2" descr="http://img.hani.co.kr/imgdb/resize/2017/0324/149024776212_2017032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539"/>
            <a:ext cx="6228184" cy="4991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592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28" name="Picture 4" descr="관련 이미지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555625"/>
            <a:ext cx="2857500" cy="444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4456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3074" name="Picture 2" descr="석기시대 부자에 대한 이미지 검색결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85" y="1347614"/>
            <a:ext cx="4762500" cy="3209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0" y="700259"/>
            <a:ext cx="5131085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■"/>
            </a:pPr>
            <a:endParaRPr kumimoji="1" lang="ko-KR" altLang="en-US" b="1" spc="-150" dirty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07504" y="699542"/>
            <a:ext cx="482453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85725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000" b="1" dirty="0">
                <a:solidFill>
                  <a:srgbClr val="08054B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아주 옛날에는 행복이 무엇이었을까요</a:t>
            </a:r>
            <a:r>
              <a:rPr lang="en-US" altLang="ko-KR" sz="2000" b="1" dirty="0">
                <a:solidFill>
                  <a:srgbClr val="08054B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?</a:t>
            </a:r>
            <a:endParaRPr lang="ko-KR" altLang="en-US" sz="2000" b="1" dirty="0">
              <a:solidFill>
                <a:srgbClr val="08054B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09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098" name="Picture 2" descr="석기시대 부자에 대한 이미지 검색결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17" y="1203597"/>
            <a:ext cx="4929567" cy="332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0" y="700259"/>
            <a:ext cx="5131085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■"/>
            </a:pPr>
            <a:endParaRPr kumimoji="1" lang="ko-KR" altLang="en-US" b="1" spc="-150" dirty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07504" y="699542"/>
            <a:ext cx="482453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85725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000" b="1" dirty="0">
                <a:solidFill>
                  <a:srgbClr val="08054B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아주 옛날에는 행복이 무엇이었을까요</a:t>
            </a:r>
            <a:r>
              <a:rPr lang="en-US" altLang="ko-KR" sz="2000" b="1" dirty="0">
                <a:solidFill>
                  <a:srgbClr val="08054B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?</a:t>
            </a:r>
            <a:endParaRPr lang="ko-KR" altLang="en-US" sz="2000" b="1" dirty="0">
              <a:solidFill>
                <a:srgbClr val="08054B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998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122" name="Picture 2" descr="현대인의 행복에 대한 이미지 검색결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99542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0" y="700259"/>
            <a:ext cx="5131085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■"/>
            </a:pPr>
            <a:endParaRPr kumimoji="1" lang="ko-KR" altLang="en-US" b="1" spc="-150" dirty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07504" y="699542"/>
            <a:ext cx="482453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85725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000" b="1" dirty="0">
                <a:solidFill>
                  <a:srgbClr val="08054B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그럼 오늘날에는 행복할까요</a:t>
            </a:r>
            <a:r>
              <a:rPr lang="en-US" altLang="ko-KR" sz="2000" b="1" dirty="0">
                <a:solidFill>
                  <a:srgbClr val="08054B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?</a:t>
            </a:r>
            <a:endParaRPr lang="ko-KR" altLang="en-US" sz="2000" b="1" dirty="0">
              <a:solidFill>
                <a:srgbClr val="08054B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545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0" y="700259"/>
            <a:ext cx="5131085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■"/>
            </a:pPr>
            <a:endParaRPr kumimoji="1" lang="ko-KR" altLang="en-US" b="1" spc="-150" dirty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07504" y="699542"/>
            <a:ext cx="482453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85725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000" b="1" dirty="0">
                <a:solidFill>
                  <a:srgbClr val="08054B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그럼 오늘날에는 행복할까요</a:t>
            </a:r>
            <a:r>
              <a:rPr lang="en-US" altLang="ko-KR" sz="2000" b="1" dirty="0">
                <a:solidFill>
                  <a:srgbClr val="08054B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?</a:t>
            </a:r>
            <a:endParaRPr lang="ko-KR" altLang="en-US" sz="2000" b="1" dirty="0">
              <a:solidFill>
                <a:srgbClr val="08054B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pic>
        <p:nvPicPr>
          <p:cNvPr id="3076" name="Picture 4" descr="청소년 행복지수 2019 이미지 검색결과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26" y="1188205"/>
            <a:ext cx="1878765" cy="3955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청소년 행복지수 2019 이미지 검색결과&quot;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AutoShape 4" descr="청소년 행복지수 2019 이미지 검색결과&quot;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004" y="1188205"/>
            <a:ext cx="4974517" cy="3759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7524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여가의 속성들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57021" y="670564"/>
            <a:ext cx="5063052" cy="510536"/>
            <a:chOff x="157021" y="670564"/>
            <a:chExt cx="5214966" cy="648380"/>
          </a:xfrm>
        </p:grpSpPr>
        <p:sp>
          <p:nvSpPr>
            <p:cNvPr id="8" name="직사각형 7"/>
            <p:cNvSpPr/>
            <p:nvPr/>
          </p:nvSpPr>
          <p:spPr bwMode="auto">
            <a:xfrm>
              <a:off x="373211" y="714374"/>
              <a:ext cx="4998776" cy="53199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mpd="sng">
              <a:noFill/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 spc="-1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9" name="그림 8" descr="탭번호.png"/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 bwMode="auto">
            <a:xfrm>
              <a:off x="157021" y="670564"/>
              <a:ext cx="595225" cy="648380"/>
            </a:xfrm>
            <a:prstGeom prst="rect">
              <a:avLst/>
            </a:prstGeom>
          </p:spPr>
        </p:pic>
      </p:grpSp>
      <p:sp>
        <p:nvSpPr>
          <p:cNvPr id="10" name="직사각형 9"/>
          <p:cNvSpPr/>
          <p:nvPr/>
        </p:nvSpPr>
        <p:spPr>
          <a:xfrm>
            <a:off x="166546" y="656109"/>
            <a:ext cx="4956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>
                <a:gradFill flip="none" rotWithShape="1">
                  <a:gsLst>
                    <a:gs pos="0">
                      <a:schemeClr val="bg1">
                        <a:lumMod val="75000"/>
                        <a:tint val="66000"/>
                        <a:satMod val="160000"/>
                      </a:schemeClr>
                    </a:gs>
                    <a:gs pos="50000">
                      <a:schemeClr val="bg1">
                        <a:lumMod val="75000"/>
                        <a:tint val="44500"/>
                        <a:satMod val="160000"/>
                      </a:schemeClr>
                    </a:gs>
                    <a:gs pos="100000">
                      <a:schemeClr val="bg1">
                        <a:lumMod val="75000"/>
                        <a:tint val="23500"/>
                        <a:satMod val="16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02</a:t>
            </a:r>
            <a:endParaRPr lang="ko-KR" altLang="en-US" sz="2000" b="1" dirty="0">
              <a:gradFill flip="none" rotWithShape="1">
                <a:gsLst>
                  <a:gs pos="0">
                    <a:schemeClr val="bg1">
                      <a:lumMod val="75000"/>
                      <a:tint val="66000"/>
                      <a:satMod val="160000"/>
                    </a:schemeClr>
                  </a:gs>
                  <a:gs pos="50000">
                    <a:schemeClr val="bg1">
                      <a:lumMod val="75000"/>
                      <a:tint val="44500"/>
                      <a:satMod val="160000"/>
                    </a:schemeClr>
                  </a:gs>
                  <a:gs pos="100000">
                    <a:schemeClr val="bg1">
                      <a:lumMod val="75000"/>
                      <a:tint val="23500"/>
                      <a:satMod val="160000"/>
                    </a:schemeClr>
                  </a:gs>
                </a:gsLst>
                <a:lin ang="5400000" scaled="1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87610" y="723899"/>
            <a:ext cx="26388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0"/>
            <a:r>
              <a:rPr lang="ko-KR" altLang="en-US" sz="2000" b="1" spc="-100" dirty="0">
                <a:gradFill flip="none" rotWithShape="1">
                  <a:gsLst>
                    <a:gs pos="0">
                      <a:schemeClr val="accent5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5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5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학자들이 말하는 좋은 삶</a:t>
            </a:r>
            <a:endParaRPr lang="ko-KR" altLang="ko-KR" sz="2000" b="1" spc="-100" dirty="0">
              <a:gradFill flip="none" rotWithShape="1">
                <a:gsLst>
                  <a:gs pos="0">
                    <a:schemeClr val="accent5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5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5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grpSp>
        <p:nvGrpSpPr>
          <p:cNvPr id="12" name="그룹 14"/>
          <p:cNvGrpSpPr/>
          <p:nvPr/>
        </p:nvGrpSpPr>
        <p:grpSpPr>
          <a:xfrm>
            <a:off x="98365" y="1347613"/>
            <a:ext cx="5265723" cy="380613"/>
            <a:chOff x="-3558356" y="1180753"/>
            <a:chExt cx="2880320" cy="380613"/>
          </a:xfrm>
        </p:grpSpPr>
        <p:grpSp>
          <p:nvGrpSpPr>
            <p:cNvPr id="13" name="그룹 15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15" name="모서리가 둥근 직사각형 14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-373384" algn="ctr">
                  <a:lnSpc>
                    <a:spcPct val="80000"/>
                  </a:lnSpc>
                  <a:buClr>
                    <a:schemeClr val="hlink"/>
                  </a:buClr>
                  <a:buSzPts val="1200"/>
                  <a:defRPr/>
                </a:pPr>
                <a:endParaRPr lang="ko-KR" altLang="en-US" sz="1200">
                  <a:solidFill>
                    <a:sysClr val="window" lastClr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16" name="그림 15" descr="7.png"/>
              <p:cNvPicPr>
                <a:picLocks noChangeAspect="1"/>
              </p:cNvPicPr>
              <p:nvPr/>
            </p:nvPicPr>
            <p:blipFill>
              <a:blip r:embed="rId3" cstate="print"/>
              <a:srcRect l="36136" t="27801" r="50166" b="42889"/>
              <a:stretch>
                <a:fillRect/>
              </a:stretch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</p:spPr>
          </p:pic>
        </p:grpSp>
        <p:sp>
          <p:nvSpPr>
            <p:cNvPr id="14" name="TextBox 125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</p:spPr>
          <p:txBody>
            <a:bodyPr wrap="square" lIns="91426" tIns="45712" rIns="91426" bIns="45712" rtlCol="0" anchor="ctr">
              <a:spAutoFit/>
              <a:scene3d>
                <a:camera prst="orthographicFront"/>
                <a:lightRig rig="threePt" dir="t"/>
              </a:scene3d>
              <a:sp3d>
                <a:bevelT w="1270" h="1270"/>
              </a:sp3d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b="1" spc="-150" dirty="0">
                  <a:gradFill flip="none" rotWithShape="1">
                    <a:gsLst>
                      <a:gs pos="0">
                        <a:schemeClr val="bg1">
                          <a:lumMod val="75000"/>
                          <a:tint val="66000"/>
                          <a:satMod val="160000"/>
                        </a:schemeClr>
                      </a:gs>
                      <a:gs pos="50000">
                        <a:schemeClr val="bg1">
                          <a:lumMod val="75000"/>
                          <a:tint val="44500"/>
                          <a:satMod val="160000"/>
                        </a:schemeClr>
                      </a:gs>
                      <a:gs pos="100000">
                        <a:schemeClr val="bg1">
                          <a:lumMod val="75000"/>
                          <a:tint val="23500"/>
                          <a:satMod val="160000"/>
                        </a:schemeClr>
                      </a:gs>
                    </a:gsLst>
                    <a:lin ang="2700000" scaled="1"/>
                    <a:tileRect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좋은 삶에는 전제 조건이 필요하다</a:t>
              </a:r>
            </a:p>
          </p:txBody>
        </p:sp>
      </p:grpSp>
      <p:sp>
        <p:nvSpPr>
          <p:cNvPr id="17" name="직사각형 32"/>
          <p:cNvSpPr/>
          <p:nvPr/>
        </p:nvSpPr>
        <p:spPr>
          <a:xfrm>
            <a:off x="186993" y="1912380"/>
            <a:ext cx="5088319" cy="587362"/>
          </a:xfrm>
          <a:prstGeom prst="roundRect">
            <a:avLst>
              <a:gd name="adj" fmla="val 3362"/>
            </a:avLst>
          </a:prstGeom>
          <a:solidFill>
            <a:sysClr val="window" lastClr="FFFFFF"/>
          </a:solidFill>
          <a:ln w="12700" cap="flat" cmpd="sng" algn="ctr">
            <a:gradFill>
              <a:gsLst>
                <a:gs pos="0">
                  <a:srgbClr val="B8B8B8"/>
                </a:gs>
                <a:gs pos="50000">
                  <a:sysClr val="window" lastClr="FFFFFF">
                    <a:lumMod val="85000"/>
                  </a:sysClr>
                </a:gs>
                <a:gs pos="100000">
                  <a:srgbClr val="B8B8B8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>
            <a:innerShdw blurRad="228600">
              <a:sysClr val="window" lastClr="FFFFFF">
                <a:lumMod val="75000"/>
              </a:sysClr>
            </a:innerShdw>
          </a:effectLst>
          <a:scene3d>
            <a:camera prst="orthographicFront"/>
            <a:lightRig rig="flat" dir="t"/>
          </a:scene3d>
        </p:spPr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247009" y="2013207"/>
            <a:ext cx="4962360" cy="3762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4305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1457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5762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2915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67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17220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자신의 미래를 결정할 수 있는 능력</a:t>
            </a:r>
            <a:endParaRPr lang="en-US" altLang="ko-KR" sz="1800" b="1" spc="-12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27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6146" name="Picture 2" descr="자신의 미래를 결정 할 수 있는 능력에 대한 이미지 검색결과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571750"/>
            <a:ext cx="4248472" cy="2410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자신의 미래를 결정 할 수 있는 능력에 대한 이미지 검색결과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013207"/>
            <a:ext cx="2886075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3183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여가의 속성들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57021" y="670564"/>
            <a:ext cx="5063052" cy="510536"/>
            <a:chOff x="157021" y="670564"/>
            <a:chExt cx="5214966" cy="648380"/>
          </a:xfrm>
        </p:grpSpPr>
        <p:sp>
          <p:nvSpPr>
            <p:cNvPr id="8" name="직사각형 7"/>
            <p:cNvSpPr/>
            <p:nvPr/>
          </p:nvSpPr>
          <p:spPr bwMode="auto">
            <a:xfrm>
              <a:off x="373211" y="714374"/>
              <a:ext cx="4998776" cy="53199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mpd="sng">
              <a:noFill/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 spc="-1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9" name="그림 8" descr="탭번호.png"/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 bwMode="auto">
            <a:xfrm>
              <a:off x="157021" y="670564"/>
              <a:ext cx="595225" cy="648380"/>
            </a:xfrm>
            <a:prstGeom prst="rect">
              <a:avLst/>
            </a:prstGeom>
          </p:spPr>
        </p:pic>
      </p:grpSp>
      <p:sp>
        <p:nvSpPr>
          <p:cNvPr id="10" name="직사각형 9"/>
          <p:cNvSpPr/>
          <p:nvPr/>
        </p:nvSpPr>
        <p:spPr>
          <a:xfrm>
            <a:off x="166546" y="656109"/>
            <a:ext cx="4956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>
                <a:gradFill flip="none" rotWithShape="1">
                  <a:gsLst>
                    <a:gs pos="0">
                      <a:schemeClr val="bg1">
                        <a:lumMod val="75000"/>
                        <a:tint val="66000"/>
                        <a:satMod val="160000"/>
                      </a:schemeClr>
                    </a:gs>
                    <a:gs pos="50000">
                      <a:schemeClr val="bg1">
                        <a:lumMod val="75000"/>
                        <a:tint val="44500"/>
                        <a:satMod val="160000"/>
                      </a:schemeClr>
                    </a:gs>
                    <a:gs pos="100000">
                      <a:schemeClr val="bg1">
                        <a:lumMod val="75000"/>
                        <a:tint val="23500"/>
                        <a:satMod val="16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02</a:t>
            </a:r>
            <a:endParaRPr lang="ko-KR" altLang="en-US" sz="2000" b="1" dirty="0">
              <a:gradFill flip="none" rotWithShape="1">
                <a:gsLst>
                  <a:gs pos="0">
                    <a:schemeClr val="bg1">
                      <a:lumMod val="75000"/>
                      <a:tint val="66000"/>
                      <a:satMod val="160000"/>
                    </a:schemeClr>
                  </a:gs>
                  <a:gs pos="50000">
                    <a:schemeClr val="bg1">
                      <a:lumMod val="75000"/>
                      <a:tint val="44500"/>
                      <a:satMod val="160000"/>
                    </a:schemeClr>
                  </a:gs>
                  <a:gs pos="100000">
                    <a:schemeClr val="bg1">
                      <a:lumMod val="75000"/>
                      <a:tint val="23500"/>
                      <a:satMod val="160000"/>
                    </a:schemeClr>
                  </a:gs>
                </a:gsLst>
                <a:lin ang="5400000" scaled="1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87610" y="723899"/>
            <a:ext cx="26388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0"/>
            <a:r>
              <a:rPr lang="ko-KR" altLang="en-US" sz="2000" b="1" spc="-100" dirty="0">
                <a:gradFill flip="none" rotWithShape="1">
                  <a:gsLst>
                    <a:gs pos="0">
                      <a:schemeClr val="accent5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5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5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학자들이 말하는 좋은 삶</a:t>
            </a:r>
            <a:endParaRPr lang="ko-KR" altLang="ko-KR" sz="2000" b="1" spc="-100" dirty="0">
              <a:gradFill flip="none" rotWithShape="1">
                <a:gsLst>
                  <a:gs pos="0">
                    <a:schemeClr val="accent5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5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5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grpSp>
        <p:nvGrpSpPr>
          <p:cNvPr id="12" name="그룹 14"/>
          <p:cNvGrpSpPr/>
          <p:nvPr/>
        </p:nvGrpSpPr>
        <p:grpSpPr>
          <a:xfrm>
            <a:off x="98365" y="1347613"/>
            <a:ext cx="5265723" cy="380613"/>
            <a:chOff x="-3558356" y="1180753"/>
            <a:chExt cx="2880320" cy="380613"/>
          </a:xfrm>
        </p:grpSpPr>
        <p:grpSp>
          <p:nvGrpSpPr>
            <p:cNvPr id="13" name="그룹 15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15" name="모서리가 둥근 직사각형 14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-373384" algn="ctr">
                  <a:lnSpc>
                    <a:spcPct val="80000"/>
                  </a:lnSpc>
                  <a:buClr>
                    <a:schemeClr val="hlink"/>
                  </a:buClr>
                  <a:buSzPts val="1200"/>
                  <a:defRPr/>
                </a:pPr>
                <a:endParaRPr lang="ko-KR" altLang="en-US" sz="1200">
                  <a:solidFill>
                    <a:sysClr val="window" lastClr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16" name="그림 15" descr="7.png"/>
              <p:cNvPicPr>
                <a:picLocks noChangeAspect="1"/>
              </p:cNvPicPr>
              <p:nvPr/>
            </p:nvPicPr>
            <p:blipFill>
              <a:blip r:embed="rId3" cstate="print"/>
              <a:srcRect l="36136" t="27801" r="50166" b="42889"/>
              <a:stretch>
                <a:fillRect/>
              </a:stretch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</p:spPr>
          </p:pic>
        </p:grpSp>
        <p:sp>
          <p:nvSpPr>
            <p:cNvPr id="14" name="TextBox 125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</p:spPr>
          <p:txBody>
            <a:bodyPr wrap="square" lIns="91426" tIns="45712" rIns="91426" bIns="45712" rtlCol="0" anchor="ctr">
              <a:spAutoFit/>
              <a:scene3d>
                <a:camera prst="orthographicFront"/>
                <a:lightRig rig="threePt" dir="t"/>
              </a:scene3d>
              <a:sp3d>
                <a:bevelT w="1270" h="1270"/>
              </a:sp3d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b="1" spc="-150" dirty="0">
                  <a:gradFill flip="none" rotWithShape="1">
                    <a:gsLst>
                      <a:gs pos="0">
                        <a:schemeClr val="bg1">
                          <a:lumMod val="75000"/>
                          <a:tint val="66000"/>
                          <a:satMod val="160000"/>
                        </a:schemeClr>
                      </a:gs>
                      <a:gs pos="50000">
                        <a:schemeClr val="bg1">
                          <a:lumMod val="75000"/>
                          <a:tint val="44500"/>
                          <a:satMod val="160000"/>
                        </a:schemeClr>
                      </a:gs>
                      <a:gs pos="100000">
                        <a:schemeClr val="bg1">
                          <a:lumMod val="75000"/>
                          <a:tint val="23500"/>
                          <a:satMod val="160000"/>
                        </a:schemeClr>
                      </a:gs>
                    </a:gsLst>
                    <a:lin ang="2700000" scaled="1"/>
                    <a:tileRect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좋은 삶에는 전제 조건이 필요하다</a:t>
              </a:r>
            </a:p>
          </p:txBody>
        </p:sp>
      </p:grpSp>
      <p:sp>
        <p:nvSpPr>
          <p:cNvPr id="17" name="직사각형 32"/>
          <p:cNvSpPr/>
          <p:nvPr/>
        </p:nvSpPr>
        <p:spPr>
          <a:xfrm>
            <a:off x="186993" y="1912380"/>
            <a:ext cx="5088319" cy="587362"/>
          </a:xfrm>
          <a:prstGeom prst="roundRect">
            <a:avLst>
              <a:gd name="adj" fmla="val 3362"/>
            </a:avLst>
          </a:prstGeom>
          <a:solidFill>
            <a:sysClr val="window" lastClr="FFFFFF"/>
          </a:solidFill>
          <a:ln w="12700" cap="flat" cmpd="sng" algn="ctr">
            <a:gradFill>
              <a:gsLst>
                <a:gs pos="0">
                  <a:srgbClr val="B8B8B8"/>
                </a:gs>
                <a:gs pos="50000">
                  <a:sysClr val="window" lastClr="FFFFFF">
                    <a:lumMod val="85000"/>
                  </a:sysClr>
                </a:gs>
                <a:gs pos="100000">
                  <a:srgbClr val="B8B8B8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>
            <a:innerShdw blurRad="228600">
              <a:sysClr val="window" lastClr="FFFFFF">
                <a:lumMod val="75000"/>
              </a:sysClr>
            </a:innerShdw>
          </a:effectLst>
          <a:scene3d>
            <a:camera prst="orthographicFront"/>
            <a:lightRig rig="flat" dir="t"/>
          </a:scene3d>
        </p:spPr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247009" y="2013207"/>
            <a:ext cx="4962360" cy="3762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4305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1457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5762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2915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67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17220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자신의 미래를 결정할 수 있는 능력</a:t>
            </a:r>
            <a:endParaRPr lang="en-US" altLang="ko-KR" sz="1800" b="1" spc="-12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27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9" name="직사각형 32"/>
          <p:cNvSpPr/>
          <p:nvPr/>
        </p:nvSpPr>
        <p:spPr>
          <a:xfrm>
            <a:off x="166546" y="2699980"/>
            <a:ext cx="5088319" cy="587362"/>
          </a:xfrm>
          <a:prstGeom prst="roundRect">
            <a:avLst>
              <a:gd name="adj" fmla="val 3362"/>
            </a:avLst>
          </a:prstGeom>
          <a:solidFill>
            <a:sysClr val="window" lastClr="FFFFFF"/>
          </a:solidFill>
          <a:ln w="12700" cap="flat" cmpd="sng" algn="ctr">
            <a:gradFill>
              <a:gsLst>
                <a:gs pos="0">
                  <a:srgbClr val="B8B8B8"/>
                </a:gs>
                <a:gs pos="50000">
                  <a:sysClr val="window" lastClr="FFFFFF">
                    <a:lumMod val="85000"/>
                  </a:sysClr>
                </a:gs>
                <a:gs pos="100000">
                  <a:srgbClr val="B8B8B8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>
            <a:innerShdw blurRad="228600">
              <a:sysClr val="window" lastClr="FFFFFF">
                <a:lumMod val="75000"/>
              </a:sysClr>
            </a:innerShdw>
          </a:effectLst>
          <a:scene3d>
            <a:camera prst="orthographicFront"/>
            <a:lightRig rig="flat" dir="t"/>
          </a:scene3d>
        </p:spPr>
      </p:sp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226562" y="2800807"/>
            <a:ext cx="4962360" cy="3762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4305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1457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5762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2915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67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17220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자기 개발 활동에 참여하는 시간</a:t>
            </a:r>
            <a:endParaRPr lang="en-US" altLang="ko-KR" sz="1800" b="1" spc="-12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27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21" name="직사각형 32"/>
          <p:cNvSpPr/>
          <p:nvPr/>
        </p:nvSpPr>
        <p:spPr>
          <a:xfrm>
            <a:off x="157021" y="3507854"/>
            <a:ext cx="5088319" cy="587362"/>
          </a:xfrm>
          <a:prstGeom prst="roundRect">
            <a:avLst>
              <a:gd name="adj" fmla="val 3362"/>
            </a:avLst>
          </a:prstGeom>
          <a:solidFill>
            <a:sysClr val="window" lastClr="FFFFFF"/>
          </a:solidFill>
          <a:ln w="12700" cap="flat" cmpd="sng" algn="ctr">
            <a:gradFill>
              <a:gsLst>
                <a:gs pos="0">
                  <a:srgbClr val="B8B8B8"/>
                </a:gs>
                <a:gs pos="50000">
                  <a:sysClr val="window" lastClr="FFFFFF">
                    <a:lumMod val="85000"/>
                  </a:sysClr>
                </a:gs>
                <a:gs pos="100000">
                  <a:srgbClr val="B8B8B8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>
            <a:innerShdw blurRad="228600">
              <a:sysClr val="window" lastClr="FFFFFF">
                <a:lumMod val="75000"/>
              </a:sysClr>
            </a:innerShdw>
          </a:effectLst>
          <a:scene3d>
            <a:camera prst="orthographicFront"/>
            <a:lightRig rig="flat" dir="t"/>
          </a:scene3d>
        </p:spPr>
      </p:sp>
      <p:sp>
        <p:nvSpPr>
          <p:cNvPr id="22" name="Rectangle 13"/>
          <p:cNvSpPr>
            <a:spLocks noChangeArrowheads="1"/>
          </p:cNvSpPr>
          <p:nvPr/>
        </p:nvSpPr>
        <p:spPr bwMode="auto">
          <a:xfrm>
            <a:off x="217037" y="3608681"/>
            <a:ext cx="4962360" cy="3762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4305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1457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5762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2915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67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17220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특별한 경험을 할 수 있는 기회</a:t>
            </a:r>
            <a:endParaRPr lang="en-US" altLang="ko-KR" sz="1800" b="1" spc="-12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27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007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여가의 속성들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57021" y="670564"/>
            <a:ext cx="5063052" cy="510536"/>
            <a:chOff x="157021" y="670564"/>
            <a:chExt cx="5214966" cy="648380"/>
          </a:xfrm>
        </p:grpSpPr>
        <p:sp>
          <p:nvSpPr>
            <p:cNvPr id="8" name="직사각형 7"/>
            <p:cNvSpPr/>
            <p:nvPr/>
          </p:nvSpPr>
          <p:spPr bwMode="auto">
            <a:xfrm>
              <a:off x="373211" y="714374"/>
              <a:ext cx="4998776" cy="53199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mpd="sng">
              <a:noFill/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 spc="-1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9" name="그림 8" descr="탭번호.png"/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 bwMode="auto">
            <a:xfrm>
              <a:off x="157021" y="670564"/>
              <a:ext cx="595225" cy="648380"/>
            </a:xfrm>
            <a:prstGeom prst="rect">
              <a:avLst/>
            </a:prstGeom>
          </p:spPr>
        </p:pic>
      </p:grpSp>
      <p:sp>
        <p:nvSpPr>
          <p:cNvPr id="10" name="직사각형 9"/>
          <p:cNvSpPr/>
          <p:nvPr/>
        </p:nvSpPr>
        <p:spPr>
          <a:xfrm>
            <a:off x="166546" y="656109"/>
            <a:ext cx="4956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>
                <a:gradFill flip="none" rotWithShape="1">
                  <a:gsLst>
                    <a:gs pos="0">
                      <a:schemeClr val="bg1">
                        <a:lumMod val="75000"/>
                        <a:tint val="66000"/>
                        <a:satMod val="160000"/>
                      </a:schemeClr>
                    </a:gs>
                    <a:gs pos="50000">
                      <a:schemeClr val="bg1">
                        <a:lumMod val="75000"/>
                        <a:tint val="44500"/>
                        <a:satMod val="160000"/>
                      </a:schemeClr>
                    </a:gs>
                    <a:gs pos="100000">
                      <a:schemeClr val="bg1">
                        <a:lumMod val="75000"/>
                        <a:tint val="23500"/>
                        <a:satMod val="16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02</a:t>
            </a:r>
            <a:endParaRPr lang="ko-KR" altLang="en-US" sz="2000" b="1" dirty="0">
              <a:gradFill flip="none" rotWithShape="1">
                <a:gsLst>
                  <a:gs pos="0">
                    <a:schemeClr val="bg1">
                      <a:lumMod val="75000"/>
                      <a:tint val="66000"/>
                      <a:satMod val="160000"/>
                    </a:schemeClr>
                  </a:gs>
                  <a:gs pos="50000">
                    <a:schemeClr val="bg1">
                      <a:lumMod val="75000"/>
                      <a:tint val="44500"/>
                      <a:satMod val="160000"/>
                    </a:schemeClr>
                  </a:gs>
                  <a:gs pos="100000">
                    <a:schemeClr val="bg1">
                      <a:lumMod val="75000"/>
                      <a:tint val="23500"/>
                      <a:satMod val="160000"/>
                    </a:schemeClr>
                  </a:gs>
                </a:gsLst>
                <a:lin ang="5400000" scaled="1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87610" y="723899"/>
            <a:ext cx="26388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0"/>
            <a:r>
              <a:rPr lang="ko-KR" altLang="en-US" sz="2000" b="1" spc="-100" dirty="0">
                <a:gradFill flip="none" rotWithShape="1">
                  <a:gsLst>
                    <a:gs pos="0">
                      <a:schemeClr val="accent5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5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5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학자들이 말하는 좋은 삶</a:t>
            </a:r>
            <a:endParaRPr lang="ko-KR" altLang="ko-KR" sz="2000" b="1" spc="-100" dirty="0">
              <a:gradFill flip="none" rotWithShape="1">
                <a:gsLst>
                  <a:gs pos="0">
                    <a:schemeClr val="accent5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5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5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grpSp>
        <p:nvGrpSpPr>
          <p:cNvPr id="12" name="그룹 14"/>
          <p:cNvGrpSpPr/>
          <p:nvPr/>
        </p:nvGrpSpPr>
        <p:grpSpPr>
          <a:xfrm>
            <a:off x="98365" y="1347613"/>
            <a:ext cx="5265723" cy="380613"/>
            <a:chOff x="-3558356" y="1180753"/>
            <a:chExt cx="2880320" cy="380613"/>
          </a:xfrm>
        </p:grpSpPr>
        <p:grpSp>
          <p:nvGrpSpPr>
            <p:cNvPr id="13" name="그룹 15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15" name="모서리가 둥근 직사각형 14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-373384" algn="ctr">
                  <a:lnSpc>
                    <a:spcPct val="80000"/>
                  </a:lnSpc>
                  <a:buClr>
                    <a:schemeClr val="hlink"/>
                  </a:buClr>
                  <a:buSzPts val="1200"/>
                  <a:defRPr/>
                </a:pPr>
                <a:endParaRPr lang="ko-KR" altLang="en-US" sz="1200">
                  <a:solidFill>
                    <a:sysClr val="window" lastClr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16" name="그림 15" descr="7.png"/>
              <p:cNvPicPr>
                <a:picLocks noChangeAspect="1"/>
              </p:cNvPicPr>
              <p:nvPr/>
            </p:nvPicPr>
            <p:blipFill>
              <a:blip r:embed="rId3" cstate="print"/>
              <a:srcRect l="36136" t="27801" r="50166" b="42889"/>
              <a:stretch>
                <a:fillRect/>
              </a:stretch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</p:spPr>
          </p:pic>
        </p:grpSp>
        <p:sp>
          <p:nvSpPr>
            <p:cNvPr id="14" name="TextBox 125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</p:spPr>
          <p:txBody>
            <a:bodyPr wrap="square" lIns="91426" tIns="45712" rIns="91426" bIns="45712" rtlCol="0" anchor="ctr">
              <a:spAutoFit/>
              <a:scene3d>
                <a:camera prst="orthographicFront"/>
                <a:lightRig rig="threePt" dir="t"/>
              </a:scene3d>
              <a:sp3d>
                <a:bevelT w="1270" h="1270"/>
              </a:sp3d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b="1" spc="-150" dirty="0">
                  <a:gradFill flip="none" rotWithShape="1">
                    <a:gsLst>
                      <a:gs pos="0">
                        <a:schemeClr val="bg1">
                          <a:lumMod val="75000"/>
                          <a:tint val="66000"/>
                          <a:satMod val="160000"/>
                        </a:schemeClr>
                      </a:gs>
                      <a:gs pos="50000">
                        <a:schemeClr val="bg1">
                          <a:lumMod val="75000"/>
                          <a:tint val="44500"/>
                          <a:satMod val="160000"/>
                        </a:schemeClr>
                      </a:gs>
                      <a:gs pos="100000">
                        <a:schemeClr val="bg1">
                          <a:lumMod val="75000"/>
                          <a:tint val="23500"/>
                          <a:satMod val="160000"/>
                        </a:schemeClr>
                      </a:gs>
                    </a:gsLst>
                    <a:lin ang="2700000" scaled="1"/>
                    <a:tileRect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좋은 삶에는 전제 조건이 필요하다</a:t>
              </a:r>
            </a:p>
          </p:txBody>
        </p:sp>
      </p:grpSp>
      <p:sp>
        <p:nvSpPr>
          <p:cNvPr id="17" name="직사각형 32"/>
          <p:cNvSpPr/>
          <p:nvPr/>
        </p:nvSpPr>
        <p:spPr>
          <a:xfrm>
            <a:off x="186993" y="1912380"/>
            <a:ext cx="5088319" cy="587362"/>
          </a:xfrm>
          <a:prstGeom prst="roundRect">
            <a:avLst>
              <a:gd name="adj" fmla="val 3362"/>
            </a:avLst>
          </a:prstGeom>
          <a:solidFill>
            <a:sysClr val="window" lastClr="FFFFFF"/>
          </a:solidFill>
          <a:ln w="12700" cap="flat" cmpd="sng" algn="ctr">
            <a:gradFill>
              <a:gsLst>
                <a:gs pos="0">
                  <a:srgbClr val="B8B8B8"/>
                </a:gs>
                <a:gs pos="50000">
                  <a:sysClr val="window" lastClr="FFFFFF">
                    <a:lumMod val="85000"/>
                  </a:sysClr>
                </a:gs>
                <a:gs pos="100000">
                  <a:srgbClr val="B8B8B8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>
            <a:innerShdw blurRad="228600">
              <a:sysClr val="window" lastClr="FFFFFF">
                <a:lumMod val="75000"/>
              </a:sysClr>
            </a:innerShdw>
          </a:effectLst>
          <a:scene3d>
            <a:camera prst="orthographicFront"/>
            <a:lightRig rig="flat" dir="t"/>
          </a:scene3d>
        </p:spPr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247009" y="2013207"/>
            <a:ext cx="4962360" cy="3762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4305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1457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5762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2915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67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17220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자기 개발 활동에 참여하는 시간</a:t>
            </a:r>
            <a:endParaRPr lang="en-US" altLang="ko-KR" sz="1800" b="1" spc="-12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27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8194" name="Picture 2" descr="자기계발 시간에 대한 이미지 검색결과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76" y="2643758"/>
            <a:ext cx="4551121" cy="2464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05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218" name="Picture 2" descr="청소년성취포상제에 대한 이미지 검색결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83518"/>
            <a:ext cx="3903562" cy="434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6288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여가의 속성들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57021" y="670564"/>
            <a:ext cx="5063052" cy="510536"/>
            <a:chOff x="157021" y="670564"/>
            <a:chExt cx="5214966" cy="648380"/>
          </a:xfrm>
        </p:grpSpPr>
        <p:sp>
          <p:nvSpPr>
            <p:cNvPr id="8" name="직사각형 7"/>
            <p:cNvSpPr/>
            <p:nvPr/>
          </p:nvSpPr>
          <p:spPr bwMode="auto">
            <a:xfrm>
              <a:off x="373211" y="714374"/>
              <a:ext cx="4998776" cy="53199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mpd="sng">
              <a:noFill/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 spc="-1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9" name="그림 8" descr="탭번호.png"/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 bwMode="auto">
            <a:xfrm>
              <a:off x="157021" y="670564"/>
              <a:ext cx="595225" cy="648380"/>
            </a:xfrm>
            <a:prstGeom prst="rect">
              <a:avLst/>
            </a:prstGeom>
          </p:spPr>
        </p:pic>
      </p:grpSp>
      <p:sp>
        <p:nvSpPr>
          <p:cNvPr id="10" name="직사각형 9"/>
          <p:cNvSpPr/>
          <p:nvPr/>
        </p:nvSpPr>
        <p:spPr>
          <a:xfrm>
            <a:off x="166546" y="656109"/>
            <a:ext cx="4956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>
                <a:gradFill flip="none" rotWithShape="1">
                  <a:gsLst>
                    <a:gs pos="0">
                      <a:schemeClr val="bg1">
                        <a:lumMod val="75000"/>
                        <a:tint val="66000"/>
                        <a:satMod val="160000"/>
                      </a:schemeClr>
                    </a:gs>
                    <a:gs pos="50000">
                      <a:schemeClr val="bg1">
                        <a:lumMod val="75000"/>
                        <a:tint val="44500"/>
                        <a:satMod val="160000"/>
                      </a:schemeClr>
                    </a:gs>
                    <a:gs pos="100000">
                      <a:schemeClr val="bg1">
                        <a:lumMod val="75000"/>
                        <a:tint val="23500"/>
                        <a:satMod val="16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02</a:t>
            </a:r>
            <a:endParaRPr lang="ko-KR" altLang="en-US" sz="2000" b="1" dirty="0">
              <a:gradFill flip="none" rotWithShape="1">
                <a:gsLst>
                  <a:gs pos="0">
                    <a:schemeClr val="bg1">
                      <a:lumMod val="75000"/>
                      <a:tint val="66000"/>
                      <a:satMod val="160000"/>
                    </a:schemeClr>
                  </a:gs>
                  <a:gs pos="50000">
                    <a:schemeClr val="bg1">
                      <a:lumMod val="75000"/>
                      <a:tint val="44500"/>
                      <a:satMod val="160000"/>
                    </a:schemeClr>
                  </a:gs>
                  <a:gs pos="100000">
                    <a:schemeClr val="bg1">
                      <a:lumMod val="75000"/>
                      <a:tint val="23500"/>
                      <a:satMod val="160000"/>
                    </a:schemeClr>
                  </a:gs>
                </a:gsLst>
                <a:lin ang="5400000" scaled="1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87610" y="723899"/>
            <a:ext cx="26388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0"/>
            <a:r>
              <a:rPr lang="ko-KR" altLang="en-US" sz="2000" b="1" spc="-100" dirty="0">
                <a:gradFill flip="none" rotWithShape="1">
                  <a:gsLst>
                    <a:gs pos="0">
                      <a:schemeClr val="accent5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5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5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학자들이 말하는 좋은 삶</a:t>
            </a:r>
            <a:endParaRPr lang="ko-KR" altLang="ko-KR" sz="2000" b="1" spc="-100" dirty="0">
              <a:gradFill flip="none" rotWithShape="1">
                <a:gsLst>
                  <a:gs pos="0">
                    <a:schemeClr val="accent5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5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5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grpSp>
        <p:nvGrpSpPr>
          <p:cNvPr id="12" name="그룹 14"/>
          <p:cNvGrpSpPr/>
          <p:nvPr/>
        </p:nvGrpSpPr>
        <p:grpSpPr>
          <a:xfrm>
            <a:off x="98365" y="1347613"/>
            <a:ext cx="5265723" cy="380613"/>
            <a:chOff x="-3558356" y="1180753"/>
            <a:chExt cx="2880320" cy="380613"/>
          </a:xfrm>
        </p:grpSpPr>
        <p:grpSp>
          <p:nvGrpSpPr>
            <p:cNvPr id="13" name="그룹 15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15" name="모서리가 둥근 직사각형 14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-373384" algn="ctr">
                  <a:lnSpc>
                    <a:spcPct val="80000"/>
                  </a:lnSpc>
                  <a:buClr>
                    <a:schemeClr val="hlink"/>
                  </a:buClr>
                  <a:buSzPts val="1200"/>
                  <a:defRPr/>
                </a:pPr>
                <a:endParaRPr lang="ko-KR" altLang="en-US" sz="1200">
                  <a:solidFill>
                    <a:sysClr val="window" lastClr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16" name="그림 15" descr="7.png"/>
              <p:cNvPicPr>
                <a:picLocks noChangeAspect="1"/>
              </p:cNvPicPr>
              <p:nvPr/>
            </p:nvPicPr>
            <p:blipFill>
              <a:blip r:embed="rId3" cstate="print"/>
              <a:srcRect l="36136" t="27801" r="50166" b="42889"/>
              <a:stretch>
                <a:fillRect/>
              </a:stretch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</p:spPr>
          </p:pic>
        </p:grpSp>
        <p:sp>
          <p:nvSpPr>
            <p:cNvPr id="14" name="TextBox 125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</p:spPr>
          <p:txBody>
            <a:bodyPr wrap="square" lIns="91426" tIns="45712" rIns="91426" bIns="45712" rtlCol="0" anchor="ctr">
              <a:spAutoFit/>
              <a:scene3d>
                <a:camera prst="orthographicFront"/>
                <a:lightRig rig="threePt" dir="t"/>
              </a:scene3d>
              <a:sp3d>
                <a:bevelT w="1270" h="1270"/>
              </a:sp3d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b="1" spc="-150" dirty="0">
                  <a:gradFill flip="none" rotWithShape="1">
                    <a:gsLst>
                      <a:gs pos="0">
                        <a:schemeClr val="bg1">
                          <a:lumMod val="75000"/>
                          <a:tint val="66000"/>
                          <a:satMod val="160000"/>
                        </a:schemeClr>
                      </a:gs>
                      <a:gs pos="50000">
                        <a:schemeClr val="bg1">
                          <a:lumMod val="75000"/>
                          <a:tint val="44500"/>
                          <a:satMod val="160000"/>
                        </a:schemeClr>
                      </a:gs>
                      <a:gs pos="100000">
                        <a:schemeClr val="bg1">
                          <a:lumMod val="75000"/>
                          <a:tint val="23500"/>
                          <a:satMod val="160000"/>
                        </a:schemeClr>
                      </a:gs>
                    </a:gsLst>
                    <a:lin ang="2700000" scaled="1"/>
                    <a:tileRect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좋은 삶에는 전제 조건이 필요하다</a:t>
              </a:r>
            </a:p>
          </p:txBody>
        </p:sp>
      </p:grpSp>
      <p:sp>
        <p:nvSpPr>
          <p:cNvPr id="17" name="직사각형 32"/>
          <p:cNvSpPr/>
          <p:nvPr/>
        </p:nvSpPr>
        <p:spPr>
          <a:xfrm>
            <a:off x="186993" y="1912380"/>
            <a:ext cx="5088319" cy="587362"/>
          </a:xfrm>
          <a:prstGeom prst="roundRect">
            <a:avLst>
              <a:gd name="adj" fmla="val 3362"/>
            </a:avLst>
          </a:prstGeom>
          <a:solidFill>
            <a:sysClr val="window" lastClr="FFFFFF"/>
          </a:solidFill>
          <a:ln w="12700" cap="flat" cmpd="sng" algn="ctr">
            <a:gradFill>
              <a:gsLst>
                <a:gs pos="0">
                  <a:srgbClr val="B8B8B8"/>
                </a:gs>
                <a:gs pos="50000">
                  <a:sysClr val="window" lastClr="FFFFFF">
                    <a:lumMod val="85000"/>
                  </a:sysClr>
                </a:gs>
                <a:gs pos="100000">
                  <a:srgbClr val="B8B8B8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>
            <a:innerShdw blurRad="228600">
              <a:sysClr val="window" lastClr="FFFFFF">
                <a:lumMod val="75000"/>
              </a:sysClr>
            </a:innerShdw>
          </a:effectLst>
          <a:scene3d>
            <a:camera prst="orthographicFront"/>
            <a:lightRig rig="flat" dir="t"/>
          </a:scene3d>
        </p:spPr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247009" y="2013207"/>
            <a:ext cx="4962360" cy="3762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4305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1457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5762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2915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67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17220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특별한 경험을 할 수 있는 기회</a:t>
            </a:r>
            <a:endParaRPr lang="en-US" altLang="ko-KR" sz="1800" b="1" spc="-12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27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  <p:pic>
        <p:nvPicPr>
          <p:cNvPr id="7170" name="Picture 2" descr="병영체험에 대한 이미지 검색결과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29" y="2715766"/>
            <a:ext cx="2902811" cy="1935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베트남 폭포 다이빙 이미지 검색결과&quot;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6473" y="2715766"/>
            <a:ext cx="2897637" cy="1935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7507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여가의 속성들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57021" y="670564"/>
            <a:ext cx="5063052" cy="510536"/>
            <a:chOff x="157021" y="670564"/>
            <a:chExt cx="5214966" cy="648380"/>
          </a:xfrm>
        </p:grpSpPr>
        <p:sp>
          <p:nvSpPr>
            <p:cNvPr id="8" name="직사각형 7"/>
            <p:cNvSpPr/>
            <p:nvPr/>
          </p:nvSpPr>
          <p:spPr bwMode="auto">
            <a:xfrm>
              <a:off x="373211" y="714374"/>
              <a:ext cx="4998776" cy="53199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mpd="sng">
              <a:noFill/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 spc="-1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9" name="그림 8" descr="탭번호.png"/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 bwMode="auto">
            <a:xfrm>
              <a:off x="157021" y="670564"/>
              <a:ext cx="595225" cy="648380"/>
            </a:xfrm>
            <a:prstGeom prst="rect">
              <a:avLst/>
            </a:prstGeom>
          </p:spPr>
        </p:pic>
      </p:grpSp>
      <p:sp>
        <p:nvSpPr>
          <p:cNvPr id="10" name="직사각형 9"/>
          <p:cNvSpPr/>
          <p:nvPr/>
        </p:nvSpPr>
        <p:spPr>
          <a:xfrm>
            <a:off x="166546" y="656109"/>
            <a:ext cx="4956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>
                <a:gradFill flip="none" rotWithShape="1">
                  <a:gsLst>
                    <a:gs pos="0">
                      <a:schemeClr val="bg1">
                        <a:lumMod val="75000"/>
                        <a:tint val="66000"/>
                        <a:satMod val="160000"/>
                      </a:schemeClr>
                    </a:gs>
                    <a:gs pos="50000">
                      <a:schemeClr val="bg1">
                        <a:lumMod val="75000"/>
                        <a:tint val="44500"/>
                        <a:satMod val="160000"/>
                      </a:schemeClr>
                    </a:gs>
                    <a:gs pos="100000">
                      <a:schemeClr val="bg1">
                        <a:lumMod val="75000"/>
                        <a:tint val="23500"/>
                        <a:satMod val="16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03</a:t>
            </a:r>
            <a:endParaRPr lang="ko-KR" altLang="en-US" sz="2000" b="1" dirty="0">
              <a:gradFill flip="none" rotWithShape="1">
                <a:gsLst>
                  <a:gs pos="0">
                    <a:schemeClr val="bg1">
                      <a:lumMod val="75000"/>
                      <a:tint val="66000"/>
                      <a:satMod val="160000"/>
                    </a:schemeClr>
                  </a:gs>
                  <a:gs pos="50000">
                    <a:schemeClr val="bg1">
                      <a:lumMod val="75000"/>
                      <a:tint val="44500"/>
                      <a:satMod val="160000"/>
                    </a:schemeClr>
                  </a:gs>
                  <a:gs pos="100000">
                    <a:schemeClr val="bg1">
                      <a:lumMod val="75000"/>
                      <a:tint val="23500"/>
                      <a:satMod val="160000"/>
                    </a:schemeClr>
                  </a:gs>
                </a:gsLst>
                <a:lin ang="5400000" scaled="1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87610" y="723899"/>
            <a:ext cx="13821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0"/>
            <a:r>
              <a:rPr lang="ko-KR" altLang="en-US" sz="2000" b="1" spc="-100" dirty="0">
                <a:gradFill flip="none" rotWithShape="1">
                  <a:gsLst>
                    <a:gs pos="0">
                      <a:schemeClr val="accent5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5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5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여가의 이해</a:t>
            </a:r>
            <a:endParaRPr lang="ko-KR" altLang="ko-KR" sz="2000" b="1" spc="-100" dirty="0">
              <a:gradFill flip="none" rotWithShape="1">
                <a:gsLst>
                  <a:gs pos="0">
                    <a:schemeClr val="accent5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5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5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263056" y="1363613"/>
            <a:ext cx="5117705" cy="364614"/>
            <a:chOff x="2915816" y="620688"/>
            <a:chExt cx="3095504" cy="542944"/>
          </a:xfrm>
        </p:grpSpPr>
        <p:sp>
          <p:nvSpPr>
            <p:cNvPr id="21" name="모서리가 둥근 직사각형 20"/>
            <p:cNvSpPr/>
            <p:nvPr/>
          </p:nvSpPr>
          <p:spPr>
            <a:xfrm>
              <a:off x="2915816" y="620688"/>
              <a:ext cx="3095504" cy="542944"/>
            </a:xfrm>
            <a:prstGeom prst="roundRect">
              <a:avLst>
                <a:gd name="adj" fmla="val 50000"/>
              </a:avLst>
            </a:prstGeom>
            <a:solidFill>
              <a:srgbClr val="35537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373384" algn="ctr">
                <a:lnSpc>
                  <a:spcPct val="80000"/>
                </a:lnSpc>
                <a:buClr>
                  <a:schemeClr val="hlink"/>
                </a:buClr>
                <a:buSzPts val="1200"/>
                <a:defRPr/>
              </a:pPr>
              <a:endParaRPr lang="ko-KR" altLang="en-US" sz="1200">
                <a:solidFill>
                  <a:sysClr val="window" lastClr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22" name="그림 21" descr="7.png"/>
            <p:cNvPicPr>
              <a:picLocks noChangeAspect="1"/>
            </p:cNvPicPr>
            <p:nvPr/>
          </p:nvPicPr>
          <p:blipFill>
            <a:blip r:embed="rId3" cstate="print"/>
            <a:srcRect l="36136" t="27801" r="50166" b="42889"/>
            <a:stretch>
              <a:fillRect/>
            </a:stretch>
          </p:blipFill>
          <p:spPr>
            <a:xfrm flipH="1">
              <a:off x="2927312" y="621092"/>
              <a:ext cx="3047456" cy="503651"/>
            </a:xfrm>
            <a:prstGeom prst="roundRect">
              <a:avLst>
                <a:gd name="adj" fmla="val 50000"/>
              </a:avLst>
            </a:prstGeom>
          </p:spPr>
        </p:pic>
      </p:grpSp>
      <p:sp>
        <p:nvSpPr>
          <p:cNvPr id="23" name="TextBox 125"/>
          <p:cNvSpPr txBox="1"/>
          <p:nvPr/>
        </p:nvSpPr>
        <p:spPr>
          <a:xfrm>
            <a:off x="101659" y="1351382"/>
            <a:ext cx="5265723" cy="369316"/>
          </a:xfrm>
          <a:prstGeom prst="rect">
            <a:avLst/>
          </a:prstGeom>
          <a:noFill/>
        </p:spPr>
        <p:txBody>
          <a:bodyPr wrap="square" lIns="91426" tIns="45712" rIns="91426" bIns="45712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spc="-150" dirty="0">
                <a:gradFill flip="none" rotWithShape="1">
                  <a:gsLst>
                    <a:gs pos="0">
                      <a:schemeClr val="bg1">
                        <a:lumMod val="75000"/>
                        <a:tint val="66000"/>
                        <a:satMod val="160000"/>
                      </a:schemeClr>
                    </a:gs>
                    <a:gs pos="50000">
                      <a:schemeClr val="bg1">
                        <a:lumMod val="75000"/>
                        <a:tint val="44500"/>
                        <a:satMod val="160000"/>
                      </a:schemeClr>
                    </a:gs>
                    <a:gs pos="100000">
                      <a:schemeClr val="bg1">
                        <a:lumMod val="75000"/>
                        <a:tint val="23500"/>
                        <a:satMod val="160000"/>
                      </a:schemeClr>
                    </a:gs>
                  </a:gsLst>
                  <a:lin ang="27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여가는 목적과 에너지가 있는 시간이다</a:t>
            </a:r>
          </a:p>
        </p:txBody>
      </p:sp>
      <p:sp>
        <p:nvSpPr>
          <p:cNvPr id="24" name="직사각형 32"/>
          <p:cNvSpPr/>
          <p:nvPr/>
        </p:nvSpPr>
        <p:spPr>
          <a:xfrm>
            <a:off x="232012" y="1768364"/>
            <a:ext cx="5088319" cy="2891618"/>
          </a:xfrm>
          <a:prstGeom prst="roundRect">
            <a:avLst>
              <a:gd name="adj" fmla="val 3362"/>
            </a:avLst>
          </a:prstGeom>
          <a:solidFill>
            <a:sysClr val="window" lastClr="FFFFFF"/>
          </a:solidFill>
          <a:ln w="12700" cap="flat" cmpd="sng" algn="ctr">
            <a:gradFill>
              <a:gsLst>
                <a:gs pos="0">
                  <a:srgbClr val="B8B8B8"/>
                </a:gs>
                <a:gs pos="50000">
                  <a:sysClr val="window" lastClr="FFFFFF">
                    <a:lumMod val="85000"/>
                  </a:sysClr>
                </a:gs>
                <a:gs pos="100000">
                  <a:srgbClr val="B8B8B8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>
            <a:innerShdw blurRad="228600">
              <a:sysClr val="window" lastClr="FFFFFF">
                <a:lumMod val="75000"/>
              </a:sysClr>
            </a:innerShdw>
          </a:effectLst>
          <a:scene3d>
            <a:camera prst="orthographicFront"/>
            <a:lightRig rig="flat" dir="t"/>
          </a:scene3d>
        </p:spPr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292028" y="1886224"/>
            <a:ext cx="4962360" cy="27222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4305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1457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5762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2915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67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17220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사람들은 왜 일을 하는가</a:t>
            </a:r>
            <a:r>
              <a:rPr lang="en-US" altLang="ko-KR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?</a:t>
            </a:r>
          </a:p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노동을 위해 살지 않는 인간</a:t>
            </a:r>
            <a:endParaRPr lang="en-US" altLang="ko-KR" sz="1800" b="1" spc="-12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27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더 나은 여가를 위해 사람은 산다</a:t>
            </a:r>
            <a:endParaRPr lang="en-US" altLang="ko-KR" sz="1800" b="1" spc="-12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27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내 행복을 위해서 꼭 필요한 무엇인가를 이루는 시간이 여가이다</a:t>
            </a:r>
            <a:endParaRPr lang="en-US" altLang="ko-KR" sz="1800" b="1" spc="-12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27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따라서 여가는 단순한 남는 시간이 아니다</a:t>
            </a:r>
            <a:endParaRPr lang="en-US" altLang="ko-KR" sz="1800" b="1" spc="-12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27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여가는 추구할 에너지가 있는 시간으로  재창조의 시간이다</a:t>
            </a:r>
          </a:p>
        </p:txBody>
      </p:sp>
    </p:spTree>
    <p:extLst>
      <p:ext uri="{BB962C8B-B14F-4D97-AF65-F5344CB8AC3E}">
        <p14:creationId xmlns:p14="http://schemas.microsoft.com/office/powerpoint/2010/main" val="3047523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여가의 속성들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57021" y="670564"/>
            <a:ext cx="5063052" cy="510536"/>
            <a:chOff x="157021" y="670564"/>
            <a:chExt cx="5214966" cy="648380"/>
          </a:xfrm>
        </p:grpSpPr>
        <p:sp>
          <p:nvSpPr>
            <p:cNvPr id="8" name="직사각형 7"/>
            <p:cNvSpPr/>
            <p:nvPr/>
          </p:nvSpPr>
          <p:spPr bwMode="auto">
            <a:xfrm>
              <a:off x="373211" y="714374"/>
              <a:ext cx="4998776" cy="53199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mpd="sng">
              <a:noFill/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 spc="-1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9" name="그림 8" descr="탭번호.png"/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 bwMode="auto">
            <a:xfrm>
              <a:off x="157021" y="670564"/>
              <a:ext cx="595225" cy="648380"/>
            </a:xfrm>
            <a:prstGeom prst="rect">
              <a:avLst/>
            </a:prstGeom>
          </p:spPr>
        </p:pic>
      </p:grpSp>
      <p:sp>
        <p:nvSpPr>
          <p:cNvPr id="10" name="직사각형 9"/>
          <p:cNvSpPr/>
          <p:nvPr/>
        </p:nvSpPr>
        <p:spPr>
          <a:xfrm>
            <a:off x="166546" y="656109"/>
            <a:ext cx="4956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>
                <a:gradFill flip="none" rotWithShape="1">
                  <a:gsLst>
                    <a:gs pos="0">
                      <a:schemeClr val="bg1">
                        <a:lumMod val="75000"/>
                        <a:tint val="66000"/>
                        <a:satMod val="160000"/>
                      </a:schemeClr>
                    </a:gs>
                    <a:gs pos="50000">
                      <a:schemeClr val="bg1">
                        <a:lumMod val="75000"/>
                        <a:tint val="44500"/>
                        <a:satMod val="160000"/>
                      </a:schemeClr>
                    </a:gs>
                    <a:gs pos="100000">
                      <a:schemeClr val="bg1">
                        <a:lumMod val="75000"/>
                        <a:tint val="23500"/>
                        <a:satMod val="16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03</a:t>
            </a:r>
            <a:endParaRPr lang="ko-KR" altLang="en-US" sz="2000" b="1" dirty="0">
              <a:gradFill flip="none" rotWithShape="1">
                <a:gsLst>
                  <a:gs pos="0">
                    <a:schemeClr val="bg1">
                      <a:lumMod val="75000"/>
                      <a:tint val="66000"/>
                      <a:satMod val="160000"/>
                    </a:schemeClr>
                  </a:gs>
                  <a:gs pos="50000">
                    <a:schemeClr val="bg1">
                      <a:lumMod val="75000"/>
                      <a:tint val="44500"/>
                      <a:satMod val="160000"/>
                    </a:schemeClr>
                  </a:gs>
                  <a:gs pos="100000">
                    <a:schemeClr val="bg1">
                      <a:lumMod val="75000"/>
                      <a:tint val="23500"/>
                      <a:satMod val="160000"/>
                    </a:schemeClr>
                  </a:gs>
                </a:gsLst>
                <a:lin ang="5400000" scaled="1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87610" y="723899"/>
            <a:ext cx="13821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0"/>
            <a:r>
              <a:rPr lang="ko-KR" altLang="en-US" sz="2000" b="1" spc="-100" dirty="0">
                <a:gradFill flip="none" rotWithShape="1">
                  <a:gsLst>
                    <a:gs pos="0">
                      <a:schemeClr val="accent5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5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5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여가의 이해</a:t>
            </a:r>
            <a:endParaRPr lang="ko-KR" altLang="ko-KR" sz="2000" b="1" spc="-100" dirty="0">
              <a:gradFill flip="none" rotWithShape="1">
                <a:gsLst>
                  <a:gs pos="0">
                    <a:schemeClr val="accent5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5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5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grpSp>
        <p:nvGrpSpPr>
          <p:cNvPr id="20" name="그룹 15"/>
          <p:cNvGrpSpPr/>
          <p:nvPr/>
        </p:nvGrpSpPr>
        <p:grpSpPr>
          <a:xfrm>
            <a:off x="263056" y="1282313"/>
            <a:ext cx="5117705" cy="364614"/>
            <a:chOff x="2915816" y="620688"/>
            <a:chExt cx="3095504" cy="542944"/>
          </a:xfrm>
        </p:grpSpPr>
        <p:sp>
          <p:nvSpPr>
            <p:cNvPr id="21" name="모서리가 둥근 직사각형 20"/>
            <p:cNvSpPr/>
            <p:nvPr/>
          </p:nvSpPr>
          <p:spPr>
            <a:xfrm>
              <a:off x="2915816" y="620688"/>
              <a:ext cx="3095504" cy="542944"/>
            </a:xfrm>
            <a:prstGeom prst="roundRect">
              <a:avLst>
                <a:gd name="adj" fmla="val 50000"/>
              </a:avLst>
            </a:prstGeom>
            <a:solidFill>
              <a:srgbClr val="35537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373384" algn="ctr">
                <a:lnSpc>
                  <a:spcPct val="80000"/>
                </a:lnSpc>
                <a:buClr>
                  <a:schemeClr val="hlink"/>
                </a:buClr>
                <a:buSzPts val="1200"/>
                <a:defRPr/>
              </a:pPr>
              <a:endParaRPr lang="ko-KR" altLang="en-US" sz="1200">
                <a:solidFill>
                  <a:sysClr val="window" lastClr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22" name="그림 21" descr="7.png"/>
            <p:cNvPicPr>
              <a:picLocks noChangeAspect="1"/>
            </p:cNvPicPr>
            <p:nvPr/>
          </p:nvPicPr>
          <p:blipFill>
            <a:blip r:embed="rId3" cstate="print"/>
            <a:srcRect l="36136" t="27801" r="50166" b="42889"/>
            <a:stretch>
              <a:fillRect/>
            </a:stretch>
          </p:blipFill>
          <p:spPr>
            <a:xfrm flipH="1">
              <a:off x="2927312" y="621092"/>
              <a:ext cx="3047456" cy="503651"/>
            </a:xfrm>
            <a:prstGeom prst="roundRect">
              <a:avLst>
                <a:gd name="adj" fmla="val 50000"/>
              </a:avLst>
            </a:prstGeom>
          </p:spPr>
        </p:pic>
      </p:grpSp>
      <p:sp>
        <p:nvSpPr>
          <p:cNvPr id="23" name="TextBox 125"/>
          <p:cNvSpPr txBox="1"/>
          <p:nvPr/>
        </p:nvSpPr>
        <p:spPr>
          <a:xfrm>
            <a:off x="101659" y="1270082"/>
            <a:ext cx="5265723" cy="369316"/>
          </a:xfrm>
          <a:prstGeom prst="rect">
            <a:avLst/>
          </a:prstGeom>
          <a:noFill/>
        </p:spPr>
        <p:txBody>
          <a:bodyPr wrap="square" lIns="91426" tIns="45712" rIns="91426" bIns="45712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spc="-150" dirty="0">
                <a:gradFill flip="none" rotWithShape="1">
                  <a:gsLst>
                    <a:gs pos="0">
                      <a:schemeClr val="bg1">
                        <a:lumMod val="75000"/>
                        <a:tint val="66000"/>
                        <a:satMod val="160000"/>
                      </a:schemeClr>
                    </a:gs>
                    <a:gs pos="50000">
                      <a:schemeClr val="bg1">
                        <a:lumMod val="75000"/>
                        <a:tint val="44500"/>
                        <a:satMod val="160000"/>
                      </a:schemeClr>
                    </a:gs>
                    <a:gs pos="100000">
                      <a:schemeClr val="bg1">
                        <a:lumMod val="75000"/>
                        <a:tint val="23500"/>
                        <a:satMod val="160000"/>
                      </a:schemeClr>
                    </a:gs>
                  </a:gsLst>
                  <a:lin ang="27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여가는 활동자체의 즐거움을 추구한다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395536" y="4362658"/>
            <a:ext cx="42450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hlinkClick r:id="rId4"/>
              </a:rPr>
              <a:t>산악자전거의 즐거움</a:t>
            </a:r>
            <a:r>
              <a:rPr lang="ko-KR" altLang="en-US" dirty="0"/>
              <a:t> </a:t>
            </a:r>
            <a:r>
              <a:rPr lang="en-US" altLang="ko-KR" sz="1200" dirty="0"/>
              <a:t>(</a:t>
            </a:r>
            <a:r>
              <a:rPr lang="ko-KR" altLang="en-US" sz="1200" dirty="0"/>
              <a:t>사진출처</a:t>
            </a:r>
            <a:r>
              <a:rPr lang="en-US" altLang="ko-KR" sz="1200" dirty="0"/>
              <a:t>:</a:t>
            </a:r>
            <a:r>
              <a:rPr lang="ko-KR" altLang="en-US" sz="1200" dirty="0"/>
              <a:t>산림청홈페이지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pic>
        <p:nvPicPr>
          <p:cNvPr id="25" name="그림 24" descr="I00000012586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95536" y="1770370"/>
            <a:ext cx="4752528" cy="258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435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여가의 속성들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57021" y="670564"/>
            <a:ext cx="5063052" cy="510536"/>
            <a:chOff x="157021" y="670564"/>
            <a:chExt cx="5214966" cy="648380"/>
          </a:xfrm>
        </p:grpSpPr>
        <p:sp>
          <p:nvSpPr>
            <p:cNvPr id="8" name="직사각형 7"/>
            <p:cNvSpPr/>
            <p:nvPr/>
          </p:nvSpPr>
          <p:spPr bwMode="auto">
            <a:xfrm>
              <a:off x="373211" y="714374"/>
              <a:ext cx="4998776" cy="53199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mpd="sng">
              <a:noFill/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 spc="-1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9" name="그림 8" descr="탭번호.png"/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 bwMode="auto">
            <a:xfrm>
              <a:off x="157021" y="670564"/>
              <a:ext cx="595225" cy="648380"/>
            </a:xfrm>
            <a:prstGeom prst="rect">
              <a:avLst/>
            </a:prstGeom>
          </p:spPr>
        </p:pic>
      </p:grpSp>
      <p:sp>
        <p:nvSpPr>
          <p:cNvPr id="10" name="직사각형 9"/>
          <p:cNvSpPr/>
          <p:nvPr/>
        </p:nvSpPr>
        <p:spPr>
          <a:xfrm>
            <a:off x="166546" y="656109"/>
            <a:ext cx="4956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>
                <a:gradFill flip="none" rotWithShape="1">
                  <a:gsLst>
                    <a:gs pos="0">
                      <a:schemeClr val="bg1">
                        <a:lumMod val="75000"/>
                        <a:tint val="66000"/>
                        <a:satMod val="160000"/>
                      </a:schemeClr>
                    </a:gs>
                    <a:gs pos="50000">
                      <a:schemeClr val="bg1">
                        <a:lumMod val="75000"/>
                        <a:tint val="44500"/>
                        <a:satMod val="160000"/>
                      </a:schemeClr>
                    </a:gs>
                    <a:gs pos="100000">
                      <a:schemeClr val="bg1">
                        <a:lumMod val="75000"/>
                        <a:tint val="23500"/>
                        <a:satMod val="16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03</a:t>
            </a:r>
            <a:endParaRPr lang="ko-KR" altLang="en-US" sz="2000" b="1" dirty="0">
              <a:gradFill flip="none" rotWithShape="1">
                <a:gsLst>
                  <a:gs pos="0">
                    <a:schemeClr val="bg1">
                      <a:lumMod val="75000"/>
                      <a:tint val="66000"/>
                      <a:satMod val="160000"/>
                    </a:schemeClr>
                  </a:gs>
                  <a:gs pos="50000">
                    <a:schemeClr val="bg1">
                      <a:lumMod val="75000"/>
                      <a:tint val="44500"/>
                      <a:satMod val="160000"/>
                    </a:schemeClr>
                  </a:gs>
                  <a:gs pos="100000">
                    <a:schemeClr val="bg1">
                      <a:lumMod val="75000"/>
                      <a:tint val="23500"/>
                      <a:satMod val="160000"/>
                    </a:schemeClr>
                  </a:gs>
                </a:gsLst>
                <a:lin ang="5400000" scaled="1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87610" y="723899"/>
            <a:ext cx="13821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0"/>
            <a:r>
              <a:rPr lang="ko-KR" altLang="en-US" sz="2000" b="1" spc="-100" dirty="0">
                <a:gradFill flip="none" rotWithShape="1">
                  <a:gsLst>
                    <a:gs pos="0">
                      <a:schemeClr val="accent5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5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5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여가의 이해</a:t>
            </a:r>
            <a:endParaRPr lang="ko-KR" altLang="ko-KR" sz="2000" b="1" spc="-100" dirty="0">
              <a:gradFill flip="none" rotWithShape="1">
                <a:gsLst>
                  <a:gs pos="0">
                    <a:schemeClr val="accent5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5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5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grpSp>
        <p:nvGrpSpPr>
          <p:cNvPr id="20" name="그룹 15"/>
          <p:cNvGrpSpPr/>
          <p:nvPr/>
        </p:nvGrpSpPr>
        <p:grpSpPr>
          <a:xfrm>
            <a:off x="263056" y="1282313"/>
            <a:ext cx="5117705" cy="364614"/>
            <a:chOff x="2915816" y="620688"/>
            <a:chExt cx="3095504" cy="542944"/>
          </a:xfrm>
        </p:grpSpPr>
        <p:sp>
          <p:nvSpPr>
            <p:cNvPr id="21" name="모서리가 둥근 직사각형 20"/>
            <p:cNvSpPr/>
            <p:nvPr/>
          </p:nvSpPr>
          <p:spPr>
            <a:xfrm>
              <a:off x="2915816" y="620688"/>
              <a:ext cx="3095504" cy="542944"/>
            </a:xfrm>
            <a:prstGeom prst="roundRect">
              <a:avLst>
                <a:gd name="adj" fmla="val 50000"/>
              </a:avLst>
            </a:prstGeom>
            <a:solidFill>
              <a:srgbClr val="35537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373384" algn="ctr">
                <a:lnSpc>
                  <a:spcPct val="80000"/>
                </a:lnSpc>
                <a:buClr>
                  <a:schemeClr val="hlink"/>
                </a:buClr>
                <a:buSzPts val="1200"/>
                <a:defRPr/>
              </a:pPr>
              <a:endParaRPr lang="ko-KR" altLang="en-US" sz="1200">
                <a:solidFill>
                  <a:sysClr val="window" lastClr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22" name="그림 21" descr="7.png"/>
            <p:cNvPicPr>
              <a:picLocks noChangeAspect="1"/>
            </p:cNvPicPr>
            <p:nvPr/>
          </p:nvPicPr>
          <p:blipFill>
            <a:blip r:embed="rId3" cstate="print"/>
            <a:srcRect l="36136" t="27801" r="50166" b="42889"/>
            <a:stretch>
              <a:fillRect/>
            </a:stretch>
          </p:blipFill>
          <p:spPr>
            <a:xfrm flipH="1">
              <a:off x="2927312" y="621092"/>
              <a:ext cx="3047456" cy="503651"/>
            </a:xfrm>
            <a:prstGeom prst="roundRect">
              <a:avLst>
                <a:gd name="adj" fmla="val 50000"/>
              </a:avLst>
            </a:prstGeom>
          </p:spPr>
        </p:pic>
      </p:grpSp>
      <p:sp>
        <p:nvSpPr>
          <p:cNvPr id="23" name="TextBox 125"/>
          <p:cNvSpPr txBox="1"/>
          <p:nvPr/>
        </p:nvSpPr>
        <p:spPr>
          <a:xfrm>
            <a:off x="101659" y="1270082"/>
            <a:ext cx="5265723" cy="369316"/>
          </a:xfrm>
          <a:prstGeom prst="rect">
            <a:avLst/>
          </a:prstGeom>
          <a:noFill/>
        </p:spPr>
        <p:txBody>
          <a:bodyPr wrap="square" lIns="91426" tIns="45712" rIns="91426" bIns="45712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spc="-150" dirty="0">
                <a:gradFill flip="none" rotWithShape="1">
                  <a:gsLst>
                    <a:gs pos="0">
                      <a:schemeClr val="bg1">
                        <a:lumMod val="75000"/>
                        <a:tint val="66000"/>
                        <a:satMod val="160000"/>
                      </a:schemeClr>
                    </a:gs>
                    <a:gs pos="50000">
                      <a:schemeClr val="bg1">
                        <a:lumMod val="75000"/>
                        <a:tint val="44500"/>
                        <a:satMod val="160000"/>
                      </a:schemeClr>
                    </a:gs>
                    <a:gs pos="100000">
                      <a:schemeClr val="bg1">
                        <a:lumMod val="75000"/>
                        <a:tint val="23500"/>
                        <a:satMod val="160000"/>
                      </a:schemeClr>
                    </a:gs>
                  </a:gsLst>
                  <a:lin ang="27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여가는 활동자체의 즐거움을 추구한다</a:t>
            </a:r>
          </a:p>
        </p:txBody>
      </p:sp>
      <p:pic>
        <p:nvPicPr>
          <p:cNvPr id="1026" name="Picture 2" descr="갯바위낚시에 대한 이미지 검색결과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70" y="1779662"/>
            <a:ext cx="4805703" cy="3203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8852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여가의 속성들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57021" y="670564"/>
            <a:ext cx="5063052" cy="510536"/>
            <a:chOff x="157021" y="670564"/>
            <a:chExt cx="5214966" cy="648380"/>
          </a:xfrm>
        </p:grpSpPr>
        <p:sp>
          <p:nvSpPr>
            <p:cNvPr id="8" name="직사각형 7"/>
            <p:cNvSpPr/>
            <p:nvPr/>
          </p:nvSpPr>
          <p:spPr bwMode="auto">
            <a:xfrm>
              <a:off x="373211" y="714374"/>
              <a:ext cx="4998776" cy="53199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mpd="sng">
              <a:noFill/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 spc="-1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9" name="그림 8" descr="탭번호.png"/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 bwMode="auto">
            <a:xfrm>
              <a:off x="157021" y="670564"/>
              <a:ext cx="595225" cy="648380"/>
            </a:xfrm>
            <a:prstGeom prst="rect">
              <a:avLst/>
            </a:prstGeom>
          </p:spPr>
        </p:pic>
      </p:grpSp>
      <p:sp>
        <p:nvSpPr>
          <p:cNvPr id="10" name="직사각형 9"/>
          <p:cNvSpPr/>
          <p:nvPr/>
        </p:nvSpPr>
        <p:spPr>
          <a:xfrm>
            <a:off x="166546" y="656109"/>
            <a:ext cx="4956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>
                <a:gradFill flip="none" rotWithShape="1">
                  <a:gsLst>
                    <a:gs pos="0">
                      <a:schemeClr val="bg1">
                        <a:lumMod val="75000"/>
                        <a:tint val="66000"/>
                        <a:satMod val="160000"/>
                      </a:schemeClr>
                    </a:gs>
                    <a:gs pos="50000">
                      <a:schemeClr val="bg1">
                        <a:lumMod val="75000"/>
                        <a:tint val="44500"/>
                        <a:satMod val="160000"/>
                      </a:schemeClr>
                    </a:gs>
                    <a:gs pos="100000">
                      <a:schemeClr val="bg1">
                        <a:lumMod val="75000"/>
                        <a:tint val="23500"/>
                        <a:satMod val="160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03</a:t>
            </a:r>
            <a:endParaRPr lang="ko-KR" altLang="en-US" sz="2000" b="1" dirty="0">
              <a:gradFill flip="none" rotWithShape="1">
                <a:gsLst>
                  <a:gs pos="0">
                    <a:schemeClr val="bg1">
                      <a:lumMod val="75000"/>
                      <a:tint val="66000"/>
                      <a:satMod val="160000"/>
                    </a:schemeClr>
                  </a:gs>
                  <a:gs pos="50000">
                    <a:schemeClr val="bg1">
                      <a:lumMod val="75000"/>
                      <a:tint val="44500"/>
                      <a:satMod val="160000"/>
                    </a:schemeClr>
                  </a:gs>
                  <a:gs pos="100000">
                    <a:schemeClr val="bg1">
                      <a:lumMod val="75000"/>
                      <a:tint val="23500"/>
                      <a:satMod val="160000"/>
                    </a:schemeClr>
                  </a:gs>
                </a:gsLst>
                <a:lin ang="5400000" scaled="1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87610" y="723899"/>
            <a:ext cx="13821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latinLnBrk="0"/>
            <a:r>
              <a:rPr lang="ko-KR" altLang="en-US" sz="2000" b="1" spc="-100" dirty="0">
                <a:gradFill flip="none" rotWithShape="1">
                  <a:gsLst>
                    <a:gs pos="0">
                      <a:schemeClr val="accent5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accent5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5">
                        <a:lumMod val="7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여가의 이해</a:t>
            </a:r>
            <a:endParaRPr lang="ko-KR" altLang="ko-KR" sz="2000" b="1" spc="-100" dirty="0">
              <a:gradFill flip="none" rotWithShape="1">
                <a:gsLst>
                  <a:gs pos="0">
                    <a:schemeClr val="accent5">
                      <a:lumMod val="75000"/>
                      <a:shade val="30000"/>
                      <a:satMod val="115000"/>
                    </a:schemeClr>
                  </a:gs>
                  <a:gs pos="50000">
                    <a:schemeClr val="accent5">
                      <a:lumMod val="75000"/>
                      <a:shade val="67500"/>
                      <a:satMod val="115000"/>
                    </a:schemeClr>
                  </a:gs>
                  <a:gs pos="100000">
                    <a:schemeClr val="accent5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grpSp>
        <p:nvGrpSpPr>
          <p:cNvPr id="12" name="그룹 15"/>
          <p:cNvGrpSpPr/>
          <p:nvPr/>
        </p:nvGrpSpPr>
        <p:grpSpPr>
          <a:xfrm>
            <a:off x="263056" y="1363613"/>
            <a:ext cx="5117705" cy="364614"/>
            <a:chOff x="2915816" y="620688"/>
            <a:chExt cx="3095504" cy="542944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2915816" y="620688"/>
              <a:ext cx="3095504" cy="542944"/>
            </a:xfrm>
            <a:prstGeom prst="roundRect">
              <a:avLst>
                <a:gd name="adj" fmla="val 50000"/>
              </a:avLst>
            </a:prstGeom>
            <a:solidFill>
              <a:srgbClr val="35537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-373384" algn="ctr">
                <a:lnSpc>
                  <a:spcPct val="80000"/>
                </a:lnSpc>
                <a:buClr>
                  <a:schemeClr val="hlink"/>
                </a:buClr>
                <a:buSzPts val="1200"/>
                <a:defRPr/>
              </a:pPr>
              <a:endParaRPr lang="ko-KR" altLang="en-US" sz="1200">
                <a:solidFill>
                  <a:sysClr val="window" lastClr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4" name="그림 13" descr="7.png"/>
            <p:cNvPicPr>
              <a:picLocks noChangeAspect="1"/>
            </p:cNvPicPr>
            <p:nvPr/>
          </p:nvPicPr>
          <p:blipFill>
            <a:blip r:embed="rId3" cstate="print"/>
            <a:srcRect l="36136" t="27801" r="50166" b="42889"/>
            <a:stretch>
              <a:fillRect/>
            </a:stretch>
          </p:blipFill>
          <p:spPr>
            <a:xfrm flipH="1">
              <a:off x="2927312" y="621092"/>
              <a:ext cx="3047456" cy="503651"/>
            </a:xfrm>
            <a:prstGeom prst="roundRect">
              <a:avLst>
                <a:gd name="adj" fmla="val 50000"/>
              </a:avLst>
            </a:prstGeom>
          </p:spPr>
        </p:pic>
      </p:grpSp>
      <p:sp>
        <p:nvSpPr>
          <p:cNvPr id="15" name="TextBox 125"/>
          <p:cNvSpPr txBox="1"/>
          <p:nvPr/>
        </p:nvSpPr>
        <p:spPr>
          <a:xfrm>
            <a:off x="101659" y="1351382"/>
            <a:ext cx="5265723" cy="369316"/>
          </a:xfrm>
          <a:prstGeom prst="rect">
            <a:avLst/>
          </a:prstGeom>
          <a:noFill/>
        </p:spPr>
        <p:txBody>
          <a:bodyPr wrap="square" lIns="91426" tIns="45712" rIns="91426" bIns="45712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 spc="-150" dirty="0">
                <a:gradFill flip="none" rotWithShape="1">
                  <a:gsLst>
                    <a:gs pos="0">
                      <a:schemeClr val="bg1">
                        <a:lumMod val="75000"/>
                        <a:tint val="66000"/>
                        <a:satMod val="160000"/>
                      </a:schemeClr>
                    </a:gs>
                    <a:gs pos="50000">
                      <a:schemeClr val="bg1">
                        <a:lumMod val="75000"/>
                        <a:tint val="44500"/>
                        <a:satMod val="160000"/>
                      </a:schemeClr>
                    </a:gs>
                    <a:gs pos="100000">
                      <a:schemeClr val="bg1">
                        <a:lumMod val="75000"/>
                        <a:tint val="23500"/>
                        <a:satMod val="160000"/>
                      </a:schemeClr>
                    </a:gs>
                  </a:gsLst>
                  <a:lin ang="27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여가는 활동자체의 즐거움을 추구한다</a:t>
            </a:r>
          </a:p>
        </p:txBody>
      </p:sp>
      <p:sp>
        <p:nvSpPr>
          <p:cNvPr id="16" name="직사각형 32"/>
          <p:cNvSpPr/>
          <p:nvPr/>
        </p:nvSpPr>
        <p:spPr>
          <a:xfrm>
            <a:off x="232012" y="1768364"/>
            <a:ext cx="5088319" cy="2315554"/>
          </a:xfrm>
          <a:prstGeom prst="roundRect">
            <a:avLst>
              <a:gd name="adj" fmla="val 3362"/>
            </a:avLst>
          </a:prstGeom>
          <a:solidFill>
            <a:sysClr val="window" lastClr="FFFFFF"/>
          </a:solidFill>
          <a:ln w="12700" cap="flat" cmpd="sng" algn="ctr">
            <a:gradFill>
              <a:gsLst>
                <a:gs pos="0">
                  <a:srgbClr val="B8B8B8"/>
                </a:gs>
                <a:gs pos="50000">
                  <a:sysClr val="window" lastClr="FFFFFF">
                    <a:lumMod val="85000"/>
                  </a:sysClr>
                </a:gs>
                <a:gs pos="100000">
                  <a:srgbClr val="B8B8B8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>
            <a:innerShdw blurRad="228600">
              <a:sysClr val="window" lastClr="FFFFFF">
                <a:lumMod val="75000"/>
              </a:sysClr>
            </a:innerShdw>
          </a:effectLst>
          <a:scene3d>
            <a:camera prst="orthographicFront"/>
            <a:lightRig rig="flat" dir="t"/>
          </a:scene3d>
        </p:spPr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292028" y="1886224"/>
            <a:ext cx="4962360" cy="207441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4305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1457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5762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2915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67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17220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활동을 위한 즐거움인가 즐거움을 위한 활동인가</a:t>
            </a:r>
            <a:r>
              <a:rPr lang="en-US" altLang="ko-KR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?</a:t>
            </a:r>
          </a:p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여가활동의 목적이 어디에 있는가</a:t>
            </a:r>
            <a:r>
              <a:rPr lang="en-US" altLang="ko-KR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?</a:t>
            </a:r>
          </a:p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건강과 즐거움</a:t>
            </a:r>
            <a:endParaRPr lang="en-US" altLang="ko-KR" sz="1800" b="1" spc="-12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27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2</a:t>
            </a: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차적 목적이 아닌 </a:t>
            </a:r>
            <a:r>
              <a:rPr lang="en-US" altLang="ko-KR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1</a:t>
            </a: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차적 목적이 되어야 한다</a:t>
            </a:r>
            <a:endParaRPr lang="en-US" altLang="ko-KR" sz="1800" b="1" spc="-12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27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활동에서 오는 즐거움을 얻기 위해서 여가활동을 해야 한다</a:t>
            </a:r>
          </a:p>
        </p:txBody>
      </p:sp>
    </p:spTree>
    <p:extLst>
      <p:ext uri="{BB962C8B-B14F-4D97-AF65-F5344CB8AC3E}">
        <p14:creationId xmlns:p14="http://schemas.microsoft.com/office/powerpoint/2010/main" val="1123513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24494" y="771550"/>
            <a:ext cx="8135938" cy="432048"/>
          </a:xfrm>
        </p:spPr>
        <p:txBody>
          <a:bodyPr>
            <a:noAutofit/>
          </a:bodyPr>
          <a:lstStyle/>
          <a:p>
            <a:r>
              <a:rPr lang="en-US" altLang="ko-KR" dirty="0"/>
              <a:t>    </a:t>
            </a:r>
            <a:r>
              <a:rPr lang="ko-KR" altLang="en-US" dirty="0"/>
              <a:t>함께 배우는 레크리에이션</a:t>
            </a:r>
          </a:p>
        </p:txBody>
      </p:sp>
      <p:grpSp>
        <p:nvGrpSpPr>
          <p:cNvPr id="3" name="그룹 14"/>
          <p:cNvGrpSpPr/>
          <p:nvPr/>
        </p:nvGrpSpPr>
        <p:grpSpPr>
          <a:xfrm>
            <a:off x="143384" y="1851669"/>
            <a:ext cx="5265723" cy="380613"/>
            <a:chOff x="-3558356" y="1180753"/>
            <a:chExt cx="2880320" cy="380613"/>
          </a:xfrm>
        </p:grpSpPr>
        <p:grpSp>
          <p:nvGrpSpPr>
            <p:cNvPr id="4" name="그룹 15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19" name="모서리가 둥근 직사각형 18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-373384" algn="ctr">
                  <a:lnSpc>
                    <a:spcPct val="80000"/>
                  </a:lnSpc>
                  <a:buClr>
                    <a:schemeClr val="hlink"/>
                  </a:buClr>
                  <a:buSzPts val="1200"/>
                  <a:defRPr/>
                </a:pPr>
                <a:endParaRPr lang="ko-KR" altLang="en-US" sz="1200">
                  <a:solidFill>
                    <a:sysClr val="window" lastClr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20" name="그림 19" descr="7.png"/>
              <p:cNvPicPr>
                <a:picLocks noChangeAspect="1"/>
              </p:cNvPicPr>
              <p:nvPr/>
            </p:nvPicPr>
            <p:blipFill>
              <a:blip r:embed="rId2" cstate="print"/>
              <a:srcRect l="36136" t="27801" r="50166" b="42889"/>
              <a:stretch>
                <a:fillRect/>
              </a:stretch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</p:spPr>
          </p:pic>
        </p:grpSp>
        <p:sp>
          <p:nvSpPr>
            <p:cNvPr id="17" name="TextBox 125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</p:spPr>
          <p:txBody>
            <a:bodyPr wrap="square" lIns="91426" tIns="45712" rIns="91426" bIns="45712" rtlCol="0" anchor="ctr">
              <a:spAutoFit/>
              <a:scene3d>
                <a:camera prst="orthographicFront"/>
                <a:lightRig rig="threePt" dir="t"/>
              </a:scene3d>
              <a:sp3d>
                <a:bevelT w="1270" h="1270"/>
              </a:sp3d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b="1" spc="-150" dirty="0">
                  <a:gradFill flip="none" rotWithShape="1">
                    <a:gsLst>
                      <a:gs pos="0">
                        <a:schemeClr val="bg1">
                          <a:lumMod val="75000"/>
                          <a:tint val="66000"/>
                          <a:satMod val="160000"/>
                        </a:schemeClr>
                      </a:gs>
                      <a:gs pos="50000">
                        <a:schemeClr val="bg1">
                          <a:lumMod val="75000"/>
                          <a:tint val="44500"/>
                          <a:satMod val="160000"/>
                        </a:schemeClr>
                      </a:gs>
                      <a:gs pos="100000">
                        <a:schemeClr val="bg1">
                          <a:lumMod val="75000"/>
                          <a:tint val="23500"/>
                          <a:satMod val="160000"/>
                        </a:schemeClr>
                      </a:gs>
                    </a:gsLst>
                    <a:lin ang="2700000" scaled="1"/>
                    <a:tileRect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섞임 놀이</a:t>
              </a:r>
            </a:p>
          </p:txBody>
        </p:sp>
      </p:grpSp>
      <p:sp>
        <p:nvSpPr>
          <p:cNvPr id="24" name="직사각형 32"/>
          <p:cNvSpPr/>
          <p:nvPr/>
        </p:nvSpPr>
        <p:spPr>
          <a:xfrm>
            <a:off x="232012" y="2272420"/>
            <a:ext cx="5088319" cy="1667482"/>
          </a:xfrm>
          <a:prstGeom prst="roundRect">
            <a:avLst>
              <a:gd name="adj" fmla="val 3362"/>
            </a:avLst>
          </a:prstGeom>
          <a:solidFill>
            <a:sysClr val="window" lastClr="FFFFFF"/>
          </a:solidFill>
          <a:ln w="12700" cap="flat" cmpd="sng" algn="ctr">
            <a:gradFill>
              <a:gsLst>
                <a:gs pos="0">
                  <a:srgbClr val="B8B8B8"/>
                </a:gs>
                <a:gs pos="50000">
                  <a:sysClr val="window" lastClr="FFFFFF">
                    <a:lumMod val="85000"/>
                  </a:sysClr>
                </a:gs>
                <a:gs pos="100000">
                  <a:srgbClr val="B8B8B8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>
            <a:innerShdw blurRad="228600">
              <a:sysClr val="window" lastClr="FFFFFF">
                <a:lumMod val="75000"/>
              </a:sysClr>
            </a:innerShdw>
          </a:effectLst>
          <a:scene3d>
            <a:camera prst="orthographicFront"/>
            <a:lightRig rig="flat" dir="t"/>
          </a:scene3d>
        </p:spPr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292028" y="2390279"/>
            <a:ext cx="4962360" cy="13672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4305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1457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5762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2915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67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17220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하나되기 어려운 시대</a:t>
            </a:r>
            <a:endParaRPr lang="en-US" altLang="ko-KR" sz="1800" b="1" spc="-12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27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다른 사람들 속에 녹아들어가는 법을 모른다</a:t>
            </a:r>
            <a:endParaRPr lang="en-US" altLang="ko-KR" sz="1800" b="1" spc="-12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27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섞임 놀이는 공동체 </a:t>
            </a:r>
            <a:r>
              <a:rPr lang="ko-KR" altLang="en-US" sz="1800" b="1" spc="-120" dirty="0" err="1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놀이중</a:t>
            </a: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 도입부분에 하는 놀이이다</a:t>
            </a:r>
            <a:endParaRPr lang="en-US" altLang="ko-KR" sz="1800" b="1" spc="-12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27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515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24494" y="771550"/>
            <a:ext cx="8135938" cy="432048"/>
          </a:xfrm>
        </p:spPr>
        <p:txBody>
          <a:bodyPr>
            <a:noAutofit/>
          </a:bodyPr>
          <a:lstStyle/>
          <a:p>
            <a:r>
              <a:rPr lang="en-US" altLang="ko-KR" dirty="0"/>
              <a:t>    </a:t>
            </a:r>
            <a:r>
              <a:rPr lang="ko-KR" altLang="en-US" dirty="0"/>
              <a:t>함께 배우는 레크리에이션</a:t>
            </a:r>
          </a:p>
        </p:txBody>
      </p:sp>
      <p:grpSp>
        <p:nvGrpSpPr>
          <p:cNvPr id="3" name="그룹 14"/>
          <p:cNvGrpSpPr/>
          <p:nvPr/>
        </p:nvGrpSpPr>
        <p:grpSpPr>
          <a:xfrm>
            <a:off x="143384" y="1563638"/>
            <a:ext cx="5265723" cy="380613"/>
            <a:chOff x="-3558356" y="1180753"/>
            <a:chExt cx="2880320" cy="380613"/>
          </a:xfrm>
        </p:grpSpPr>
        <p:grpSp>
          <p:nvGrpSpPr>
            <p:cNvPr id="4" name="그룹 15"/>
            <p:cNvGrpSpPr/>
            <p:nvPr/>
          </p:nvGrpSpPr>
          <p:grpSpPr>
            <a:xfrm>
              <a:off x="-3492896" y="1196752"/>
              <a:ext cx="2799355" cy="364614"/>
              <a:chOff x="2915816" y="620688"/>
              <a:chExt cx="3095504" cy="542944"/>
            </a:xfrm>
          </p:grpSpPr>
          <p:sp>
            <p:nvSpPr>
              <p:cNvPr id="19" name="모서리가 둥근 직사각형 18"/>
              <p:cNvSpPr/>
              <p:nvPr/>
            </p:nvSpPr>
            <p:spPr>
              <a:xfrm>
                <a:off x="2915816" y="620688"/>
                <a:ext cx="3095504" cy="542944"/>
              </a:xfrm>
              <a:prstGeom prst="roundRect">
                <a:avLst>
                  <a:gd name="adj" fmla="val 50000"/>
                </a:avLst>
              </a:prstGeom>
              <a:solidFill>
                <a:srgbClr val="437137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-373384" algn="ctr">
                  <a:lnSpc>
                    <a:spcPct val="80000"/>
                  </a:lnSpc>
                  <a:buClr>
                    <a:schemeClr val="hlink"/>
                  </a:buClr>
                  <a:buSzPts val="1200"/>
                  <a:defRPr/>
                </a:pPr>
                <a:endParaRPr lang="ko-KR" altLang="en-US" sz="1200">
                  <a:solidFill>
                    <a:sysClr val="window" lastClr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20" name="그림 19" descr="7.png"/>
              <p:cNvPicPr>
                <a:picLocks noChangeAspect="1"/>
              </p:cNvPicPr>
              <p:nvPr/>
            </p:nvPicPr>
            <p:blipFill>
              <a:blip r:embed="rId2" cstate="print"/>
              <a:srcRect l="36136" t="27801" r="50166" b="42889"/>
              <a:stretch>
                <a:fillRect/>
              </a:stretch>
            </p:blipFill>
            <p:spPr>
              <a:xfrm flipH="1">
                <a:off x="2927312" y="621092"/>
                <a:ext cx="3047456" cy="503652"/>
              </a:xfrm>
              <a:prstGeom prst="roundRect">
                <a:avLst>
                  <a:gd name="adj" fmla="val 50000"/>
                </a:avLst>
              </a:prstGeom>
            </p:spPr>
          </p:pic>
        </p:grpSp>
        <p:sp>
          <p:nvSpPr>
            <p:cNvPr id="17" name="TextBox 125"/>
            <p:cNvSpPr txBox="1"/>
            <p:nvPr/>
          </p:nvSpPr>
          <p:spPr>
            <a:xfrm>
              <a:off x="-3558356" y="1180753"/>
              <a:ext cx="2880320" cy="369316"/>
            </a:xfrm>
            <a:prstGeom prst="rect">
              <a:avLst/>
            </a:prstGeom>
            <a:noFill/>
          </p:spPr>
          <p:txBody>
            <a:bodyPr wrap="square" lIns="91426" tIns="45712" rIns="91426" bIns="45712" rtlCol="0" anchor="ctr">
              <a:spAutoFit/>
              <a:scene3d>
                <a:camera prst="orthographicFront"/>
                <a:lightRig rig="threePt" dir="t"/>
              </a:scene3d>
              <a:sp3d>
                <a:bevelT w="1270" h="1270"/>
              </a:sp3d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b="1" spc="-150" dirty="0">
                  <a:gradFill flip="none" rotWithShape="1">
                    <a:gsLst>
                      <a:gs pos="0">
                        <a:schemeClr val="bg1">
                          <a:lumMod val="75000"/>
                          <a:tint val="66000"/>
                          <a:satMod val="160000"/>
                        </a:schemeClr>
                      </a:gs>
                      <a:gs pos="50000">
                        <a:schemeClr val="bg1">
                          <a:lumMod val="75000"/>
                          <a:tint val="44500"/>
                          <a:satMod val="160000"/>
                        </a:schemeClr>
                      </a:gs>
                      <a:gs pos="100000">
                        <a:schemeClr val="bg1">
                          <a:lumMod val="75000"/>
                          <a:tint val="23500"/>
                          <a:satMod val="160000"/>
                        </a:schemeClr>
                      </a:gs>
                    </a:gsLst>
                    <a:lin ang="2700000" scaled="1"/>
                    <a:tileRect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섞임 놀이</a:t>
              </a:r>
            </a:p>
          </p:txBody>
        </p:sp>
      </p:grpSp>
      <p:sp>
        <p:nvSpPr>
          <p:cNvPr id="24" name="직사각형 32"/>
          <p:cNvSpPr/>
          <p:nvPr/>
        </p:nvSpPr>
        <p:spPr>
          <a:xfrm>
            <a:off x="232012" y="1984389"/>
            <a:ext cx="5088319" cy="1667482"/>
          </a:xfrm>
          <a:prstGeom prst="roundRect">
            <a:avLst>
              <a:gd name="adj" fmla="val 3362"/>
            </a:avLst>
          </a:prstGeom>
          <a:solidFill>
            <a:sysClr val="window" lastClr="FFFFFF"/>
          </a:solidFill>
          <a:ln w="12700" cap="flat" cmpd="sng" algn="ctr">
            <a:gradFill>
              <a:gsLst>
                <a:gs pos="0">
                  <a:srgbClr val="B8B8B8"/>
                </a:gs>
                <a:gs pos="50000">
                  <a:sysClr val="window" lastClr="FFFFFF">
                    <a:lumMod val="85000"/>
                  </a:sysClr>
                </a:gs>
                <a:gs pos="100000">
                  <a:srgbClr val="B8B8B8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>
            <a:innerShdw blurRad="228600">
              <a:sysClr val="window" lastClr="FFFFFF">
                <a:lumMod val="75000"/>
              </a:sysClr>
            </a:innerShdw>
          </a:effectLst>
          <a:scene3d>
            <a:camera prst="orthographicFront"/>
            <a:lightRig rig="flat" dir="t"/>
          </a:scene3d>
        </p:spPr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292028" y="2102248"/>
            <a:ext cx="4962360" cy="140576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152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4305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1457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5762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2915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675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172200" algn="l" defTabSz="1543050" rtl="0" eaLnBrk="1" latinLnBrk="1" hangingPunct="1"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번호 불러 </a:t>
            </a:r>
            <a:r>
              <a:rPr lang="ko-KR" altLang="en-US" sz="1800" b="1" spc="-120" dirty="0" err="1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자리바꾸기</a:t>
            </a:r>
            <a:endParaRPr lang="en-US" altLang="ko-KR" sz="1800" b="1" spc="-12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27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서바이벌 터치</a:t>
            </a:r>
            <a:endParaRPr lang="en-US" altLang="ko-KR" sz="1800" b="1" spc="-12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27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손님 모셔오기</a:t>
            </a:r>
            <a:endParaRPr lang="en-US" altLang="ko-KR" sz="1800" b="1" spc="-12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27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  <a:p>
            <a:pPr marL="177800" indent="-177800" latinLnBrk="0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sz="1800" b="1" spc="-12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2700000" scaled="1"/>
                  <a:tileRect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빈자리 채우기</a:t>
            </a:r>
            <a:endParaRPr lang="en-US" altLang="ko-KR" sz="1800" b="1" spc="-12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2700000" scaled="1"/>
                <a:tileRect/>
              </a:gradFill>
              <a:latin typeface="나눔고딕" panose="020D0604000000000000" pitchFamily="50" charset="-127"/>
              <a:ea typeface="나눔고딕" panose="020D0604000000000000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437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4791" y="822811"/>
            <a:ext cx="4214419" cy="588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300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rgbClr val="C00000">
                      <a:alpha val="40000"/>
                    </a:srgb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굴림" panose="020B0600000101010101" pitchFamily="50" charset="-127"/>
              </a:rPr>
              <a:t>동물 빙고</a:t>
            </a:r>
            <a:endParaRPr lang="en-US" altLang="ko-KR" sz="360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rgbClr val="C00000">
                    <a:alpha val="40000"/>
                  </a:srgb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굴림" panose="020B0600000101010101" pitchFamily="50" charset="-127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C0B18848-3376-2F68-B774-E5D780ECD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199" y="1707254"/>
            <a:ext cx="4700698" cy="48488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68584" tIns="34292" rIns="68584" bIns="34292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2701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ㄱ</a:t>
            </a:r>
            <a:r>
              <a:rPr lang="ko-KR" altLang="en-US" sz="2701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 </a:t>
            </a:r>
            <a:r>
              <a:rPr lang="ko-KR" altLang="en-US" sz="2701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으로</a:t>
            </a:r>
            <a:r>
              <a:rPr lang="ko-KR" altLang="en-US" sz="2701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 시작하는 동물이름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8A2548BA-AC03-095C-A177-1BB831278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2698" y="2356960"/>
            <a:ext cx="4700698" cy="48488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68584" tIns="34292" rIns="68584" bIns="34292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2701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굴림" panose="020B0600000101010101" pitchFamily="50" charset="-127"/>
              </a:rPr>
              <a:t>ㄴ</a:t>
            </a:r>
            <a:r>
              <a:rPr lang="ko-KR" altLang="en-US" sz="2701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굴림" panose="020B0600000101010101" pitchFamily="50" charset="-127"/>
              </a:rPr>
              <a:t> </a:t>
            </a:r>
            <a:r>
              <a:rPr lang="ko-KR" altLang="en-US" sz="2701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굴림" panose="020B0600000101010101" pitchFamily="50" charset="-127"/>
              </a:rPr>
              <a:t>으로</a:t>
            </a:r>
            <a:r>
              <a:rPr lang="ko-KR" altLang="en-US" sz="2701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굴림" panose="020B0600000101010101" pitchFamily="50" charset="-127"/>
              </a:rPr>
              <a:t> 시작하는 동물이름</a:t>
            </a: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F4B078FB-9A62-37D3-E9F1-DED62AB78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2698" y="3034383"/>
            <a:ext cx="4700698" cy="48488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68584" tIns="34292" rIns="68584" bIns="34292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2701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굴림" panose="020B0600000101010101" pitchFamily="50" charset="-127"/>
              </a:rPr>
              <a:t>ㄷ</a:t>
            </a:r>
            <a:r>
              <a:rPr lang="ko-KR" altLang="en-US" sz="2701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굴림" panose="020B0600000101010101" pitchFamily="50" charset="-127"/>
              </a:rPr>
              <a:t> </a:t>
            </a:r>
            <a:r>
              <a:rPr lang="ko-KR" altLang="en-US" sz="2701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굴림" panose="020B0600000101010101" pitchFamily="50" charset="-127"/>
              </a:rPr>
              <a:t>으로</a:t>
            </a:r>
            <a:r>
              <a:rPr lang="ko-KR" altLang="en-US" sz="2701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굴림" panose="020B0600000101010101" pitchFamily="50" charset="-127"/>
              </a:rPr>
              <a:t> 시작하는 동물이름</a:t>
            </a: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7918DD75-84A9-1948-13E8-1B2BCDE2C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4468" y="3709232"/>
            <a:ext cx="4700698" cy="48488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68584" tIns="34292" rIns="68584" bIns="34292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2701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굴림" panose="020B0600000101010101" pitchFamily="50" charset="-127"/>
              </a:rPr>
              <a:t>ㅋ</a:t>
            </a:r>
            <a:r>
              <a:rPr lang="ko-KR" altLang="en-US" sz="2701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굴림" panose="020B0600000101010101" pitchFamily="50" charset="-127"/>
              </a:rPr>
              <a:t> </a:t>
            </a:r>
            <a:r>
              <a:rPr lang="ko-KR" altLang="en-US" sz="2701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굴림" panose="020B0600000101010101" pitchFamily="50" charset="-127"/>
              </a:rPr>
              <a:t>으로</a:t>
            </a:r>
            <a:r>
              <a:rPr lang="ko-KR" altLang="en-US" sz="2701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굴림" panose="020B0600000101010101" pitchFamily="50" charset="-127"/>
              </a:rPr>
              <a:t> 시작하는 동물이름</a:t>
            </a:r>
          </a:p>
        </p:txBody>
      </p:sp>
    </p:spTree>
    <p:extLst>
      <p:ext uri="{BB962C8B-B14F-4D97-AF65-F5344CB8AC3E}">
        <p14:creationId xmlns:p14="http://schemas.microsoft.com/office/powerpoint/2010/main" val="827310556"/>
      </p:ext>
    </p:extLst>
  </p:cSld>
  <p:clrMapOvr>
    <a:masterClrMapping/>
  </p:clrMapOvr>
  <p:transition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4791" y="822812"/>
            <a:ext cx="4214419" cy="674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360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rgbClr val="C00000">
                      <a:alpha val="40000"/>
                    </a:srgb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굴림" panose="020B0600000101010101" pitchFamily="50" charset="-127"/>
              </a:rPr>
              <a:t>ㄱ</a:t>
            </a:r>
            <a:r>
              <a:rPr lang="en-US" altLang="ko-KR" sz="300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rgbClr val="C00000">
                      <a:alpha val="40000"/>
                    </a:srgb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굴림" panose="020B0600000101010101" pitchFamily="50" charset="-127"/>
              </a:rPr>
              <a:t> </a:t>
            </a:r>
            <a:r>
              <a:rPr lang="ko-KR" altLang="en-US" sz="300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rgbClr val="C00000">
                      <a:alpha val="40000"/>
                    </a:srgb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굴림" panose="020B0600000101010101" pitchFamily="50" charset="-127"/>
              </a:rPr>
              <a:t>으로 시작하는 동물</a:t>
            </a:r>
            <a:endParaRPr lang="en-US" altLang="ko-KR" sz="360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rgbClr val="C00000">
                    <a:alpha val="40000"/>
                  </a:srgb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굴림" panose="020B0600000101010101" pitchFamily="50" charset="-127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C0B18848-3376-2F68-B774-E5D780ECD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199" y="2051387"/>
            <a:ext cx="4700698" cy="48488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68584" tIns="34292" rIns="68584" bIns="34292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100</a:t>
            </a:r>
            <a:r>
              <a:rPr lang="ko-KR" altLang="en-US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점 </a:t>
            </a:r>
            <a:r>
              <a:rPr lang="en-US" altLang="ko-KR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 </a:t>
            </a:r>
            <a:r>
              <a:rPr lang="ko-KR" altLang="en-US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고릴라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8A2548BA-AC03-095C-A177-1BB831278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198" y="2944106"/>
            <a:ext cx="4700698" cy="48488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68584" tIns="34292" rIns="68584" bIns="34292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200</a:t>
            </a:r>
            <a:r>
              <a:rPr lang="ko-KR" altLang="en-US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점 고양이</a:t>
            </a: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F4B078FB-9A62-37D3-E9F1-DED62AB78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2698" y="3835745"/>
            <a:ext cx="4700698" cy="48488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68584" tIns="34292" rIns="68584" bIns="34292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300</a:t>
            </a:r>
            <a:r>
              <a:rPr lang="ko-KR" altLang="en-US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점 가물치</a:t>
            </a:r>
          </a:p>
        </p:txBody>
      </p:sp>
    </p:spTree>
    <p:extLst>
      <p:ext uri="{BB962C8B-B14F-4D97-AF65-F5344CB8AC3E}">
        <p14:creationId xmlns:p14="http://schemas.microsoft.com/office/powerpoint/2010/main" val="1588033479"/>
      </p:ext>
    </p:extLst>
  </p:cSld>
  <p:clrMapOvr>
    <a:masterClrMapping/>
  </p:clrMapOvr>
  <p:transition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4791" y="822812"/>
            <a:ext cx="4214419" cy="674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360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rgbClr val="C00000">
                      <a:alpha val="40000"/>
                    </a:srgb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굴림" panose="020B0600000101010101" pitchFamily="50" charset="-127"/>
              </a:rPr>
              <a:t>ㄴ</a:t>
            </a:r>
            <a:r>
              <a:rPr lang="en-US" altLang="ko-KR" sz="300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rgbClr val="C00000">
                      <a:alpha val="40000"/>
                    </a:srgb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굴림" panose="020B0600000101010101" pitchFamily="50" charset="-127"/>
              </a:rPr>
              <a:t> </a:t>
            </a:r>
            <a:r>
              <a:rPr lang="ko-KR" altLang="en-US" sz="300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rgbClr val="C00000">
                      <a:alpha val="40000"/>
                    </a:srgb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굴림" panose="020B0600000101010101" pitchFamily="50" charset="-127"/>
              </a:rPr>
              <a:t>으로 시작하는 동물</a:t>
            </a:r>
            <a:endParaRPr lang="en-US" altLang="ko-KR" sz="360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rgbClr val="C00000">
                    <a:alpha val="40000"/>
                  </a:srgb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굴림" panose="020B0600000101010101" pitchFamily="50" charset="-127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C0B18848-3376-2F68-B774-E5D780ECD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199" y="2051387"/>
            <a:ext cx="4700698" cy="48488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68584" tIns="34292" rIns="68584" bIns="34292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100</a:t>
            </a:r>
            <a:r>
              <a:rPr lang="ko-KR" altLang="en-US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점 </a:t>
            </a:r>
            <a:r>
              <a:rPr lang="en-US" altLang="ko-KR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 </a:t>
            </a:r>
            <a:r>
              <a:rPr lang="ko-KR" altLang="en-US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노루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8A2548BA-AC03-095C-A177-1BB831278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198" y="2944106"/>
            <a:ext cx="4700698" cy="48488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68584" tIns="34292" rIns="68584" bIns="34292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200</a:t>
            </a:r>
            <a:r>
              <a:rPr lang="ko-KR" altLang="en-US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점 너구리</a:t>
            </a: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F4B078FB-9A62-37D3-E9F1-DED62AB78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2698" y="3835745"/>
            <a:ext cx="4700698" cy="48488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68584" tIns="34292" rIns="68584" bIns="34292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300</a:t>
            </a:r>
            <a:r>
              <a:rPr lang="ko-KR" altLang="en-US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점 나무늘보</a:t>
            </a:r>
          </a:p>
        </p:txBody>
      </p:sp>
    </p:spTree>
    <p:extLst>
      <p:ext uri="{BB962C8B-B14F-4D97-AF65-F5344CB8AC3E}">
        <p14:creationId xmlns:p14="http://schemas.microsoft.com/office/powerpoint/2010/main" val="1605481525"/>
      </p:ext>
    </p:extLst>
  </p:cSld>
  <p:clrMapOvr>
    <a:masterClrMapping/>
  </p:clrMapOvr>
  <p:transition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4791" y="822812"/>
            <a:ext cx="4214419" cy="674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360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rgbClr val="C00000">
                      <a:alpha val="40000"/>
                    </a:srgb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굴림" panose="020B0600000101010101" pitchFamily="50" charset="-127"/>
              </a:rPr>
              <a:t>ㄷ</a:t>
            </a:r>
            <a:r>
              <a:rPr lang="en-US" altLang="ko-KR" sz="300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rgbClr val="C00000">
                      <a:alpha val="40000"/>
                    </a:srgb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굴림" panose="020B0600000101010101" pitchFamily="50" charset="-127"/>
              </a:rPr>
              <a:t> </a:t>
            </a:r>
            <a:r>
              <a:rPr lang="ko-KR" altLang="en-US" sz="300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rgbClr val="C00000">
                      <a:alpha val="40000"/>
                    </a:srgb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굴림" panose="020B0600000101010101" pitchFamily="50" charset="-127"/>
              </a:rPr>
              <a:t>으로 시작하는 동물</a:t>
            </a:r>
            <a:endParaRPr lang="en-US" altLang="ko-KR" sz="360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rgbClr val="C00000">
                    <a:alpha val="40000"/>
                  </a:srgb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굴림" panose="020B0600000101010101" pitchFamily="50" charset="-127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C0B18848-3376-2F68-B774-E5D780ECD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199" y="2051387"/>
            <a:ext cx="4700698" cy="48488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68584" tIns="34292" rIns="68584" bIns="34292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100</a:t>
            </a:r>
            <a:r>
              <a:rPr lang="ko-KR" altLang="en-US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점 </a:t>
            </a:r>
            <a:r>
              <a:rPr lang="en-US" altLang="ko-KR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 </a:t>
            </a:r>
            <a:r>
              <a:rPr lang="ko-KR" altLang="en-US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두더지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8A2548BA-AC03-095C-A177-1BB831278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198" y="2944106"/>
            <a:ext cx="4700698" cy="48488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68584" tIns="34292" rIns="68584" bIns="34292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200</a:t>
            </a:r>
            <a:r>
              <a:rPr lang="ko-KR" altLang="en-US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점 다람쥐</a:t>
            </a: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F4B078FB-9A62-37D3-E9F1-DED62AB78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2698" y="3835745"/>
            <a:ext cx="4700698" cy="48488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68584" tIns="34292" rIns="68584" bIns="34292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300</a:t>
            </a:r>
            <a:r>
              <a:rPr lang="ko-KR" altLang="en-US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점 닭</a:t>
            </a:r>
          </a:p>
        </p:txBody>
      </p:sp>
    </p:spTree>
    <p:extLst>
      <p:ext uri="{BB962C8B-B14F-4D97-AF65-F5344CB8AC3E}">
        <p14:creationId xmlns:p14="http://schemas.microsoft.com/office/powerpoint/2010/main" val="2132874299"/>
      </p:ext>
    </p:extLst>
  </p:cSld>
  <p:clrMapOvr>
    <a:masterClrMapping/>
  </p:clrMapOvr>
  <p:transition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64791" y="822811"/>
            <a:ext cx="4214419" cy="741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4052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rgbClr val="C00000">
                      <a:alpha val="40000"/>
                    </a:srgb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굴림" panose="020B0600000101010101" pitchFamily="50" charset="-127"/>
              </a:rPr>
              <a:t>ㅋ</a:t>
            </a:r>
            <a:r>
              <a:rPr lang="en-US" altLang="ko-KR" sz="300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rgbClr val="C00000">
                      <a:alpha val="40000"/>
                    </a:srgb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굴림" panose="020B0600000101010101" pitchFamily="50" charset="-127"/>
              </a:rPr>
              <a:t> </a:t>
            </a:r>
            <a:r>
              <a:rPr lang="ko-KR" altLang="en-US" sz="300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rgbClr val="C00000">
                      <a:alpha val="40000"/>
                    </a:srgb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ea typeface="굴림" panose="020B0600000101010101" pitchFamily="50" charset="-127"/>
              </a:rPr>
              <a:t>으로 시작하는 동물</a:t>
            </a:r>
            <a:endParaRPr lang="en-US" altLang="ko-KR" sz="360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rgbClr val="C00000">
                    <a:alpha val="40000"/>
                  </a:srgb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ea typeface="굴림" panose="020B0600000101010101" pitchFamily="50" charset="-127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C0B18848-3376-2F68-B774-E5D780ECD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199" y="2051387"/>
            <a:ext cx="4700698" cy="48488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68584" tIns="34292" rIns="68584" bIns="34292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100</a:t>
            </a:r>
            <a:r>
              <a:rPr lang="ko-KR" altLang="en-US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점 </a:t>
            </a:r>
            <a:r>
              <a:rPr lang="en-US" altLang="ko-KR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 </a:t>
            </a:r>
            <a:r>
              <a:rPr lang="ko-KR" altLang="en-US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캥거루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8A2548BA-AC03-095C-A177-1BB831278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198" y="2944106"/>
            <a:ext cx="4700698" cy="48488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68584" tIns="34292" rIns="68584" bIns="34292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200</a:t>
            </a:r>
            <a:r>
              <a:rPr lang="ko-KR" altLang="en-US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점 코뿔소</a:t>
            </a:r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F4B078FB-9A62-37D3-E9F1-DED62AB78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2698" y="3835745"/>
            <a:ext cx="4700698" cy="484880"/>
          </a:xfrm>
          <a:prstGeom prst="rect">
            <a:avLst/>
          </a:prstGeom>
          <a:solidFill>
            <a:srgbClr val="FFC000"/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68584" tIns="34292" rIns="68584" bIns="34292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300</a:t>
            </a:r>
            <a:r>
              <a:rPr lang="ko-KR" altLang="en-US" sz="2701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굴림" panose="020B0600000101010101" pitchFamily="50" charset="-127"/>
              </a:rPr>
              <a:t>점 코브라</a:t>
            </a:r>
          </a:p>
        </p:txBody>
      </p:sp>
    </p:spTree>
    <p:extLst>
      <p:ext uri="{BB962C8B-B14F-4D97-AF65-F5344CB8AC3E}">
        <p14:creationId xmlns:p14="http://schemas.microsoft.com/office/powerpoint/2010/main" val="8561045"/>
      </p:ext>
    </p:extLst>
  </p:cSld>
  <p:clrMapOvr>
    <a:masterClrMapping/>
  </p:clrMapOvr>
  <p:transition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1298</TotalTime>
  <Words>403</Words>
  <Application>Microsoft Office PowerPoint</Application>
  <PresentationFormat>화면 슬라이드 쇼(16:9)</PresentationFormat>
  <Paragraphs>101</Paragraphs>
  <Slides>25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1" baseType="lpstr">
      <vt:lpstr>나눔고딕</vt:lpstr>
      <vt:lpstr>나눔명조</vt:lpstr>
      <vt:lpstr>맑은 고딕</vt:lpstr>
      <vt:lpstr>Arial</vt:lpstr>
      <vt:lpstr>Wingdings</vt:lpstr>
      <vt:lpstr>Office 테마</vt:lpstr>
      <vt:lpstr>PowerPoint 프레젠테이션</vt:lpstr>
      <vt:lpstr>    함께 배우는 레크리에이션</vt:lpstr>
      <vt:lpstr>1. 여가의 속성들</vt:lpstr>
      <vt:lpstr>1. 여가의 속성들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1. 여가의 속성들</vt:lpstr>
      <vt:lpstr>1. 여가의 속성들</vt:lpstr>
      <vt:lpstr>1. 여가의 속성들</vt:lpstr>
      <vt:lpstr>PowerPoint 프레젠테이션</vt:lpstr>
      <vt:lpstr>1. 여가의 속성들</vt:lpstr>
      <vt:lpstr>1. 여가의 속성들</vt:lpstr>
      <vt:lpstr>1. 여가의 속성들</vt:lpstr>
      <vt:lpstr>1. 여가의 속성들</vt:lpstr>
      <vt:lpstr>1. 여가의 속성들</vt:lpstr>
      <vt:lpstr>    함께 배우는 레크리에이션</vt:lpstr>
      <vt:lpstr>    함께 배우는 레크리에이션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KCUDNT</dc:creator>
  <cp:lastModifiedBy>최 진이</cp:lastModifiedBy>
  <cp:revision>177</cp:revision>
  <dcterms:created xsi:type="dcterms:W3CDTF">2015-12-23T04:23:14Z</dcterms:created>
  <dcterms:modified xsi:type="dcterms:W3CDTF">2022-11-01T08:02:29Z</dcterms:modified>
</cp:coreProperties>
</file>