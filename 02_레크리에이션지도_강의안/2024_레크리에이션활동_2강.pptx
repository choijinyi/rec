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04">
          <p15:clr>
            <a:srgbClr val="A4A3A4"/>
          </p15:clr>
        </p15:guide>
        <p15:guide id="2" pos="22">
          <p15:clr>
            <a:srgbClr val="A4A3A4"/>
          </p15:clr>
        </p15:guide>
        <p15:guide id="3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4" roundtripDataSignature="AMtx7mgtCdOs7iJIw/WPYTdJFkTsXR3m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DB419E-DE93-4A31-8632-F597007B4AF7}">
  <a:tblStyle styleId="{B3DB419E-DE93-4A31-8632-F597007B4AF7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B7FB56C-D0AB-4226-8208-8990A84411C5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C09007B-3FA5-4310-90EF-284CB8B2D65E}" styleName="Table_2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014" y="120"/>
      </p:cViewPr>
      <p:guideLst>
        <p:guide orient="horz" pos="804"/>
        <p:guide pos="22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및 내용">
  <p:cSld name="2_제목 및 내용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9"/>
          <p:cNvSpPr txBox="1"/>
          <p:nvPr/>
        </p:nvSpPr>
        <p:spPr>
          <a:xfrm>
            <a:off x="3167610" y="4979372"/>
            <a:ext cx="2808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KOREA SOONGSIL CYBER UNIVERSITY </a:t>
            </a:r>
            <a:endParaRPr sz="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0"/>
          <p:cNvSpPr/>
          <p:nvPr/>
        </p:nvSpPr>
        <p:spPr>
          <a:xfrm>
            <a:off x="0" y="555526"/>
            <a:ext cx="9144000" cy="4587875"/>
          </a:xfrm>
          <a:prstGeom prst="rect">
            <a:avLst/>
          </a:prstGeom>
          <a:gradFill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49803"/>
                </a:srgbClr>
              </a:gs>
            </a:gsLst>
            <a:lin ang="1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60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  <a:defRPr sz="2500" b="1" i="0" u="none" strike="noStrike" cap="none">
                <a:solidFill>
                  <a:srgbClr val="1D1C1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5" name="Google Shape;15;p60"/>
          <p:cNvCxnSpPr/>
          <p:nvPr/>
        </p:nvCxnSpPr>
        <p:spPr>
          <a:xfrm>
            <a:off x="0" y="555526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60"/>
          <p:cNvSpPr txBox="1"/>
          <p:nvPr/>
        </p:nvSpPr>
        <p:spPr>
          <a:xfrm>
            <a:off x="3167610" y="4979372"/>
            <a:ext cx="2808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KOREA SOONGSIL CYBER UNIVERSITY </a:t>
            </a:r>
            <a:endParaRPr sz="6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>
  <p:cSld name="2_제목 슬라이드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1"/>
          <p:cNvSpPr/>
          <p:nvPr/>
        </p:nvSpPr>
        <p:spPr>
          <a:xfrm>
            <a:off x="0" y="0"/>
            <a:ext cx="9144000" cy="5143401"/>
          </a:xfrm>
          <a:prstGeom prst="rect">
            <a:avLst/>
          </a:prstGeom>
          <a:gradFill>
            <a:gsLst>
              <a:gs pos="0">
                <a:srgbClr val="FFFFFF">
                  <a:alpha val="89803"/>
                </a:srgbClr>
              </a:gs>
              <a:gs pos="100000">
                <a:srgbClr val="FFFFFF">
                  <a:alpha val="80000"/>
                </a:srgbClr>
              </a:gs>
            </a:gsLst>
            <a:lin ang="1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61"/>
          <p:cNvSpPr txBox="1"/>
          <p:nvPr/>
        </p:nvSpPr>
        <p:spPr>
          <a:xfrm>
            <a:off x="3167610" y="4979372"/>
            <a:ext cx="2808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KOREA SOONGSIL CYBER UNIVERSITY </a:t>
            </a:r>
            <a:endParaRPr sz="6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61"/>
          <p:cNvSpPr txBox="1">
            <a:spLocks noGrp="1"/>
          </p:cNvSpPr>
          <p:nvPr>
            <p:ph type="ctrTitle"/>
          </p:nvPr>
        </p:nvSpPr>
        <p:spPr>
          <a:xfrm>
            <a:off x="323528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5B0507"/>
              </a:buClr>
              <a:buSzPts val="2500"/>
              <a:buFont typeface="Arial"/>
              <a:buNone/>
              <a:defRPr sz="2500" b="1" i="0" u="none" strike="noStrike" cap="none">
                <a:solidFill>
                  <a:srgbClr val="5B050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536546"/>
            <a:ext cx="2127250" cy="609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3"/>
          <p:cNvSpPr txBox="1"/>
          <p:nvPr/>
        </p:nvSpPr>
        <p:spPr>
          <a:xfrm>
            <a:off x="3167610" y="4979372"/>
            <a:ext cx="2808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KOREA SOONGSIL CYBER UNIVERSITY </a:t>
            </a:r>
            <a:endParaRPr sz="6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6F9FC"/>
            </a:gs>
            <a:gs pos="100000">
              <a:schemeClr val="lt1"/>
            </a:gs>
          </a:gsLst>
          <a:lin ang="135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19.png"/><Relationship Id="rId9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20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9.png"/><Relationship Id="rId5" Type="http://schemas.openxmlformats.org/officeDocument/2006/relationships/image" Target="../media/image27.png"/><Relationship Id="rId10" Type="http://schemas.openxmlformats.org/officeDocument/2006/relationships/image" Target="../media/image38.png"/><Relationship Id="rId4" Type="http://schemas.openxmlformats.org/officeDocument/2006/relationships/image" Target="../media/image19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1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1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/>
          <p:nvPr/>
        </p:nvSpPr>
        <p:spPr>
          <a:xfrm>
            <a:off x="0" y="829072"/>
            <a:ext cx="9144000" cy="864096"/>
          </a:xfrm>
          <a:prstGeom prst="roundRect">
            <a:avLst>
              <a:gd name="adj" fmla="val 4777"/>
            </a:avLst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99592" y="1097682"/>
            <a:ext cx="702027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여가레크리에이션의 역사적 관점</a:t>
            </a:r>
            <a:endParaRPr sz="3200" b="1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107504" y="699542"/>
            <a:ext cx="57199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1) 여가의 시작은?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251519" y="1275606"/>
            <a:ext cx="5689353" cy="238374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63500" dir="30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95537" y="1380223"/>
            <a:ext cx="5431879" cy="2151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71463" marR="0" lvl="0" indent="-27146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놀이는 문화보다 더 오랜 역사를 가진다.</a:t>
            </a:r>
            <a:endParaRPr sz="1800" b="1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1463" marR="0" lvl="0" indent="-271463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그러나 여가나 놀이는 교육의 주된 관심영역이 될 수 없었다.</a:t>
            </a:r>
            <a:endParaRPr sz="1800" b="1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1463" marR="0" lvl="0" indent="-271463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교육의 목적은 사회에 필요한 사람을 만드는 것이지 인생의 목표를 이루는 것이 아니기 때문이다.</a:t>
            </a:r>
            <a:endParaRPr sz="1800" b="1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1463" marR="0" lvl="0" indent="-271463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고대의 여가는 현대적 의미와 달랐다.</a:t>
            </a:r>
            <a:endParaRPr sz="1800" b="1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107504" y="699542"/>
            <a:ext cx="57199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1) 여가의 시작은?</a:t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251519" y="1275606"/>
            <a:ext cx="5689353" cy="238374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63500" dir="30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395537" y="1380223"/>
            <a:ext cx="5431879" cy="2151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71463" marR="0" lvl="0" indent="-27146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인류의 역사와 여가  - 자신과 가족의 생존을 위한 활동에 중점이 되었던 고대시절      </a:t>
            </a:r>
            <a:endParaRPr/>
          </a:p>
          <a:p>
            <a:pPr marL="271463" marR="0" lvl="0" indent="-271463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문명의 발달로 노동하는 인류와 노는 인류로 분할되어짐</a:t>
            </a:r>
            <a:endParaRPr/>
          </a:p>
          <a:p>
            <a:pPr marL="271463" marR="0" lvl="0" indent="-271463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창조론적 여가 - 여가의 창조</a:t>
            </a:r>
            <a:endParaRPr/>
          </a:p>
          <a:p>
            <a:pPr marL="271463" marR="0" lvl="0" indent="-271463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역사상 가장 오래된 여가 기록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107504" y="699542"/>
            <a:ext cx="57199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1) 여가의 시작은?</a:t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251519" y="1275606"/>
            <a:ext cx="5689353" cy="213278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63500" dir="30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95537" y="1380223"/>
            <a:ext cx="5431879" cy="1825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71463" marR="0" lvl="0" indent="-27146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원시 사회의 여가기능은 쾌락적, 향락적, 회복적 기능을 가지고 있었다</a:t>
            </a:r>
            <a:endParaRPr/>
          </a:p>
          <a:p>
            <a:pPr marL="271463" marR="0" lvl="0" indent="-271463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공동체에서 안전과 결속을 강화하는 기능</a:t>
            </a:r>
            <a:endParaRPr/>
          </a:p>
          <a:p>
            <a:pPr marL="271463" marR="0" lvl="0" indent="-271463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자기표현을 지향하는 기능</a:t>
            </a:r>
            <a:endParaRPr/>
          </a:p>
          <a:p>
            <a:pPr marL="271463" marR="0" lvl="0" indent="-271463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어린이와  성인간의 학습과 관습을 전달하는 기능</a:t>
            </a:r>
            <a:endParaRPr/>
          </a:p>
        </p:txBody>
      </p:sp>
      <p:pic>
        <p:nvPicPr>
          <p:cNvPr id="58" name="Google Shape;58;p4" descr="관련 이미지"/>
          <p:cNvPicPr preferRelativeResize="0"/>
          <p:nvPr/>
        </p:nvPicPr>
        <p:blipFill rotWithShape="1">
          <a:blip r:embed="rId3">
            <a:alphaModFix/>
          </a:blip>
          <a:srcRect l="5421" r="5247"/>
          <a:stretch/>
        </p:blipFill>
        <p:spPr>
          <a:xfrm>
            <a:off x="6121239" y="1275606"/>
            <a:ext cx="2879838" cy="3223760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>
            <a:spLocks noGrp="1"/>
          </p:cNvSpPr>
          <p:nvPr>
            <p:ph type="ctrTitle"/>
          </p:nvPr>
        </p:nvSpPr>
        <p:spPr>
          <a:xfrm>
            <a:off x="323528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B0507"/>
              </a:buClr>
              <a:buSzPts val="2500"/>
              <a:buFont typeface="Arial"/>
              <a:buNone/>
            </a:pPr>
            <a:r>
              <a:rPr lang="ko-KR"/>
              <a:t>기록된 여가를 찾아서 - 고대 그리스를 아시나요?</a:t>
            </a:r>
            <a:endParaRPr/>
          </a:p>
        </p:txBody>
      </p:sp>
      <p:pic>
        <p:nvPicPr>
          <p:cNvPr id="64" name="Google Shape;64;p5" descr="고대 그리스시대 유럽지도에 대한 이미지 검색결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520" y="690339"/>
            <a:ext cx="5219700" cy="42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>
            <a:spLocks noGrp="1"/>
          </p:cNvSpPr>
          <p:nvPr>
            <p:ph type="ctrTitle"/>
          </p:nvPr>
        </p:nvSpPr>
        <p:spPr>
          <a:xfrm>
            <a:off x="323528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B0507"/>
              </a:buClr>
              <a:buSzPts val="2500"/>
              <a:buFont typeface="Arial"/>
              <a:buNone/>
            </a:pPr>
            <a:r>
              <a:rPr lang="ko-KR"/>
              <a:t> 고대 그리스를 아시나요?</a:t>
            </a:r>
            <a:endParaRPr/>
          </a:p>
        </p:txBody>
      </p:sp>
      <p:pic>
        <p:nvPicPr>
          <p:cNvPr id="70" name="Google Shape;70;p6" descr="고대 그리스 지도에 대한 이미지 검색결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520" y="699542"/>
            <a:ext cx="5664000" cy="42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7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107504" y="699542"/>
            <a:ext cx="57199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2) 고대 그리스 여가</a:t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251519" y="1275607"/>
            <a:ext cx="5689353" cy="230425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63500" dir="30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395537" y="1870541"/>
            <a:ext cx="5431879" cy="1465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고대사회의 여가는 의례행사 참석이었다</a:t>
            </a:r>
            <a:endParaRPr sz="1800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고된 노동으로부터의 휴식과 사회제사적 활동에 참여하는 것이 고대 여가 활동의 특징이었다</a:t>
            </a:r>
            <a:endParaRPr sz="1800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그리스의 대표적인 여가활동은 체전이었다</a:t>
            </a: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435300" y="1428217"/>
            <a:ext cx="2840556" cy="396000"/>
          </a:xfrm>
          <a:prstGeom prst="rect">
            <a:avLst/>
          </a:prstGeom>
          <a:solidFill>
            <a:srgbClr val="3F3151"/>
          </a:solidFill>
          <a:ln>
            <a:noFill/>
          </a:ln>
        </p:spPr>
        <p:txBody>
          <a:bodyPr spcFirstLastPara="1" wrap="square" lIns="175100" tIns="87550" rIns="175100" bIns="8755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의례 행사로서의 여가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8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107504" y="699542"/>
            <a:ext cx="57199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2) 고대 그리스 여가</a:t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251519" y="1275606"/>
            <a:ext cx="5689353" cy="350093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63500" dir="30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395537" y="1870541"/>
            <a:ext cx="5431879" cy="273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기원전 800여년전부터 올림피아에서 4년마다 열림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고대 올림픽 경기는 남자들만이 참가</a:t>
            </a:r>
            <a:b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(여자는 참가뿐만 아니라 관전조차 금지되었다.)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모든 선수들이 벌거벗은 채로 경기를 벌였다고 한다. 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경기 종목도 처음에는 단거리 달리기만 실시하다가 차츰 중거리·장거리를 포함시키고, 복싱·레슬링·원반던지기·창던지기·전차 경주 등이 더해졌다.</a:t>
            </a:r>
            <a:endParaRPr sz="1800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"/>
          <p:cNvSpPr txBox="1"/>
          <p:nvPr/>
        </p:nvSpPr>
        <p:spPr>
          <a:xfrm>
            <a:off x="435301" y="1428217"/>
            <a:ext cx="1183434" cy="396000"/>
          </a:xfrm>
          <a:prstGeom prst="rect">
            <a:avLst/>
          </a:prstGeom>
          <a:solidFill>
            <a:srgbClr val="3F3151"/>
          </a:solidFill>
          <a:ln>
            <a:noFill/>
          </a:ln>
        </p:spPr>
        <p:txBody>
          <a:bodyPr spcFirstLastPara="1" wrap="square" lIns="175100" tIns="87550" rIns="175100" bIns="8755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올림픽</a:t>
            </a:r>
            <a:endParaRPr/>
          </a:p>
        </p:txBody>
      </p:sp>
      <p:pic>
        <p:nvPicPr>
          <p:cNvPr id="91" name="Google Shape;91;p8" descr="고대 그리스 올림픽에 대한 이미지 검색결과"/>
          <p:cNvPicPr preferRelativeResize="0"/>
          <p:nvPr/>
        </p:nvPicPr>
        <p:blipFill rotWithShape="1">
          <a:blip r:embed="rId3">
            <a:alphaModFix/>
          </a:blip>
          <a:srcRect r="7739" b="15862"/>
          <a:stretch/>
        </p:blipFill>
        <p:spPr>
          <a:xfrm>
            <a:off x="6084168" y="1275606"/>
            <a:ext cx="2942108" cy="27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9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107504" y="699542"/>
            <a:ext cx="57199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2) 고대 그리스 여가</a:t>
            </a:r>
            <a:endParaRPr/>
          </a:p>
        </p:txBody>
      </p:sp>
      <p:sp>
        <p:nvSpPr>
          <p:cNvPr id="99" name="Google Shape;99;p9"/>
          <p:cNvSpPr/>
          <p:nvPr/>
        </p:nvSpPr>
        <p:spPr>
          <a:xfrm>
            <a:off x="251519" y="1275606"/>
            <a:ext cx="5689353" cy="350093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63500" dir="30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395537" y="1870541"/>
            <a:ext cx="5431879" cy="273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올림피아 : 4년마다 7,8월에 제우스를 기념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피티아 : 델포이 신전에서 아폴로 신을 기념하여 </a:t>
            </a:r>
            <a:b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               4년마다 여름에 열림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이스트미아 : 포세이돈 신전에서 2년마다  봄 또는 이른 </a:t>
            </a:r>
            <a:b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                      여름에 열림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네미아 : 펠로폰네소스 북동쪽지방에서 제우스를 </a:t>
            </a:r>
            <a:b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               기념하여 2년마다 9월에 열림</a:t>
            </a:r>
            <a:b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               (대부분 아르고스에서 열림)</a:t>
            </a:r>
            <a:endParaRPr/>
          </a:p>
        </p:txBody>
      </p:sp>
      <p:sp>
        <p:nvSpPr>
          <p:cNvPr id="101" name="Google Shape;101;p9"/>
          <p:cNvSpPr txBox="1"/>
          <p:nvPr/>
        </p:nvSpPr>
        <p:spPr>
          <a:xfrm>
            <a:off x="435301" y="1428217"/>
            <a:ext cx="2660894" cy="396000"/>
          </a:xfrm>
          <a:prstGeom prst="rect">
            <a:avLst/>
          </a:prstGeom>
          <a:solidFill>
            <a:srgbClr val="3F3151"/>
          </a:solidFill>
          <a:ln>
            <a:noFill/>
          </a:ln>
        </p:spPr>
        <p:txBody>
          <a:bodyPr spcFirstLastPara="1" wrap="square" lIns="175100" tIns="87550" rIns="175100" bIns="8755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4대 범그리스 제전경기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107504" y="699542"/>
            <a:ext cx="57199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2) 고대 그리스 여가</a:t>
            </a:r>
            <a:endParaRPr/>
          </a:p>
        </p:txBody>
      </p:sp>
      <p:sp>
        <p:nvSpPr>
          <p:cNvPr id="109" name="Google Shape;109;p10"/>
          <p:cNvSpPr/>
          <p:nvPr/>
        </p:nvSpPr>
        <p:spPr>
          <a:xfrm>
            <a:off x="251519" y="1275605"/>
            <a:ext cx="5689353" cy="335569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63500" dir="30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395537" y="1870541"/>
            <a:ext cx="5431879" cy="260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고대 아테네의 국가 축일</a:t>
            </a:r>
            <a:endParaRPr sz="1800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포세이돈과 아테나의 전쟁</a:t>
            </a:r>
            <a:endParaRPr sz="1800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포세이돈-바닷물이 솟아나는 샘을 만들어서 도시를 부유하게 해 주겠다고 약속함</a:t>
            </a:r>
            <a:endParaRPr sz="1800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아테나는 올리브 나무만 심어줌</a:t>
            </a:r>
            <a:endParaRPr sz="1800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그리스인들은 그들의 신으로 아테나를 선택함</a:t>
            </a:r>
            <a:endParaRPr sz="1800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고대 아테네가 세워지게 됨</a:t>
            </a:r>
            <a:endParaRPr/>
          </a:p>
        </p:txBody>
      </p:sp>
      <p:sp>
        <p:nvSpPr>
          <p:cNvPr id="111" name="Google Shape;111;p10"/>
          <p:cNvSpPr txBox="1"/>
          <p:nvPr/>
        </p:nvSpPr>
        <p:spPr>
          <a:xfrm>
            <a:off x="435301" y="1428217"/>
            <a:ext cx="2408507" cy="396000"/>
          </a:xfrm>
          <a:prstGeom prst="rect">
            <a:avLst/>
          </a:prstGeom>
          <a:solidFill>
            <a:srgbClr val="3F3151"/>
          </a:solidFill>
          <a:ln>
            <a:noFill/>
          </a:ln>
        </p:spPr>
        <p:txBody>
          <a:bodyPr spcFirstLastPara="1" wrap="square" lIns="175100" tIns="87550" rIns="175100" bIns="8755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판아테나이아 축제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1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107504" y="699542"/>
            <a:ext cx="57199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2) 고대 그리스 여가</a:t>
            </a: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251519" y="1275605"/>
            <a:ext cx="5689353" cy="335569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63500" dir="30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395537" y="1870541"/>
            <a:ext cx="5431879" cy="276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4년마다 행해지는 대 판아테나이아 축제</a:t>
            </a:r>
            <a:endParaRPr sz="1800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매년 7월경에 해당하는 헤카톰이온에 아테네에서 아테나여신의 탄생을 기리기 위해 거행되는 소 판아테나이아 축제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아테네의 국가 축일이기도 하여 여성, 그리스인이 아닌 외국인, 심지어 노예까지도 참가 할 수 있었음</a:t>
            </a:r>
            <a:endParaRPr sz="1800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운동경기 이외에도 음악 경연이나 호메로스 서사시 암송 대회등이 개최됨</a:t>
            </a:r>
            <a:endParaRPr/>
          </a:p>
        </p:txBody>
      </p:sp>
      <p:sp>
        <p:nvSpPr>
          <p:cNvPr id="121" name="Google Shape;121;p11"/>
          <p:cNvSpPr txBox="1"/>
          <p:nvPr/>
        </p:nvSpPr>
        <p:spPr>
          <a:xfrm>
            <a:off x="435301" y="1428217"/>
            <a:ext cx="2408507" cy="396000"/>
          </a:xfrm>
          <a:prstGeom prst="rect">
            <a:avLst/>
          </a:prstGeom>
          <a:solidFill>
            <a:srgbClr val="3F3151"/>
          </a:solidFill>
          <a:ln>
            <a:noFill/>
          </a:ln>
        </p:spPr>
        <p:txBody>
          <a:bodyPr spcFirstLastPara="1" wrap="square" lIns="175100" tIns="87550" rIns="175100" bIns="8755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판아테나이아 축제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2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128" name="Google Shape;128;p12"/>
          <p:cNvSpPr/>
          <p:nvPr/>
        </p:nvSpPr>
        <p:spPr>
          <a:xfrm>
            <a:off x="107504" y="699542"/>
            <a:ext cx="57199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2) 고대 그리스 여가</a:t>
            </a:r>
            <a:endParaRPr/>
          </a:p>
        </p:txBody>
      </p:sp>
      <p:sp>
        <p:nvSpPr>
          <p:cNvPr id="129" name="Google Shape;129;p12"/>
          <p:cNvSpPr/>
          <p:nvPr/>
        </p:nvSpPr>
        <p:spPr>
          <a:xfrm>
            <a:off x="251519" y="1275606"/>
            <a:ext cx="5689353" cy="358652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63500" dir="30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395537" y="1870541"/>
            <a:ext cx="5431879" cy="299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디오니소스 = 로마신화의 바커스</a:t>
            </a:r>
            <a:endParaRPr sz="1800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고대 그리스 여인들이 섬기는 신</a:t>
            </a:r>
            <a:endParaRPr sz="1800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고대 그리스 여인들의 힘든 삶 속의 여가 기회 제공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1년에 4번 열림</a:t>
            </a:r>
            <a:endParaRPr sz="1800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연극 공연이 주요 내용</a:t>
            </a:r>
            <a:endParaRPr sz="1800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인간의 오만함으로 신성에 맞서고 그 결과 인간의 파멸의 길을 걷게 된다는 비극적 내용의 연극이 주제</a:t>
            </a:r>
            <a:endParaRPr sz="1800">
              <a:solidFill>
                <a:srgbClr val="401B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rgbClr val="401B5B"/>
                </a:solidFill>
                <a:latin typeface="Arial"/>
                <a:ea typeface="Arial"/>
                <a:cs typeface="Arial"/>
                <a:sym typeface="Arial"/>
              </a:rPr>
              <a:t>디오니소스 축제기간만 제한적으로 공연</a:t>
            </a:r>
            <a:endParaRPr/>
          </a:p>
        </p:txBody>
      </p:sp>
      <p:sp>
        <p:nvSpPr>
          <p:cNvPr id="131" name="Google Shape;131;p12"/>
          <p:cNvSpPr txBox="1"/>
          <p:nvPr/>
        </p:nvSpPr>
        <p:spPr>
          <a:xfrm>
            <a:off x="435301" y="1428217"/>
            <a:ext cx="2120475" cy="396000"/>
          </a:xfrm>
          <a:prstGeom prst="rect">
            <a:avLst/>
          </a:prstGeom>
          <a:solidFill>
            <a:srgbClr val="3F3151"/>
          </a:solidFill>
          <a:ln>
            <a:noFill/>
          </a:ln>
        </p:spPr>
        <p:txBody>
          <a:bodyPr spcFirstLastPara="1" wrap="square" lIns="175100" tIns="87550" rIns="175100" bIns="87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디오니소스 축제</a:t>
            </a:r>
            <a:endParaRPr/>
          </a:p>
        </p:txBody>
      </p:sp>
      <p:pic>
        <p:nvPicPr>
          <p:cNvPr id="132" name="Google Shape;132;p12" descr="관련 이미지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47285" y="1305709"/>
            <a:ext cx="3295304" cy="213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107504" y="699542"/>
            <a:ext cx="57199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2) 고대 그리스 여가</a:t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251519" y="1275606"/>
            <a:ext cx="5689353" cy="370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63500" dir="30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435301" y="1428217"/>
            <a:ext cx="2984571" cy="396000"/>
          </a:xfrm>
          <a:prstGeom prst="rect">
            <a:avLst/>
          </a:prstGeom>
          <a:solidFill>
            <a:srgbClr val="3F3151"/>
          </a:solidFill>
          <a:ln>
            <a:noFill/>
          </a:ln>
        </p:spPr>
        <p:txBody>
          <a:bodyPr spcFirstLastPara="1" wrap="square" lIns="175100" tIns="87550" rIns="175100" bIns="87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고대 그리스의 원형극장</a:t>
            </a:r>
            <a:endParaRPr/>
          </a:p>
        </p:txBody>
      </p:sp>
      <p:pic>
        <p:nvPicPr>
          <p:cNvPr id="142" name="Google Shape;142;p13" descr="고대그리스 원형극장에 대한 이미지 검색결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0470" y="1896225"/>
            <a:ext cx="5251330" cy="29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4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149" name="Google Shape;149;p14"/>
          <p:cNvSpPr/>
          <p:nvPr/>
        </p:nvSpPr>
        <p:spPr>
          <a:xfrm>
            <a:off x="107504" y="699542"/>
            <a:ext cx="57199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2) 고대 그리스 여가</a:t>
            </a: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251519" y="1735107"/>
            <a:ext cx="8581052" cy="227680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395536" y="1793434"/>
            <a:ext cx="8363835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마음, 몸, 정신의 수양  - 문명의 발달        </a:t>
            </a:r>
            <a:endParaRPr/>
          </a:p>
          <a:p>
            <a:pPr marL="185738" marR="0" lvl="0" indent="-185738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아테네인 – 저술, 예술, 운동에 노력</a:t>
            </a:r>
            <a:endParaRPr/>
          </a:p>
          <a:p>
            <a:pPr marL="185738" marR="0" lvl="0" indent="-185738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그리스의 노예제도가 여가에 영향을 줌</a:t>
            </a:r>
            <a:endParaRPr/>
          </a:p>
          <a:p>
            <a:pPr marL="185738" marR="0" lvl="0" indent="-185738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철학자들과 여가의식</a:t>
            </a:r>
            <a:endParaRPr/>
          </a:p>
          <a:p>
            <a:pPr marL="185738" marR="0" lvl="0" indent="-185738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아리스토텔레스의 여가철학 – 일과 여가의 균형을 주장</a:t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250824" y="1344037"/>
            <a:ext cx="5914465" cy="396000"/>
          </a:xfrm>
          <a:prstGeom prst="round1Rect">
            <a:avLst>
              <a:gd name="adj" fmla="val 18254"/>
            </a:avLst>
          </a:prstGeom>
          <a:solidFill>
            <a:srgbClr val="5F497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lang="ko-KR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전인적 수양과 문명의 발달 연계 1-1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250824" y="1344037"/>
            <a:ext cx="5955521" cy="396000"/>
          </a:xfrm>
          <a:prstGeom prst="round1Rect">
            <a:avLst>
              <a:gd name="adj" fmla="val 18254"/>
            </a:avLst>
          </a:prstGeom>
          <a:solidFill>
            <a:srgbClr val="5F497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lang="ko-KR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전인적 수양과 문명의 발달 연계 1-2</a:t>
            </a:r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107504" y="699542"/>
            <a:ext cx="57199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2) 고대 그리스 여가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251519" y="1735107"/>
            <a:ext cx="8640618" cy="292487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395536" y="1812781"/>
            <a:ext cx="8421893" cy="238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여가 레크리에이션은 일과는 분리된 자유로운 시간이며 여가 게급은 올바르고 현명한 정부를 만들기 위해 지지되는 가장 고귀한 인간활동이다 .</a:t>
            </a:r>
            <a:b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</a:t>
            </a:r>
            <a:r>
              <a:rPr lang="ko-KR" sz="1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– 아리스토텔레스 -</a:t>
            </a:r>
            <a:endParaRPr sz="1800"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시민계급부터 귀족계급에 제한되어진 여가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지배하는 사회로 노동을 기피하고 여가를 중시함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그러나 여가의 향락화로 국가 멸망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6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107504" y="699542"/>
            <a:ext cx="57199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3) 고대 로마의 여가 </a:t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251519" y="1735107"/>
            <a:ext cx="8484260" cy="227680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395536" y="1813629"/>
            <a:ext cx="8269493" cy="154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초기 로마의 교육과 여가적 환경은 로마발달의 기초가 됨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정치적 목적을 실현하는 수단으로 여가 활용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시민의 불만을 해소시켜 주는 정치적 수단으로 여러가지 유흥시설 제공함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공공여가가 발달</a:t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250823" y="1344037"/>
            <a:ext cx="6443963" cy="396000"/>
          </a:xfrm>
          <a:prstGeom prst="round1Rect">
            <a:avLst>
              <a:gd name="adj" fmla="val 18254"/>
            </a:avLst>
          </a:prstGeom>
          <a:solidFill>
            <a:srgbClr val="7692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lang="ko-KR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국가의 원동력에서 패망의 원인으로 1-1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251519" y="1275606"/>
            <a:ext cx="7631882" cy="370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63500" dir="30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p17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107504" y="699542"/>
            <a:ext cx="57199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3) 고대 로마의 여가 </a:t>
            </a:r>
            <a:endParaRPr/>
          </a:p>
        </p:txBody>
      </p:sp>
      <p:pic>
        <p:nvPicPr>
          <p:cNvPr id="181" name="Google Shape;181;p17" descr="로마의워터파크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969" y="1440870"/>
            <a:ext cx="6453376" cy="32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/>
          <p:nvPr/>
        </p:nvSpPr>
        <p:spPr>
          <a:xfrm>
            <a:off x="240255" y="4618693"/>
            <a:ext cx="7494797" cy="32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&lt;그림3&gt; 고대로마의 워터파크</a:t>
            </a:r>
            <a:endParaRPr sz="1400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520033" y="1291990"/>
            <a:ext cx="7789395" cy="386789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63500" dir="30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9" name="Google Shape;189;p18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107504" y="699542"/>
            <a:ext cx="51845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3) 고대 로마의 여가 </a:t>
            </a:r>
            <a:endParaRPr/>
          </a:p>
        </p:txBody>
      </p:sp>
      <p:pic>
        <p:nvPicPr>
          <p:cNvPr id="191" name="Google Shape;191;p18" descr="로마원형경기장에 대한 이미지 검색결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041" y="1458455"/>
            <a:ext cx="7556619" cy="3492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9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107504" y="699542"/>
            <a:ext cx="57199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3) 고대 로마의 여가 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251519" y="1747464"/>
            <a:ext cx="8648064" cy="305653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395536" y="1825986"/>
            <a:ext cx="8429150" cy="2305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 dirty="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시민중심의 여가  -  </a:t>
            </a:r>
            <a:r>
              <a:rPr lang="ko-KR" sz="1800" b="1" dirty="0" err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목욕탕등</a:t>
            </a:r>
            <a:endParaRPr sz="1800" b="1" dirty="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 dirty="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직접 참여하는 여가분위기 조성중기 이후 향락적 퇴폐적 여가로 변질</a:t>
            </a:r>
            <a:endParaRPr dirty="0"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 dirty="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사치와 나태로 부패 조장</a:t>
            </a:r>
            <a:endParaRPr dirty="0"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 dirty="0" err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격투기등</a:t>
            </a:r>
            <a:r>
              <a:rPr lang="ko-KR" sz="1800" b="1" dirty="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 관람중심의 경기장과 </a:t>
            </a:r>
            <a:r>
              <a:rPr lang="ko-KR" sz="1800" b="1" dirty="0" err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목욕탕등은</a:t>
            </a:r>
            <a:r>
              <a:rPr lang="ko-KR" sz="1800" b="1" dirty="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 육체의 무기력을 만드는 결과를 초래</a:t>
            </a:r>
            <a:endParaRPr dirty="0"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 dirty="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소비적이고 퇴폐적인 놀이문화로 발전</a:t>
            </a:r>
            <a:endParaRPr dirty="0"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 dirty="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여가의 타락이 로마 멸망의 원인 중 하나</a:t>
            </a:r>
            <a:endParaRPr dirty="0"/>
          </a:p>
        </p:txBody>
      </p:sp>
      <p:sp>
        <p:nvSpPr>
          <p:cNvPr id="201" name="Google Shape;201;p19"/>
          <p:cNvSpPr/>
          <p:nvPr/>
        </p:nvSpPr>
        <p:spPr>
          <a:xfrm>
            <a:off x="250823" y="1356394"/>
            <a:ext cx="6568375" cy="396000"/>
          </a:xfrm>
          <a:prstGeom prst="round1Rect">
            <a:avLst>
              <a:gd name="adj" fmla="val 18254"/>
            </a:avLst>
          </a:prstGeom>
          <a:solidFill>
            <a:srgbClr val="7692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lang="ko-KR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국가의 원동력에서 패망의 원인으로 1-2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107504" y="699542"/>
            <a:ext cx="57199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4) 중세시대의 여가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251519" y="1747464"/>
            <a:ext cx="8648064" cy="248047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395536" y="1825986"/>
            <a:ext cx="8429150" cy="228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퇴폐적 로마말기의 반발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기독교문화의 지배시기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근면한 노동과 명상을 중요시 여김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주된 여가활동 - 기도와 명상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성직자들의 여가반대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향락적인 여가 레크리에이션활동 통제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250823" y="1356394"/>
            <a:ext cx="2846895" cy="396000"/>
          </a:xfrm>
          <a:prstGeom prst="round1Rect">
            <a:avLst>
              <a:gd name="adj" fmla="val 18254"/>
            </a:avLst>
          </a:prstGeom>
          <a:solidFill>
            <a:srgbClr val="9537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lang="ko-KR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여가의 암흑기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107504" y="699542"/>
            <a:ext cx="57199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4) 중세시대의 여가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251519" y="1747464"/>
            <a:ext cx="8696538" cy="262448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395537" y="1825986"/>
            <a:ext cx="8145092" cy="2151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 dirty="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지배계층은 축제, 연회, 수렵, 여행, 도박, 가면무도회, </a:t>
            </a:r>
            <a:r>
              <a:rPr lang="ko-KR" sz="1800" b="1" dirty="0" err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매사냥등의</a:t>
            </a:r>
            <a:r>
              <a:rPr lang="ko-KR" sz="1800" b="1" dirty="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 여가를 즐김</a:t>
            </a:r>
            <a:endParaRPr dirty="0"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 dirty="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농민들은 농한기를 이용한 음식, 술, 노래, 춤, </a:t>
            </a:r>
            <a:r>
              <a:rPr lang="ko-KR" sz="1800" b="1" dirty="0" err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복싱등과</a:t>
            </a:r>
            <a:r>
              <a:rPr lang="ko-KR" sz="1800" b="1" dirty="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 같은 일상생활에 있어서 연회와 축하행사를 가지며 교회가 인정하는 공휴일을 이용</a:t>
            </a:r>
            <a:endParaRPr dirty="0"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 dirty="0" err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마틴루터의</a:t>
            </a:r>
            <a:r>
              <a:rPr lang="ko-KR" sz="1800" b="1" dirty="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 종교개혁과 여가</a:t>
            </a:r>
            <a:endParaRPr dirty="0"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 dirty="0" err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현대볼링의</a:t>
            </a:r>
            <a:r>
              <a:rPr lang="ko-KR" sz="1800" b="1" dirty="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 창시자 </a:t>
            </a:r>
            <a:r>
              <a:rPr lang="ko-KR" sz="1800" b="1" dirty="0" err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마틴루터</a:t>
            </a:r>
            <a:endParaRPr sz="1800" b="1" dirty="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21" descr="마틴루터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1437" y="3293566"/>
            <a:ext cx="3304106" cy="184993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/>
          <p:nvPr/>
        </p:nvSpPr>
        <p:spPr>
          <a:xfrm>
            <a:off x="250823" y="1356394"/>
            <a:ext cx="2862853" cy="396000"/>
          </a:xfrm>
          <a:prstGeom prst="round1Rect">
            <a:avLst>
              <a:gd name="adj" fmla="val 18254"/>
            </a:avLst>
          </a:prstGeom>
          <a:solidFill>
            <a:srgbClr val="9537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lang="ko-KR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여가의 암흑기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107504" y="699542"/>
            <a:ext cx="57199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5) 르네상스 시대의 여가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107504" y="1274444"/>
            <a:ext cx="8535753" cy="386905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395536" y="1825986"/>
            <a:ext cx="8247721" cy="116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과학과 예술의 발달기</a:t>
            </a:r>
            <a:endParaRPr sz="1800" b="1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지적인 활동과 창조적 힘이 활발한 시기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엄격한 도덕규칙을 경멸한 시기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395536" y="4499749"/>
            <a:ext cx="8247721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그러나 여가는 귀족의 전유물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633439" y="3012299"/>
            <a:ext cx="3105537" cy="396000"/>
          </a:xfrm>
          <a:prstGeom prst="rect">
            <a:avLst/>
          </a:prstGeom>
          <a:solidFill>
            <a:srgbClr val="B7CCE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남성의 여가활동 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611559" y="3380210"/>
            <a:ext cx="3105537" cy="701690"/>
          </a:xfrm>
          <a:prstGeom prst="rect">
            <a:avLst/>
          </a:prstGeom>
          <a:noFill/>
          <a:ln w="9525" cap="flat" cmpd="sng">
            <a:solidFill>
              <a:srgbClr val="538C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펜싱, 도박, 투우, 체스, 사냥, 복싱, 보트 등</a:t>
            </a:r>
            <a:endParaRPr sz="1800" b="1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268176" y="3046912"/>
            <a:ext cx="537508" cy="861170"/>
          </a:xfrm>
          <a:custGeom>
            <a:avLst/>
            <a:gdLst/>
            <a:ahLst/>
            <a:cxnLst/>
            <a:rect l="l" t="t" r="r" b="b"/>
            <a:pathLst>
              <a:path w="277" h="710" extrusionOk="0">
                <a:moveTo>
                  <a:pt x="141" y="154"/>
                </a:moveTo>
                <a:lnTo>
                  <a:pt x="141" y="154"/>
                </a:lnTo>
                <a:lnTo>
                  <a:pt x="155" y="153"/>
                </a:lnTo>
                <a:lnTo>
                  <a:pt x="168" y="147"/>
                </a:lnTo>
                <a:lnTo>
                  <a:pt x="182" y="141"/>
                </a:lnTo>
                <a:lnTo>
                  <a:pt x="193" y="131"/>
                </a:lnTo>
                <a:lnTo>
                  <a:pt x="202" y="119"/>
                </a:lnTo>
                <a:lnTo>
                  <a:pt x="210" y="107"/>
                </a:lnTo>
                <a:lnTo>
                  <a:pt x="212" y="93"/>
                </a:lnTo>
                <a:lnTo>
                  <a:pt x="215" y="76"/>
                </a:lnTo>
                <a:lnTo>
                  <a:pt x="215" y="76"/>
                </a:lnTo>
                <a:lnTo>
                  <a:pt x="212" y="60"/>
                </a:lnTo>
                <a:lnTo>
                  <a:pt x="210" y="47"/>
                </a:lnTo>
                <a:lnTo>
                  <a:pt x="202" y="34"/>
                </a:lnTo>
                <a:lnTo>
                  <a:pt x="193" y="22"/>
                </a:lnTo>
                <a:lnTo>
                  <a:pt x="182" y="13"/>
                </a:lnTo>
                <a:lnTo>
                  <a:pt x="168" y="6"/>
                </a:lnTo>
                <a:lnTo>
                  <a:pt x="155" y="2"/>
                </a:lnTo>
                <a:lnTo>
                  <a:pt x="141" y="0"/>
                </a:lnTo>
                <a:lnTo>
                  <a:pt x="141" y="0"/>
                </a:lnTo>
                <a:lnTo>
                  <a:pt x="124" y="2"/>
                </a:lnTo>
                <a:lnTo>
                  <a:pt x="111" y="6"/>
                </a:lnTo>
                <a:lnTo>
                  <a:pt x="98" y="13"/>
                </a:lnTo>
                <a:lnTo>
                  <a:pt x="88" y="22"/>
                </a:lnTo>
                <a:lnTo>
                  <a:pt x="79" y="34"/>
                </a:lnTo>
                <a:lnTo>
                  <a:pt x="71" y="47"/>
                </a:lnTo>
                <a:lnTo>
                  <a:pt x="67" y="60"/>
                </a:lnTo>
                <a:lnTo>
                  <a:pt x="66" y="76"/>
                </a:lnTo>
                <a:lnTo>
                  <a:pt x="66" y="76"/>
                </a:lnTo>
                <a:lnTo>
                  <a:pt x="67" y="93"/>
                </a:lnTo>
                <a:lnTo>
                  <a:pt x="71" y="107"/>
                </a:lnTo>
                <a:lnTo>
                  <a:pt x="79" y="119"/>
                </a:lnTo>
                <a:lnTo>
                  <a:pt x="88" y="131"/>
                </a:lnTo>
                <a:lnTo>
                  <a:pt x="98" y="141"/>
                </a:lnTo>
                <a:lnTo>
                  <a:pt x="111" y="147"/>
                </a:lnTo>
                <a:lnTo>
                  <a:pt x="124" y="153"/>
                </a:lnTo>
                <a:lnTo>
                  <a:pt x="141" y="154"/>
                </a:lnTo>
                <a:lnTo>
                  <a:pt x="141" y="154"/>
                </a:lnTo>
                <a:close/>
                <a:moveTo>
                  <a:pt x="277" y="426"/>
                </a:moveTo>
                <a:lnTo>
                  <a:pt x="265" y="336"/>
                </a:lnTo>
                <a:lnTo>
                  <a:pt x="265" y="336"/>
                </a:lnTo>
                <a:lnTo>
                  <a:pt x="264" y="328"/>
                </a:lnTo>
                <a:lnTo>
                  <a:pt x="248" y="216"/>
                </a:lnTo>
                <a:lnTo>
                  <a:pt x="248" y="216"/>
                </a:lnTo>
                <a:lnTo>
                  <a:pt x="246" y="213"/>
                </a:lnTo>
                <a:lnTo>
                  <a:pt x="246" y="206"/>
                </a:lnTo>
                <a:lnTo>
                  <a:pt x="246" y="206"/>
                </a:lnTo>
                <a:lnTo>
                  <a:pt x="243" y="203"/>
                </a:lnTo>
                <a:lnTo>
                  <a:pt x="243" y="203"/>
                </a:lnTo>
                <a:lnTo>
                  <a:pt x="240" y="197"/>
                </a:lnTo>
                <a:lnTo>
                  <a:pt x="236" y="191"/>
                </a:lnTo>
                <a:lnTo>
                  <a:pt x="226" y="182"/>
                </a:lnTo>
                <a:lnTo>
                  <a:pt x="214" y="175"/>
                </a:lnTo>
                <a:lnTo>
                  <a:pt x="201" y="169"/>
                </a:lnTo>
                <a:lnTo>
                  <a:pt x="185" y="165"/>
                </a:lnTo>
                <a:lnTo>
                  <a:pt x="170" y="162"/>
                </a:lnTo>
                <a:lnTo>
                  <a:pt x="155" y="160"/>
                </a:lnTo>
                <a:lnTo>
                  <a:pt x="141" y="160"/>
                </a:lnTo>
                <a:lnTo>
                  <a:pt x="141" y="160"/>
                </a:lnTo>
                <a:lnTo>
                  <a:pt x="124" y="160"/>
                </a:lnTo>
                <a:lnTo>
                  <a:pt x="107" y="162"/>
                </a:lnTo>
                <a:lnTo>
                  <a:pt x="89" y="165"/>
                </a:lnTo>
                <a:lnTo>
                  <a:pt x="71" y="169"/>
                </a:lnTo>
                <a:lnTo>
                  <a:pt x="57" y="175"/>
                </a:lnTo>
                <a:lnTo>
                  <a:pt x="44" y="182"/>
                </a:lnTo>
                <a:lnTo>
                  <a:pt x="39" y="188"/>
                </a:lnTo>
                <a:lnTo>
                  <a:pt x="35" y="192"/>
                </a:lnTo>
                <a:lnTo>
                  <a:pt x="32" y="198"/>
                </a:lnTo>
                <a:lnTo>
                  <a:pt x="29" y="206"/>
                </a:lnTo>
                <a:lnTo>
                  <a:pt x="29" y="206"/>
                </a:lnTo>
                <a:lnTo>
                  <a:pt x="29" y="207"/>
                </a:lnTo>
                <a:lnTo>
                  <a:pt x="11" y="331"/>
                </a:lnTo>
                <a:lnTo>
                  <a:pt x="11" y="331"/>
                </a:lnTo>
                <a:lnTo>
                  <a:pt x="10" y="338"/>
                </a:lnTo>
                <a:lnTo>
                  <a:pt x="0" y="428"/>
                </a:lnTo>
                <a:lnTo>
                  <a:pt x="0" y="428"/>
                </a:lnTo>
                <a:lnTo>
                  <a:pt x="0" y="438"/>
                </a:lnTo>
                <a:lnTo>
                  <a:pt x="2" y="447"/>
                </a:lnTo>
                <a:lnTo>
                  <a:pt x="4" y="451"/>
                </a:lnTo>
                <a:lnTo>
                  <a:pt x="8" y="454"/>
                </a:lnTo>
                <a:lnTo>
                  <a:pt x="11" y="455"/>
                </a:lnTo>
                <a:lnTo>
                  <a:pt x="16" y="455"/>
                </a:lnTo>
                <a:lnTo>
                  <a:pt x="16" y="455"/>
                </a:lnTo>
                <a:lnTo>
                  <a:pt x="20" y="455"/>
                </a:lnTo>
                <a:lnTo>
                  <a:pt x="24" y="454"/>
                </a:lnTo>
                <a:lnTo>
                  <a:pt x="29" y="451"/>
                </a:lnTo>
                <a:lnTo>
                  <a:pt x="32" y="447"/>
                </a:lnTo>
                <a:lnTo>
                  <a:pt x="38" y="438"/>
                </a:lnTo>
                <a:lnTo>
                  <a:pt x="41" y="430"/>
                </a:lnTo>
                <a:lnTo>
                  <a:pt x="57" y="360"/>
                </a:lnTo>
                <a:lnTo>
                  <a:pt x="57" y="360"/>
                </a:lnTo>
                <a:lnTo>
                  <a:pt x="60" y="364"/>
                </a:lnTo>
                <a:lnTo>
                  <a:pt x="79" y="677"/>
                </a:lnTo>
                <a:lnTo>
                  <a:pt x="80" y="686"/>
                </a:lnTo>
                <a:lnTo>
                  <a:pt x="80" y="686"/>
                </a:lnTo>
                <a:lnTo>
                  <a:pt x="80" y="686"/>
                </a:lnTo>
                <a:lnTo>
                  <a:pt x="82" y="693"/>
                </a:lnTo>
                <a:lnTo>
                  <a:pt x="85" y="701"/>
                </a:lnTo>
                <a:lnTo>
                  <a:pt x="86" y="704"/>
                </a:lnTo>
                <a:lnTo>
                  <a:pt x="89" y="707"/>
                </a:lnTo>
                <a:lnTo>
                  <a:pt x="94" y="708"/>
                </a:lnTo>
                <a:lnTo>
                  <a:pt x="98" y="710"/>
                </a:lnTo>
                <a:lnTo>
                  <a:pt x="98" y="710"/>
                </a:lnTo>
                <a:lnTo>
                  <a:pt x="104" y="710"/>
                </a:lnTo>
                <a:lnTo>
                  <a:pt x="108" y="710"/>
                </a:lnTo>
                <a:lnTo>
                  <a:pt x="108" y="710"/>
                </a:lnTo>
                <a:lnTo>
                  <a:pt x="116" y="707"/>
                </a:lnTo>
                <a:lnTo>
                  <a:pt x="120" y="702"/>
                </a:lnTo>
                <a:lnTo>
                  <a:pt x="124" y="695"/>
                </a:lnTo>
                <a:lnTo>
                  <a:pt x="126" y="688"/>
                </a:lnTo>
                <a:lnTo>
                  <a:pt x="126" y="688"/>
                </a:lnTo>
                <a:lnTo>
                  <a:pt x="127" y="683"/>
                </a:lnTo>
                <a:lnTo>
                  <a:pt x="127" y="683"/>
                </a:lnTo>
                <a:lnTo>
                  <a:pt x="129" y="667"/>
                </a:lnTo>
                <a:lnTo>
                  <a:pt x="129" y="667"/>
                </a:lnTo>
                <a:lnTo>
                  <a:pt x="130" y="640"/>
                </a:lnTo>
                <a:lnTo>
                  <a:pt x="130" y="640"/>
                </a:lnTo>
                <a:lnTo>
                  <a:pt x="132" y="607"/>
                </a:lnTo>
                <a:lnTo>
                  <a:pt x="132" y="607"/>
                </a:lnTo>
                <a:lnTo>
                  <a:pt x="133" y="569"/>
                </a:lnTo>
                <a:lnTo>
                  <a:pt x="133" y="569"/>
                </a:lnTo>
                <a:lnTo>
                  <a:pt x="135" y="529"/>
                </a:lnTo>
                <a:lnTo>
                  <a:pt x="135" y="529"/>
                </a:lnTo>
                <a:lnTo>
                  <a:pt x="138" y="488"/>
                </a:lnTo>
                <a:lnTo>
                  <a:pt x="138" y="488"/>
                </a:lnTo>
                <a:lnTo>
                  <a:pt x="139" y="451"/>
                </a:lnTo>
                <a:lnTo>
                  <a:pt x="139" y="451"/>
                </a:lnTo>
                <a:lnTo>
                  <a:pt x="141" y="436"/>
                </a:lnTo>
                <a:lnTo>
                  <a:pt x="141" y="436"/>
                </a:lnTo>
                <a:lnTo>
                  <a:pt x="141" y="451"/>
                </a:lnTo>
                <a:lnTo>
                  <a:pt x="141" y="451"/>
                </a:lnTo>
                <a:lnTo>
                  <a:pt x="142" y="488"/>
                </a:lnTo>
                <a:lnTo>
                  <a:pt x="142" y="488"/>
                </a:lnTo>
                <a:lnTo>
                  <a:pt x="145" y="529"/>
                </a:lnTo>
                <a:lnTo>
                  <a:pt x="145" y="529"/>
                </a:lnTo>
                <a:lnTo>
                  <a:pt x="146" y="569"/>
                </a:lnTo>
                <a:lnTo>
                  <a:pt x="146" y="569"/>
                </a:lnTo>
                <a:lnTo>
                  <a:pt x="148" y="607"/>
                </a:lnTo>
                <a:lnTo>
                  <a:pt x="148" y="607"/>
                </a:lnTo>
                <a:lnTo>
                  <a:pt x="149" y="640"/>
                </a:lnTo>
                <a:lnTo>
                  <a:pt x="149" y="640"/>
                </a:lnTo>
                <a:lnTo>
                  <a:pt x="151" y="667"/>
                </a:lnTo>
                <a:lnTo>
                  <a:pt x="151" y="667"/>
                </a:lnTo>
                <a:lnTo>
                  <a:pt x="152" y="682"/>
                </a:lnTo>
                <a:lnTo>
                  <a:pt x="152" y="682"/>
                </a:lnTo>
                <a:lnTo>
                  <a:pt x="154" y="688"/>
                </a:lnTo>
                <a:lnTo>
                  <a:pt x="154" y="688"/>
                </a:lnTo>
                <a:lnTo>
                  <a:pt x="155" y="695"/>
                </a:lnTo>
                <a:lnTo>
                  <a:pt x="160" y="702"/>
                </a:lnTo>
                <a:lnTo>
                  <a:pt x="164" y="707"/>
                </a:lnTo>
                <a:lnTo>
                  <a:pt x="171" y="710"/>
                </a:lnTo>
                <a:lnTo>
                  <a:pt x="171" y="710"/>
                </a:lnTo>
                <a:lnTo>
                  <a:pt x="176" y="710"/>
                </a:lnTo>
                <a:lnTo>
                  <a:pt x="180" y="710"/>
                </a:lnTo>
                <a:lnTo>
                  <a:pt x="180" y="710"/>
                </a:lnTo>
                <a:lnTo>
                  <a:pt x="186" y="708"/>
                </a:lnTo>
                <a:lnTo>
                  <a:pt x="190" y="707"/>
                </a:lnTo>
                <a:lnTo>
                  <a:pt x="193" y="704"/>
                </a:lnTo>
                <a:lnTo>
                  <a:pt x="195" y="701"/>
                </a:lnTo>
                <a:lnTo>
                  <a:pt x="198" y="693"/>
                </a:lnTo>
                <a:lnTo>
                  <a:pt x="199" y="686"/>
                </a:lnTo>
                <a:lnTo>
                  <a:pt x="199" y="686"/>
                </a:lnTo>
                <a:lnTo>
                  <a:pt x="201" y="677"/>
                </a:lnTo>
                <a:lnTo>
                  <a:pt x="220" y="366"/>
                </a:lnTo>
                <a:lnTo>
                  <a:pt x="236" y="429"/>
                </a:lnTo>
                <a:lnTo>
                  <a:pt x="236" y="429"/>
                </a:lnTo>
                <a:lnTo>
                  <a:pt x="239" y="438"/>
                </a:lnTo>
                <a:lnTo>
                  <a:pt x="243" y="447"/>
                </a:lnTo>
                <a:lnTo>
                  <a:pt x="248" y="450"/>
                </a:lnTo>
                <a:lnTo>
                  <a:pt x="251" y="452"/>
                </a:lnTo>
                <a:lnTo>
                  <a:pt x="255" y="454"/>
                </a:lnTo>
                <a:lnTo>
                  <a:pt x="261" y="454"/>
                </a:lnTo>
                <a:lnTo>
                  <a:pt x="261" y="454"/>
                </a:lnTo>
                <a:lnTo>
                  <a:pt x="265" y="454"/>
                </a:lnTo>
                <a:lnTo>
                  <a:pt x="268" y="451"/>
                </a:lnTo>
                <a:lnTo>
                  <a:pt x="271" y="448"/>
                </a:lnTo>
                <a:lnTo>
                  <a:pt x="274" y="445"/>
                </a:lnTo>
                <a:lnTo>
                  <a:pt x="277" y="435"/>
                </a:lnTo>
                <a:lnTo>
                  <a:pt x="277" y="426"/>
                </a:lnTo>
                <a:lnTo>
                  <a:pt x="277" y="426"/>
                </a:lnTo>
                <a:close/>
              </a:path>
            </a:pathLst>
          </a:custGeom>
          <a:solidFill>
            <a:srgbClr val="366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3868057" y="2992895"/>
            <a:ext cx="2651574" cy="397032"/>
          </a:xfrm>
          <a:prstGeom prst="rect">
            <a:avLst/>
          </a:prstGeom>
          <a:solidFill>
            <a:srgbClr val="E5B8B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여성의 여가활동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3946466" y="3400458"/>
            <a:ext cx="2579174" cy="1006389"/>
          </a:xfrm>
          <a:prstGeom prst="rect">
            <a:avLst/>
          </a:prstGeom>
          <a:noFill/>
          <a:ln w="9525" cap="flat" cmpd="sng">
            <a:solidFill>
              <a:srgbClr val="D995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부친이나</a:t>
            </a:r>
            <a:r>
              <a:rPr lang="en-US" altLang="ko-KR" sz="1800" b="1" dirty="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800" b="1" dirty="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남편의 여가활동에 함께 참여 및 음악회 참여</a:t>
            </a:r>
            <a:endParaRPr dirty="0"/>
          </a:p>
        </p:txBody>
      </p:sp>
      <p:grpSp>
        <p:nvGrpSpPr>
          <p:cNvPr id="238" name="Google Shape;238;p22"/>
          <p:cNvGrpSpPr/>
          <p:nvPr/>
        </p:nvGrpSpPr>
        <p:grpSpPr>
          <a:xfrm flipH="1">
            <a:off x="6325506" y="3075862"/>
            <a:ext cx="551044" cy="882857"/>
            <a:chOff x="-841848" y="4149080"/>
            <a:chExt cx="661320" cy="1575875"/>
          </a:xfrm>
        </p:grpSpPr>
        <p:sp>
          <p:nvSpPr>
            <p:cNvPr id="239" name="Google Shape;239;p22"/>
            <p:cNvSpPr/>
            <p:nvPr/>
          </p:nvSpPr>
          <p:spPr>
            <a:xfrm flipH="1">
              <a:off x="-841848" y="4149080"/>
              <a:ext cx="661320" cy="1575875"/>
            </a:xfrm>
            <a:custGeom>
              <a:avLst/>
              <a:gdLst/>
              <a:ahLst/>
              <a:cxnLst/>
              <a:rect l="l" t="t" r="r" b="b"/>
              <a:pathLst>
                <a:path w="277" h="710" extrusionOk="0">
                  <a:moveTo>
                    <a:pt x="141" y="154"/>
                  </a:moveTo>
                  <a:lnTo>
                    <a:pt x="141" y="154"/>
                  </a:lnTo>
                  <a:lnTo>
                    <a:pt x="155" y="153"/>
                  </a:lnTo>
                  <a:lnTo>
                    <a:pt x="168" y="147"/>
                  </a:lnTo>
                  <a:lnTo>
                    <a:pt x="182" y="141"/>
                  </a:lnTo>
                  <a:lnTo>
                    <a:pt x="193" y="131"/>
                  </a:lnTo>
                  <a:lnTo>
                    <a:pt x="202" y="119"/>
                  </a:lnTo>
                  <a:lnTo>
                    <a:pt x="210" y="107"/>
                  </a:lnTo>
                  <a:lnTo>
                    <a:pt x="212" y="93"/>
                  </a:lnTo>
                  <a:lnTo>
                    <a:pt x="215" y="76"/>
                  </a:lnTo>
                  <a:lnTo>
                    <a:pt x="215" y="76"/>
                  </a:lnTo>
                  <a:lnTo>
                    <a:pt x="212" y="60"/>
                  </a:lnTo>
                  <a:lnTo>
                    <a:pt x="210" y="47"/>
                  </a:lnTo>
                  <a:lnTo>
                    <a:pt x="202" y="34"/>
                  </a:lnTo>
                  <a:lnTo>
                    <a:pt x="193" y="22"/>
                  </a:lnTo>
                  <a:lnTo>
                    <a:pt x="182" y="13"/>
                  </a:lnTo>
                  <a:lnTo>
                    <a:pt x="168" y="6"/>
                  </a:lnTo>
                  <a:lnTo>
                    <a:pt x="155" y="2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24" y="2"/>
                  </a:lnTo>
                  <a:lnTo>
                    <a:pt x="111" y="6"/>
                  </a:lnTo>
                  <a:lnTo>
                    <a:pt x="98" y="13"/>
                  </a:lnTo>
                  <a:lnTo>
                    <a:pt x="88" y="22"/>
                  </a:lnTo>
                  <a:lnTo>
                    <a:pt x="79" y="34"/>
                  </a:lnTo>
                  <a:lnTo>
                    <a:pt x="71" y="47"/>
                  </a:lnTo>
                  <a:lnTo>
                    <a:pt x="67" y="60"/>
                  </a:lnTo>
                  <a:lnTo>
                    <a:pt x="66" y="76"/>
                  </a:lnTo>
                  <a:lnTo>
                    <a:pt x="66" y="76"/>
                  </a:lnTo>
                  <a:lnTo>
                    <a:pt x="67" y="93"/>
                  </a:lnTo>
                  <a:lnTo>
                    <a:pt x="71" y="107"/>
                  </a:lnTo>
                  <a:lnTo>
                    <a:pt x="79" y="119"/>
                  </a:lnTo>
                  <a:lnTo>
                    <a:pt x="88" y="131"/>
                  </a:lnTo>
                  <a:lnTo>
                    <a:pt x="98" y="141"/>
                  </a:lnTo>
                  <a:lnTo>
                    <a:pt x="111" y="147"/>
                  </a:lnTo>
                  <a:lnTo>
                    <a:pt x="124" y="153"/>
                  </a:lnTo>
                  <a:lnTo>
                    <a:pt x="141" y="154"/>
                  </a:lnTo>
                  <a:lnTo>
                    <a:pt x="141" y="154"/>
                  </a:lnTo>
                  <a:close/>
                  <a:moveTo>
                    <a:pt x="277" y="426"/>
                  </a:moveTo>
                  <a:lnTo>
                    <a:pt x="265" y="336"/>
                  </a:lnTo>
                  <a:lnTo>
                    <a:pt x="265" y="336"/>
                  </a:lnTo>
                  <a:lnTo>
                    <a:pt x="264" y="328"/>
                  </a:lnTo>
                  <a:lnTo>
                    <a:pt x="248" y="216"/>
                  </a:lnTo>
                  <a:lnTo>
                    <a:pt x="248" y="216"/>
                  </a:lnTo>
                  <a:lnTo>
                    <a:pt x="246" y="213"/>
                  </a:lnTo>
                  <a:lnTo>
                    <a:pt x="246" y="206"/>
                  </a:lnTo>
                  <a:lnTo>
                    <a:pt x="246" y="206"/>
                  </a:lnTo>
                  <a:lnTo>
                    <a:pt x="243" y="203"/>
                  </a:lnTo>
                  <a:lnTo>
                    <a:pt x="243" y="203"/>
                  </a:lnTo>
                  <a:lnTo>
                    <a:pt x="240" y="197"/>
                  </a:lnTo>
                  <a:lnTo>
                    <a:pt x="236" y="191"/>
                  </a:lnTo>
                  <a:lnTo>
                    <a:pt x="226" y="182"/>
                  </a:lnTo>
                  <a:lnTo>
                    <a:pt x="214" y="175"/>
                  </a:lnTo>
                  <a:lnTo>
                    <a:pt x="201" y="169"/>
                  </a:lnTo>
                  <a:lnTo>
                    <a:pt x="185" y="165"/>
                  </a:lnTo>
                  <a:lnTo>
                    <a:pt x="170" y="162"/>
                  </a:lnTo>
                  <a:lnTo>
                    <a:pt x="155" y="160"/>
                  </a:lnTo>
                  <a:lnTo>
                    <a:pt x="141" y="160"/>
                  </a:lnTo>
                  <a:lnTo>
                    <a:pt x="141" y="160"/>
                  </a:lnTo>
                  <a:lnTo>
                    <a:pt x="124" y="160"/>
                  </a:lnTo>
                  <a:lnTo>
                    <a:pt x="107" y="162"/>
                  </a:lnTo>
                  <a:lnTo>
                    <a:pt x="89" y="165"/>
                  </a:lnTo>
                  <a:lnTo>
                    <a:pt x="71" y="169"/>
                  </a:lnTo>
                  <a:lnTo>
                    <a:pt x="57" y="175"/>
                  </a:lnTo>
                  <a:lnTo>
                    <a:pt x="44" y="182"/>
                  </a:lnTo>
                  <a:lnTo>
                    <a:pt x="39" y="188"/>
                  </a:lnTo>
                  <a:lnTo>
                    <a:pt x="35" y="192"/>
                  </a:lnTo>
                  <a:lnTo>
                    <a:pt x="32" y="198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29" y="207"/>
                  </a:lnTo>
                  <a:lnTo>
                    <a:pt x="11" y="331"/>
                  </a:lnTo>
                  <a:lnTo>
                    <a:pt x="11" y="331"/>
                  </a:lnTo>
                  <a:lnTo>
                    <a:pt x="10" y="338"/>
                  </a:lnTo>
                  <a:lnTo>
                    <a:pt x="0" y="428"/>
                  </a:lnTo>
                  <a:lnTo>
                    <a:pt x="0" y="428"/>
                  </a:lnTo>
                  <a:lnTo>
                    <a:pt x="0" y="438"/>
                  </a:lnTo>
                  <a:lnTo>
                    <a:pt x="2" y="447"/>
                  </a:lnTo>
                  <a:lnTo>
                    <a:pt x="4" y="451"/>
                  </a:lnTo>
                  <a:lnTo>
                    <a:pt x="8" y="454"/>
                  </a:lnTo>
                  <a:lnTo>
                    <a:pt x="11" y="455"/>
                  </a:lnTo>
                  <a:lnTo>
                    <a:pt x="16" y="455"/>
                  </a:lnTo>
                  <a:lnTo>
                    <a:pt x="16" y="455"/>
                  </a:lnTo>
                  <a:lnTo>
                    <a:pt x="20" y="455"/>
                  </a:lnTo>
                  <a:lnTo>
                    <a:pt x="24" y="454"/>
                  </a:lnTo>
                  <a:lnTo>
                    <a:pt x="29" y="451"/>
                  </a:lnTo>
                  <a:lnTo>
                    <a:pt x="32" y="447"/>
                  </a:lnTo>
                  <a:lnTo>
                    <a:pt x="38" y="438"/>
                  </a:lnTo>
                  <a:lnTo>
                    <a:pt x="41" y="430"/>
                  </a:lnTo>
                  <a:lnTo>
                    <a:pt x="57" y="360"/>
                  </a:lnTo>
                  <a:lnTo>
                    <a:pt x="57" y="360"/>
                  </a:lnTo>
                  <a:lnTo>
                    <a:pt x="60" y="364"/>
                  </a:lnTo>
                  <a:lnTo>
                    <a:pt x="79" y="677"/>
                  </a:lnTo>
                  <a:lnTo>
                    <a:pt x="80" y="686"/>
                  </a:lnTo>
                  <a:lnTo>
                    <a:pt x="80" y="686"/>
                  </a:lnTo>
                  <a:lnTo>
                    <a:pt x="80" y="686"/>
                  </a:lnTo>
                  <a:lnTo>
                    <a:pt x="82" y="693"/>
                  </a:lnTo>
                  <a:lnTo>
                    <a:pt x="85" y="701"/>
                  </a:lnTo>
                  <a:lnTo>
                    <a:pt x="86" y="704"/>
                  </a:lnTo>
                  <a:lnTo>
                    <a:pt x="89" y="707"/>
                  </a:lnTo>
                  <a:lnTo>
                    <a:pt x="94" y="708"/>
                  </a:lnTo>
                  <a:lnTo>
                    <a:pt x="98" y="710"/>
                  </a:lnTo>
                  <a:lnTo>
                    <a:pt x="98" y="710"/>
                  </a:lnTo>
                  <a:lnTo>
                    <a:pt x="104" y="710"/>
                  </a:lnTo>
                  <a:lnTo>
                    <a:pt x="108" y="710"/>
                  </a:lnTo>
                  <a:lnTo>
                    <a:pt x="108" y="710"/>
                  </a:lnTo>
                  <a:lnTo>
                    <a:pt x="116" y="707"/>
                  </a:lnTo>
                  <a:lnTo>
                    <a:pt x="120" y="702"/>
                  </a:lnTo>
                  <a:lnTo>
                    <a:pt x="124" y="695"/>
                  </a:lnTo>
                  <a:lnTo>
                    <a:pt x="126" y="688"/>
                  </a:lnTo>
                  <a:lnTo>
                    <a:pt x="126" y="688"/>
                  </a:lnTo>
                  <a:lnTo>
                    <a:pt x="127" y="683"/>
                  </a:lnTo>
                  <a:lnTo>
                    <a:pt x="127" y="683"/>
                  </a:lnTo>
                  <a:lnTo>
                    <a:pt x="129" y="667"/>
                  </a:lnTo>
                  <a:lnTo>
                    <a:pt x="129" y="667"/>
                  </a:lnTo>
                  <a:lnTo>
                    <a:pt x="130" y="640"/>
                  </a:lnTo>
                  <a:lnTo>
                    <a:pt x="130" y="640"/>
                  </a:lnTo>
                  <a:lnTo>
                    <a:pt x="132" y="607"/>
                  </a:lnTo>
                  <a:lnTo>
                    <a:pt x="132" y="607"/>
                  </a:lnTo>
                  <a:lnTo>
                    <a:pt x="133" y="569"/>
                  </a:lnTo>
                  <a:lnTo>
                    <a:pt x="133" y="569"/>
                  </a:lnTo>
                  <a:lnTo>
                    <a:pt x="135" y="529"/>
                  </a:lnTo>
                  <a:lnTo>
                    <a:pt x="135" y="529"/>
                  </a:lnTo>
                  <a:lnTo>
                    <a:pt x="138" y="488"/>
                  </a:lnTo>
                  <a:lnTo>
                    <a:pt x="138" y="488"/>
                  </a:lnTo>
                  <a:lnTo>
                    <a:pt x="139" y="451"/>
                  </a:lnTo>
                  <a:lnTo>
                    <a:pt x="139" y="451"/>
                  </a:lnTo>
                  <a:lnTo>
                    <a:pt x="141" y="436"/>
                  </a:lnTo>
                  <a:lnTo>
                    <a:pt x="141" y="436"/>
                  </a:lnTo>
                  <a:lnTo>
                    <a:pt x="141" y="451"/>
                  </a:lnTo>
                  <a:lnTo>
                    <a:pt x="141" y="451"/>
                  </a:lnTo>
                  <a:lnTo>
                    <a:pt x="142" y="488"/>
                  </a:lnTo>
                  <a:lnTo>
                    <a:pt x="142" y="488"/>
                  </a:lnTo>
                  <a:lnTo>
                    <a:pt x="145" y="529"/>
                  </a:lnTo>
                  <a:lnTo>
                    <a:pt x="145" y="529"/>
                  </a:lnTo>
                  <a:lnTo>
                    <a:pt x="146" y="569"/>
                  </a:lnTo>
                  <a:lnTo>
                    <a:pt x="146" y="569"/>
                  </a:lnTo>
                  <a:lnTo>
                    <a:pt x="148" y="607"/>
                  </a:lnTo>
                  <a:lnTo>
                    <a:pt x="148" y="607"/>
                  </a:lnTo>
                  <a:lnTo>
                    <a:pt x="149" y="640"/>
                  </a:lnTo>
                  <a:lnTo>
                    <a:pt x="149" y="640"/>
                  </a:lnTo>
                  <a:lnTo>
                    <a:pt x="151" y="667"/>
                  </a:lnTo>
                  <a:lnTo>
                    <a:pt x="151" y="667"/>
                  </a:lnTo>
                  <a:lnTo>
                    <a:pt x="152" y="682"/>
                  </a:lnTo>
                  <a:lnTo>
                    <a:pt x="152" y="682"/>
                  </a:lnTo>
                  <a:lnTo>
                    <a:pt x="154" y="688"/>
                  </a:lnTo>
                  <a:lnTo>
                    <a:pt x="154" y="688"/>
                  </a:lnTo>
                  <a:lnTo>
                    <a:pt x="155" y="695"/>
                  </a:lnTo>
                  <a:lnTo>
                    <a:pt x="160" y="702"/>
                  </a:lnTo>
                  <a:lnTo>
                    <a:pt x="164" y="707"/>
                  </a:lnTo>
                  <a:lnTo>
                    <a:pt x="171" y="710"/>
                  </a:lnTo>
                  <a:lnTo>
                    <a:pt x="171" y="710"/>
                  </a:lnTo>
                  <a:lnTo>
                    <a:pt x="176" y="710"/>
                  </a:lnTo>
                  <a:lnTo>
                    <a:pt x="180" y="710"/>
                  </a:lnTo>
                  <a:lnTo>
                    <a:pt x="180" y="710"/>
                  </a:lnTo>
                  <a:lnTo>
                    <a:pt x="186" y="708"/>
                  </a:lnTo>
                  <a:lnTo>
                    <a:pt x="190" y="707"/>
                  </a:lnTo>
                  <a:lnTo>
                    <a:pt x="193" y="704"/>
                  </a:lnTo>
                  <a:lnTo>
                    <a:pt x="195" y="701"/>
                  </a:lnTo>
                  <a:lnTo>
                    <a:pt x="198" y="693"/>
                  </a:lnTo>
                  <a:lnTo>
                    <a:pt x="199" y="686"/>
                  </a:lnTo>
                  <a:lnTo>
                    <a:pt x="199" y="686"/>
                  </a:lnTo>
                  <a:lnTo>
                    <a:pt x="201" y="677"/>
                  </a:lnTo>
                  <a:lnTo>
                    <a:pt x="220" y="366"/>
                  </a:lnTo>
                  <a:lnTo>
                    <a:pt x="236" y="429"/>
                  </a:lnTo>
                  <a:lnTo>
                    <a:pt x="236" y="429"/>
                  </a:lnTo>
                  <a:lnTo>
                    <a:pt x="239" y="438"/>
                  </a:lnTo>
                  <a:lnTo>
                    <a:pt x="243" y="447"/>
                  </a:lnTo>
                  <a:lnTo>
                    <a:pt x="248" y="450"/>
                  </a:lnTo>
                  <a:lnTo>
                    <a:pt x="251" y="452"/>
                  </a:lnTo>
                  <a:lnTo>
                    <a:pt x="255" y="454"/>
                  </a:lnTo>
                  <a:lnTo>
                    <a:pt x="261" y="454"/>
                  </a:lnTo>
                  <a:lnTo>
                    <a:pt x="261" y="454"/>
                  </a:lnTo>
                  <a:lnTo>
                    <a:pt x="265" y="454"/>
                  </a:lnTo>
                  <a:lnTo>
                    <a:pt x="268" y="451"/>
                  </a:lnTo>
                  <a:lnTo>
                    <a:pt x="271" y="448"/>
                  </a:lnTo>
                  <a:lnTo>
                    <a:pt x="274" y="445"/>
                  </a:lnTo>
                  <a:lnTo>
                    <a:pt x="277" y="435"/>
                  </a:lnTo>
                  <a:lnTo>
                    <a:pt x="277" y="426"/>
                  </a:lnTo>
                  <a:lnTo>
                    <a:pt x="277" y="426"/>
                  </a:lnTo>
                  <a:close/>
                </a:path>
              </a:pathLst>
            </a:custGeom>
            <a:solidFill>
              <a:srgbClr val="95373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0" name="Google Shape;240;p22"/>
            <p:cNvSpPr/>
            <p:nvPr/>
          </p:nvSpPr>
          <p:spPr>
            <a:xfrm>
              <a:off x="-790421" y="4942716"/>
              <a:ext cx="558466" cy="398904"/>
            </a:xfrm>
            <a:prstGeom prst="trapezoid">
              <a:avLst>
                <a:gd name="adj" fmla="val 25000"/>
              </a:avLst>
            </a:prstGeom>
            <a:solidFill>
              <a:srgbClr val="95373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41" name="Google Shape;241;p22"/>
          <p:cNvSpPr/>
          <p:nvPr/>
        </p:nvSpPr>
        <p:spPr>
          <a:xfrm>
            <a:off x="250824" y="1356394"/>
            <a:ext cx="3695642" cy="396000"/>
          </a:xfrm>
          <a:prstGeom prst="round1Rect">
            <a:avLst>
              <a:gd name="adj" fmla="val 18254"/>
            </a:avLst>
          </a:prstGeom>
          <a:solidFill>
            <a:srgbClr val="366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lang="ko-KR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문화와 여가의 황금기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107504" y="699542"/>
            <a:ext cx="57199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6) 산업화 시대의 여가</a:t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251519" y="1747464"/>
            <a:ext cx="7717361" cy="219243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395536" y="1825986"/>
            <a:ext cx="7522007" cy="192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산업화로인한 도시의 인구집중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일 지향적인 문화 – 주당 평균 72시간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사회계층간의 여가 격차 발생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여가는 부유층과 귀족층의 전유물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정부의 삶의 질에 대한 개입 시작</a:t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50824" y="1356394"/>
            <a:ext cx="6740570" cy="396000"/>
          </a:xfrm>
          <a:prstGeom prst="round1Rect">
            <a:avLst>
              <a:gd name="adj" fmla="val 18254"/>
            </a:avLst>
          </a:prstGeom>
          <a:solidFill>
            <a:srgbClr val="E36C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lang="ko-KR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인구의 집중과 산업혁명으로 인한 여가문제발생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4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258" name="Google Shape;258;p24"/>
          <p:cNvSpPr/>
          <p:nvPr/>
        </p:nvSpPr>
        <p:spPr>
          <a:xfrm>
            <a:off x="107504" y="699542"/>
            <a:ext cx="57199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6) 산업화 시대의 여가</a:t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235987" y="1275606"/>
            <a:ext cx="8712969" cy="370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63500" dir="30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24"/>
          <p:cNvSpPr txBox="1"/>
          <p:nvPr/>
        </p:nvSpPr>
        <p:spPr>
          <a:xfrm>
            <a:off x="363293" y="1386860"/>
            <a:ext cx="5754478" cy="39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75100" tIns="87550" rIns="175100" bIns="87550" anchor="ctr" anchorCtr="0">
            <a:noAutofit/>
          </a:bodyPr>
          <a:lstStyle/>
          <a:p>
            <a:pPr marL="2857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Noto Sans Symbols"/>
              <a:buChar char="✔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산업혁명으로 인한 여가본질이 변화</a:t>
            </a: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313444" y="2199486"/>
            <a:ext cx="3281153" cy="2884532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실외, 야외게임참여, </a:t>
            </a:r>
            <a:br>
              <a:rPr lang="ko-KR" sz="1800" b="1" dirty="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800" b="1" dirty="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자기의존적 경향,</a:t>
            </a:r>
            <a:endParaRPr dirty="0"/>
          </a:p>
          <a:p>
            <a:pPr marL="0" marR="0" lvl="0" indent="0" algn="ctr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비상업적, 심리지향적,</a:t>
            </a:r>
            <a:endParaRPr dirty="0"/>
          </a:p>
          <a:p>
            <a:pPr marL="0" marR="0" lvl="0" indent="0" algn="ctr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그룹중심적, 신체중심적,</a:t>
            </a:r>
            <a:endParaRPr dirty="0"/>
          </a:p>
          <a:p>
            <a:pPr marL="0" marR="0" lvl="0" indent="0" algn="ctr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좁은 선택의 폭, 자발적,</a:t>
            </a:r>
            <a:endParaRPr dirty="0"/>
          </a:p>
          <a:p>
            <a:pPr marL="0" marR="0" lvl="0" indent="0" algn="ctr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일반화된 활동,</a:t>
            </a:r>
            <a:endParaRPr dirty="0"/>
          </a:p>
          <a:p>
            <a:pPr marL="0" marR="0" lvl="0" indent="0" algn="ctr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 err="1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무계급</a:t>
            </a:r>
            <a:r>
              <a:rPr lang="ko-KR" sz="1800" b="1" dirty="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, 지속적</a:t>
            </a:r>
            <a:endParaRPr sz="1800" b="1" dirty="0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4"/>
          <p:cNvSpPr txBox="1"/>
          <p:nvPr/>
        </p:nvSpPr>
        <p:spPr>
          <a:xfrm>
            <a:off x="313444" y="1782860"/>
            <a:ext cx="3281153" cy="369291"/>
          </a:xfrm>
          <a:prstGeom prst="rect">
            <a:avLst/>
          </a:prstGeom>
          <a:solidFill>
            <a:srgbClr val="4F6128"/>
          </a:soli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농촌</a:t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3517140" y="3009921"/>
            <a:ext cx="1368789" cy="1008112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3672054" y="3329311"/>
            <a:ext cx="10419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산업화</a:t>
            </a:r>
            <a:endParaRPr dirty="0"/>
          </a:p>
        </p:txBody>
      </p:sp>
      <p:sp>
        <p:nvSpPr>
          <p:cNvPr id="265" name="Google Shape;265;p24"/>
          <p:cNvSpPr/>
          <p:nvPr/>
        </p:nvSpPr>
        <p:spPr>
          <a:xfrm>
            <a:off x="5167928" y="2174773"/>
            <a:ext cx="3167107" cy="2884532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w="9525" cap="flat" cmpd="sng">
            <a:solidFill>
              <a:srgbClr val="7C5F9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실내, 옥내게임관람, </a:t>
            </a:r>
            <a:br>
              <a:rPr lang="ko-KR" sz="1800" b="1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800" b="1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엔터테이너 경향,</a:t>
            </a:r>
            <a:endParaRPr/>
          </a:p>
          <a:p>
            <a:pPr marL="0" marR="0" lvl="0" indent="0" algn="ctr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상업적, 문화지향적,</a:t>
            </a:r>
            <a:endParaRPr/>
          </a:p>
          <a:p>
            <a:pPr marL="0" marR="0" lvl="0" indent="0" algn="ctr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개인중심적, 정신중심적,</a:t>
            </a:r>
            <a:endParaRPr/>
          </a:p>
          <a:p>
            <a:pPr marL="0" marR="0" lvl="0" indent="0" algn="ctr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넓은 선택의 폭, 조직적,</a:t>
            </a:r>
            <a:endParaRPr/>
          </a:p>
          <a:p>
            <a:pPr marL="0" marR="0" lvl="0" indent="0" algn="ctr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전문화된 활동,</a:t>
            </a:r>
            <a:endParaRPr/>
          </a:p>
          <a:p>
            <a:pPr marL="0" marR="0" lvl="0" indent="0" algn="ctr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유계급, 일시적</a:t>
            </a:r>
            <a:endParaRPr sz="1800" b="1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5177872" y="1782860"/>
            <a:ext cx="3167107" cy="369291"/>
          </a:xfrm>
          <a:prstGeom prst="rect">
            <a:avLst/>
          </a:prstGeom>
          <a:solidFill>
            <a:schemeClr val="accent4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농촌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107504" y="699542"/>
            <a:ext cx="57199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6) 산업화 시대의 여가</a:t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251519" y="1747464"/>
            <a:ext cx="8610835" cy="183239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395536" y="1825986"/>
            <a:ext cx="8392864" cy="154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교육과 평등사상의 확산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유한계급의 문화적 독점이 무너짐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대중문화욕구 충족을 위한 기업의 대량생산이 시작되어짐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여가의 대중화 – 대중매체를 통한 여가문화 형성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250823" y="1356394"/>
            <a:ext cx="6540099" cy="396000"/>
          </a:xfrm>
          <a:prstGeom prst="round1Rect">
            <a:avLst>
              <a:gd name="adj" fmla="val 18254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lang="ko-KR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후기산업사회에서 여가는 변하기 시작함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251519" y="1275606"/>
            <a:ext cx="5689353" cy="350094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63500" dir="30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p26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284" name="Google Shape;284;p26"/>
          <p:cNvSpPr/>
          <p:nvPr/>
        </p:nvSpPr>
        <p:spPr>
          <a:xfrm>
            <a:off x="395536" y="1320162"/>
            <a:ext cx="5400600" cy="1968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87550" rIns="72000" bIns="87550" anchor="t" anchorCtr="0">
            <a:noAutofit/>
          </a:bodyPr>
          <a:lstStyle/>
          <a:p>
            <a:pPr marL="271463" marR="0" lvl="0" indent="-271463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정보화와 서비스의 창조와 분배 강조</a:t>
            </a:r>
            <a:endParaRPr/>
          </a:p>
          <a:p>
            <a:pPr marL="271463" marR="0" lvl="0" indent="-271463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632423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컴퓨터의 출현과 발달</a:t>
            </a:r>
            <a:endParaRPr/>
          </a:p>
          <a:p>
            <a:pPr marL="271463" marR="0" lvl="0" indent="-271463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632423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인터넷의 발달</a:t>
            </a:r>
            <a:endParaRPr/>
          </a:p>
          <a:p>
            <a:pPr marL="271463" marR="0" lvl="0" indent="-271463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632423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스마트 기기의 발달</a:t>
            </a:r>
            <a:endParaRPr/>
          </a:p>
          <a:p>
            <a:pPr marL="271463" marR="0" lvl="0" indent="-271463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632423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남성 - 주당 35시간 이상의 여가 확보</a:t>
            </a:r>
            <a:endParaRPr/>
          </a:p>
          <a:p>
            <a:pPr marL="271463" marR="0" lvl="0" indent="-271463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632423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여성 – 주당 28시간 이상의 여가 확보</a:t>
            </a:r>
            <a:endParaRPr/>
          </a:p>
          <a:p>
            <a:pPr marL="271463" marR="0" lvl="0" indent="-271463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632423"/>
              </a:buClr>
              <a:buSzPts val="1800"/>
              <a:buFont typeface="Noto Sans Symbols"/>
              <a:buChar char="▪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그러나 여가에 대한 상대적 박탈감을 가진 시대</a:t>
            </a:r>
            <a:endParaRPr/>
          </a:p>
        </p:txBody>
      </p:sp>
      <p:sp>
        <p:nvSpPr>
          <p:cNvPr id="285" name="Google Shape;285;p26"/>
          <p:cNvSpPr/>
          <p:nvPr/>
        </p:nvSpPr>
        <p:spPr>
          <a:xfrm>
            <a:off x="107504" y="699542"/>
            <a:ext cx="57199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7) 기술 또는 정보화 시대의 여가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7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292" name="Google Shape;292;p27"/>
          <p:cNvSpPr/>
          <p:nvPr/>
        </p:nvSpPr>
        <p:spPr>
          <a:xfrm>
            <a:off x="107504" y="699542"/>
            <a:ext cx="57199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8) 미래의 여가</a:t>
            </a:r>
            <a:endParaRPr/>
          </a:p>
        </p:txBody>
      </p:sp>
      <p:sp>
        <p:nvSpPr>
          <p:cNvPr id="293" name="Google Shape;293;p27"/>
          <p:cNvSpPr/>
          <p:nvPr/>
        </p:nvSpPr>
        <p:spPr>
          <a:xfrm>
            <a:off x="251519" y="1747464"/>
            <a:ext cx="7702470" cy="240846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395536" y="1825986"/>
            <a:ext cx="7507493" cy="2077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1차 산업혁명 – 증기기관 중심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2차 산업혁명 – 전기 및 내연기관 중심</a:t>
            </a:r>
            <a:b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(모터, 전화, 전구, 축음기)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3차 산업혁명 – 디지털혁명 (인터넷 및정보통신기술)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4차 산업혁명 – 초연결성, 초지능성 중심</a:t>
            </a:r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50824" y="1356394"/>
            <a:ext cx="3802946" cy="396000"/>
          </a:xfrm>
          <a:prstGeom prst="round1Rect">
            <a:avLst>
              <a:gd name="adj" fmla="val 18254"/>
            </a:avLst>
          </a:prstGeom>
          <a:solidFill>
            <a:srgbClr val="3185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lang="ko-KR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산업혁명의 역사와 여가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"/>
          <p:cNvSpPr/>
          <p:nvPr/>
        </p:nvSpPr>
        <p:spPr>
          <a:xfrm>
            <a:off x="251519" y="1275606"/>
            <a:ext cx="5689353" cy="3644956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372904" y="1426036"/>
            <a:ext cx="5403029" cy="360000"/>
          </a:xfrm>
          <a:prstGeom prst="round1Rect">
            <a:avLst>
              <a:gd name="adj" fmla="val 0"/>
            </a:avLst>
          </a:prstGeom>
          <a:solidFill>
            <a:srgbClr val="CCC0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66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4차 산업 혁명 의 주요 기술</a:t>
            </a: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8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304" name="Google Shape;304;p28"/>
          <p:cNvSpPr/>
          <p:nvPr/>
        </p:nvSpPr>
        <p:spPr>
          <a:xfrm>
            <a:off x="539552" y="1824218"/>
            <a:ext cx="5474047" cy="2973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5738" marR="0" lvl="0" indent="-18573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인공지능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로봇공학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사물인터넷 (스마트홈, IoT)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3D printing</a:t>
            </a:r>
            <a:endParaRPr/>
          </a:p>
          <a:p>
            <a:pPr marL="185738" marR="0" lvl="0" indent="-185738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나노기술</a:t>
            </a:r>
            <a:endParaRPr sz="1800" b="1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5738" marR="0" lvl="0" indent="-185738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F243E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연결 및 표시기술 (증강현실, 가상현실, 5G LTE, Mobile healthcare, UHD-TV)</a:t>
            </a:r>
            <a:endParaRPr/>
          </a:p>
        </p:txBody>
      </p:sp>
      <p:pic>
        <p:nvPicPr>
          <p:cNvPr id="305" name="Google Shape;305;p28" descr="Z:\180_[KCU]-[2011-2학기 5개 과목]\03.범죄심리학\04_library\00_psd\도식\dt0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316" y="1479830"/>
            <a:ext cx="241670" cy="25241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8"/>
          <p:cNvSpPr/>
          <p:nvPr/>
        </p:nvSpPr>
        <p:spPr>
          <a:xfrm>
            <a:off x="107504" y="699542"/>
            <a:ext cx="57199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8) 미래의 여가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251519" y="1275606"/>
            <a:ext cx="5689353" cy="3644956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3" name="Google Shape;313;p29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314" name="Google Shape;314;p29"/>
          <p:cNvSpPr/>
          <p:nvPr/>
        </p:nvSpPr>
        <p:spPr>
          <a:xfrm>
            <a:off x="1268416" y="2016540"/>
            <a:ext cx="4393927" cy="376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무엇이 달라질까?</a:t>
            </a:r>
            <a:endParaRPr/>
          </a:p>
        </p:txBody>
      </p:sp>
      <p:pic>
        <p:nvPicPr>
          <p:cNvPr id="315" name="Google Shape;315;p29" descr="C:\Users\JU\Desktop\새 폴더\2012-03-19_23%3B19%3B32 cop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671" y="1936445"/>
            <a:ext cx="854521" cy="113936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/>
          <p:nvPr/>
        </p:nvSpPr>
        <p:spPr>
          <a:xfrm>
            <a:off x="107504" y="699542"/>
            <a:ext cx="57199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8) 미래의 여가</a:t>
            </a:r>
            <a:endParaRPr/>
          </a:p>
        </p:txBody>
      </p:sp>
      <p:sp>
        <p:nvSpPr>
          <p:cNvPr id="317" name="Google Shape;317;p29"/>
          <p:cNvSpPr/>
          <p:nvPr/>
        </p:nvSpPr>
        <p:spPr>
          <a:xfrm>
            <a:off x="372904" y="1426036"/>
            <a:ext cx="5403029" cy="360000"/>
          </a:xfrm>
          <a:prstGeom prst="round1Rect">
            <a:avLst>
              <a:gd name="adj" fmla="val 0"/>
            </a:avLst>
          </a:prstGeom>
          <a:solidFill>
            <a:srgbClr val="CCC0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66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4차 산업 혁명 이후의 여가</a:t>
            </a:r>
            <a:endParaRPr/>
          </a:p>
        </p:txBody>
      </p:sp>
      <p:pic>
        <p:nvPicPr>
          <p:cNvPr id="318" name="Google Shape;318;p29" descr="Z:\180_[KCU]-[2011-2학기 5개 과목]\03.범죄심리학\04_library\00_psd\도식\dt0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316" y="1479830"/>
            <a:ext cx="241670" cy="252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0041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0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여가레크리에이션이 역사적 관점</a:t>
            </a:r>
            <a:endParaRPr/>
          </a:p>
        </p:txBody>
      </p:sp>
      <p:sp>
        <p:nvSpPr>
          <p:cNvPr id="325" name="Google Shape;325;p30"/>
          <p:cNvSpPr/>
          <p:nvPr/>
        </p:nvSpPr>
        <p:spPr>
          <a:xfrm>
            <a:off x="107504" y="699542"/>
            <a:ext cx="547260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8054B"/>
                </a:solidFill>
                <a:latin typeface="Arial"/>
                <a:ea typeface="Arial"/>
                <a:cs typeface="Arial"/>
                <a:sym typeface="Arial"/>
              </a:rPr>
              <a:t>8) 미래의 여가</a:t>
            </a:r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251519" y="1275606"/>
            <a:ext cx="8640961" cy="350094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63500" dir="30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143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27" name="Google Shape;327;p30" descr="가상현실 게임에 대한 이미지 검색결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210" y="1524774"/>
            <a:ext cx="2982163" cy="29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0" descr="http://www.econovill.com/news/photo/201804/336592_200376_1651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9872" y="1524774"/>
            <a:ext cx="4482000" cy="29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endParaRPr/>
          </a:p>
        </p:txBody>
      </p:sp>
      <p:pic>
        <p:nvPicPr>
          <p:cNvPr id="334" name="Google Shape;334;p31"/>
          <p:cNvPicPr preferRelativeResize="0"/>
          <p:nvPr/>
        </p:nvPicPr>
        <p:blipFill rotWithShape="1">
          <a:blip r:embed="rId3">
            <a:alphaModFix/>
          </a:blip>
          <a:srcRect l="9462" r="6748"/>
          <a:stretch/>
        </p:blipFill>
        <p:spPr>
          <a:xfrm>
            <a:off x="35496" y="0"/>
            <a:ext cx="907300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/>
          <p:nvPr/>
        </p:nvSpPr>
        <p:spPr>
          <a:xfrm>
            <a:off x="2604" y="957982"/>
            <a:ext cx="9144000" cy="864096"/>
          </a:xfrm>
          <a:prstGeom prst="roundRect">
            <a:avLst>
              <a:gd name="adj" fmla="val 4777"/>
            </a:avLst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2"/>
          <p:cNvSpPr/>
          <p:nvPr/>
        </p:nvSpPr>
        <p:spPr>
          <a:xfrm>
            <a:off x="2447256" y="1097682"/>
            <a:ext cx="547260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여가레크리에이션 동기 이해</a:t>
            </a:r>
            <a:endParaRPr sz="3200" b="1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3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grpSp>
        <p:nvGrpSpPr>
          <p:cNvPr id="347" name="Google Shape;347;p33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348" name="Google Shape;348;p33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349" name="Google Shape;349;p33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350" name="Google Shape;350;p33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351" name="Google Shape;351;p33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 동기 = 여가참여동기</a:t>
              </a:r>
              <a:endParaRPr/>
            </a:p>
          </p:txBody>
        </p:sp>
      </p:grpSp>
      <p:sp>
        <p:nvSpPr>
          <p:cNvPr id="352" name="Google Shape;352;p33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여가레크리에이션 동기</a:t>
            </a:r>
            <a:endParaRPr/>
          </a:p>
        </p:txBody>
      </p:sp>
      <p:pic>
        <p:nvPicPr>
          <p:cNvPr id="353" name="Google Shape;353;p33" descr="Z:\180_[KCU]-[2011-2학기 5개 과목]\03.범죄심리학\04_library\00_psd\도식\num_bo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3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3"/>
          <p:cNvSpPr/>
          <p:nvPr/>
        </p:nvSpPr>
        <p:spPr>
          <a:xfrm>
            <a:off x="232014" y="1624349"/>
            <a:ext cx="8597249" cy="2027521"/>
          </a:xfrm>
          <a:prstGeom prst="roundRect">
            <a:avLst>
              <a:gd name="adj" fmla="val 3362"/>
            </a:avLst>
          </a:prstGeom>
          <a:solidFill>
            <a:srgbClr val="FFFFFF"/>
          </a:solidFill>
          <a:ln w="12700" cap="flat" cmpd="sng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6" name="Google Shape;356;p33"/>
          <p:cNvSpPr/>
          <p:nvPr/>
        </p:nvSpPr>
        <p:spPr>
          <a:xfrm>
            <a:off x="292028" y="1742208"/>
            <a:ext cx="8384428" cy="1111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여가 동기란 한 개인이 여가에 참여하며 목표를 이루기 위해 무엇을 하고, 얼마나 열심히 하며, 얼마나 지속적으로 하느냐의 기제라고  할 수 있다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grpSp>
        <p:nvGrpSpPr>
          <p:cNvPr id="362" name="Google Shape;362;p34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363" name="Google Shape;363;p34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364" name="Google Shape;364;p34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365" name="Google Shape;365;p34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366" name="Google Shape;366;p34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 동기 = 여가참여동기</a:t>
              </a:r>
              <a:endParaRPr/>
            </a:p>
          </p:txBody>
        </p:sp>
      </p:grpSp>
      <p:sp>
        <p:nvSpPr>
          <p:cNvPr id="367" name="Google Shape;367;p34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여가레크리에이션 동기</a:t>
            </a:r>
            <a:endParaRPr/>
          </a:p>
        </p:txBody>
      </p:sp>
      <p:pic>
        <p:nvPicPr>
          <p:cNvPr id="368" name="Google Shape;368;p34" descr="Z:\180_[KCU]-[2011-2학기 5개 과목]\03.범죄심리학\04_library\00_psd\도식\num_bo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4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0" name="Google Shape;370;p34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371" name="Google Shape;371;p34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372" name="Google Shape;372;p34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373" name="Google Shape;373;p34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374" name="Google Shape;374;p34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현대인들의 여가참여 동기 (1/2)</a:t>
              </a:r>
              <a:endParaRPr sz="1800" b="1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5" name="Google Shape;375;p34"/>
          <p:cNvSpPr/>
          <p:nvPr/>
        </p:nvSpPr>
        <p:spPr>
          <a:xfrm>
            <a:off x="232014" y="1624350"/>
            <a:ext cx="5088319" cy="3035632"/>
          </a:xfrm>
          <a:prstGeom prst="roundRect">
            <a:avLst>
              <a:gd name="adj" fmla="val 3362"/>
            </a:avLst>
          </a:prstGeom>
          <a:solidFill>
            <a:srgbClr val="FFFFFF"/>
          </a:solidFill>
          <a:ln w="12700" cap="flat" cmpd="sng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6" name="Google Shape;376;p34"/>
          <p:cNvSpPr/>
          <p:nvPr/>
        </p:nvSpPr>
        <p:spPr>
          <a:xfrm>
            <a:off x="580060" y="1742208"/>
            <a:ext cx="2335756" cy="2751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8450" marR="894714" lvl="0" indent="-285750" algn="l" rtl="0">
              <a:lnSpc>
                <a:spcPct val="1603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건강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894714" lvl="0" indent="-285750" algn="l" rtl="0">
              <a:lnSpc>
                <a:spcPct val="1603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외모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894714" lvl="0" indent="-285750" algn="l" rtl="0">
              <a:lnSpc>
                <a:spcPct val="1603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휴식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894714" lvl="0" indent="-285750" algn="l" rtl="0">
              <a:lnSpc>
                <a:spcPct val="1603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짜릿함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894714" lvl="0" indent="-285750" algn="l" rtl="0">
              <a:lnSpc>
                <a:spcPct val="1603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추구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894714" lvl="0" indent="-285750" algn="l" rtl="0">
              <a:lnSpc>
                <a:spcPct val="1603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사교</a:t>
            </a:r>
            <a:endParaRPr sz="18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4"/>
          <p:cNvSpPr txBox="1"/>
          <p:nvPr/>
        </p:nvSpPr>
        <p:spPr>
          <a:xfrm>
            <a:off x="2915816" y="1851670"/>
            <a:ext cx="2736304" cy="2587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8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호기심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0" lvl="0" indent="-285750" algn="l" rtl="0">
              <a:lnSpc>
                <a:spcPct val="100000"/>
              </a:lnSpc>
              <a:spcBef>
                <a:spcPts val="129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쾌락추구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0" lvl="0" indent="-285750" algn="l" rtl="0">
              <a:lnSpc>
                <a:spcPct val="100000"/>
              </a:lnSpc>
              <a:spcBef>
                <a:spcPts val="129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무료함 달래기  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0" lvl="0" indent="-285750" algn="l" rtl="0">
              <a:lnSpc>
                <a:spcPct val="100000"/>
              </a:lnSpc>
              <a:spcBef>
                <a:spcPts val="129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자기표현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0" lvl="0" indent="-285750" algn="l" rtl="0">
              <a:lnSpc>
                <a:spcPct val="100000"/>
              </a:lnSpc>
              <a:spcBef>
                <a:spcPts val="129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현실탈출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0" lvl="0" indent="-285750" algn="l" rtl="0">
              <a:lnSpc>
                <a:spcPct val="100000"/>
              </a:lnSpc>
              <a:spcBef>
                <a:spcPts val="129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시간 죽이기</a:t>
            </a:r>
            <a:endParaRPr sz="18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grpSp>
        <p:nvGrpSpPr>
          <p:cNvPr id="383" name="Google Shape;383;p35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384" name="Google Shape;384;p35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385" name="Google Shape;385;p35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386" name="Google Shape;386;p35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387" name="Google Shape;387;p35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 동기 = 여가참여동기</a:t>
              </a:r>
              <a:endParaRPr/>
            </a:p>
          </p:txBody>
        </p:sp>
      </p:grpSp>
      <p:sp>
        <p:nvSpPr>
          <p:cNvPr id="388" name="Google Shape;388;p35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여가레크리에이션 동기</a:t>
            </a:r>
            <a:endParaRPr/>
          </a:p>
        </p:txBody>
      </p:sp>
      <p:pic>
        <p:nvPicPr>
          <p:cNvPr id="389" name="Google Shape;389;p35" descr="Z:\180_[KCU]-[2011-2학기 5개 과목]\03.범죄심리학\04_library\00_psd\도식\num_bo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5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" name="Google Shape;391;p35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392" name="Google Shape;392;p35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393" name="Google Shape;393;p35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394" name="Google Shape;394;p35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395" name="Google Shape;395;p35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헌대인들의 여가참여 동기</a:t>
              </a:r>
              <a:endParaRPr/>
            </a:p>
          </p:txBody>
        </p:sp>
      </p:grpSp>
      <p:grpSp>
        <p:nvGrpSpPr>
          <p:cNvPr id="396" name="Google Shape;396;p35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397" name="Google Shape;397;p35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398" name="Google Shape;398;p35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399" name="Google Shape;399;p35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400" name="Google Shape;400;p35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현대인들의 여가참여 동기 (2/2)</a:t>
              </a:r>
              <a:endParaRPr sz="1800" b="1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1" name="Google Shape;401;p35"/>
          <p:cNvSpPr/>
          <p:nvPr/>
        </p:nvSpPr>
        <p:spPr>
          <a:xfrm>
            <a:off x="232014" y="1624350"/>
            <a:ext cx="5088319" cy="3035632"/>
          </a:xfrm>
          <a:prstGeom prst="roundRect">
            <a:avLst>
              <a:gd name="adj" fmla="val 3362"/>
            </a:avLst>
          </a:prstGeom>
          <a:solidFill>
            <a:srgbClr val="FFFFFF"/>
          </a:solidFill>
          <a:ln w="12700" cap="flat" cmpd="sng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2" name="Google Shape;402;p35"/>
          <p:cNvSpPr/>
          <p:nvPr/>
        </p:nvSpPr>
        <p:spPr>
          <a:xfrm>
            <a:off x="580060" y="1742208"/>
            <a:ext cx="2335756" cy="2751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자기계발  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경제적 이득 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자유감 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신분과시  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신분상승</a:t>
            </a:r>
            <a:endParaRPr/>
          </a:p>
          <a:p>
            <a:pPr marL="298450" marR="213359" lvl="0" indent="-285750" algn="l" rtl="0">
              <a:lnSpc>
                <a:spcPct val="159800"/>
              </a:lnSpc>
              <a:spcBef>
                <a:spcPts val="1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불만의 표출</a:t>
            </a:r>
            <a:endParaRPr/>
          </a:p>
        </p:txBody>
      </p:sp>
      <p:sp>
        <p:nvSpPr>
          <p:cNvPr id="403" name="Google Shape;403;p35"/>
          <p:cNvSpPr txBox="1"/>
          <p:nvPr/>
        </p:nvSpPr>
        <p:spPr>
          <a:xfrm>
            <a:off x="2915816" y="1851670"/>
            <a:ext cx="2736304" cy="2407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8450" marR="213359" lvl="0" indent="-285750" algn="l" rtl="0">
              <a:lnSpc>
                <a:spcPct val="1598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반항심</a:t>
            </a:r>
            <a:endParaRPr/>
          </a:p>
          <a:p>
            <a:pPr marL="298450" marR="5080" lvl="0" indent="-285750" algn="l" rtl="0">
              <a:lnSpc>
                <a:spcPct val="192222"/>
              </a:lnSpc>
              <a:spcBef>
                <a:spcPts val="335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경쟁과 승부욕  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5080" lvl="0" indent="-285750" algn="l" rtl="0">
              <a:lnSpc>
                <a:spcPct val="192222"/>
              </a:lnSpc>
              <a:spcBef>
                <a:spcPts val="335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도전</a:t>
            </a:r>
            <a:endParaRPr/>
          </a:p>
          <a:p>
            <a:pPr marL="298450" marR="174625" lvl="0" indent="-285750" algn="l" rtl="0">
              <a:lnSpc>
                <a:spcPct val="192222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정서적 안정  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174625" lvl="0" indent="-285750" algn="l" rtl="0">
              <a:lnSpc>
                <a:spcPct val="192222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봉사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6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grpSp>
        <p:nvGrpSpPr>
          <p:cNvPr id="409" name="Google Shape;409;p36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410" name="Google Shape;410;p36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411" name="Google Shape;411;p36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412" name="Google Shape;412;p36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413" name="Google Shape;413;p36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 동기 = 여가참여동기</a:t>
              </a:r>
              <a:endParaRPr/>
            </a:p>
          </p:txBody>
        </p:sp>
      </p:grpSp>
      <p:sp>
        <p:nvSpPr>
          <p:cNvPr id="414" name="Google Shape;414;p36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여가참여동기</a:t>
            </a:r>
            <a:endParaRPr/>
          </a:p>
        </p:txBody>
      </p:sp>
      <p:pic>
        <p:nvPicPr>
          <p:cNvPr id="415" name="Google Shape;415;p36" descr="Z:\180_[KCU]-[2011-2학기 5개 과목]\03.범죄심리학\04_library\00_psd\도식\num_bo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6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7" name="Google Shape;417;p36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418" name="Google Shape;418;p36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419" name="Google Shape;419;p36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420" name="Google Shape;420;p36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421" name="Google Shape;421;p36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헌대인들의 여가참여 동기</a:t>
              </a:r>
              <a:endParaRPr/>
            </a:p>
          </p:txBody>
        </p:sp>
      </p:grpSp>
      <p:grpSp>
        <p:nvGrpSpPr>
          <p:cNvPr id="422" name="Google Shape;422;p36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423" name="Google Shape;423;p36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424" name="Google Shape;424;p36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425" name="Google Shape;425;p36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426" name="Google Shape;426;p36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여가참여동기의 개념</a:t>
              </a:r>
              <a:endParaRPr/>
            </a:p>
          </p:txBody>
        </p:sp>
      </p:grpSp>
      <p:sp>
        <p:nvSpPr>
          <p:cNvPr id="427" name="Google Shape;427;p36"/>
          <p:cNvSpPr/>
          <p:nvPr/>
        </p:nvSpPr>
        <p:spPr>
          <a:xfrm>
            <a:off x="232014" y="1624350"/>
            <a:ext cx="5088319" cy="3035632"/>
          </a:xfrm>
          <a:prstGeom prst="roundRect">
            <a:avLst>
              <a:gd name="adj" fmla="val 3362"/>
            </a:avLst>
          </a:prstGeom>
          <a:solidFill>
            <a:srgbClr val="FFFFFF"/>
          </a:solidFill>
          <a:ln w="12700" cap="flat" cmpd="sng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8" name="Google Shape;428;p36"/>
          <p:cNvSpPr/>
          <p:nvPr/>
        </p:nvSpPr>
        <p:spPr>
          <a:xfrm>
            <a:off x="580060" y="1742208"/>
            <a:ext cx="4640012" cy="2751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활동 시작전 개인이 심리적으로 가지게 되는 의식적, 무의식적 이유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개인의 독특한 성격, 생활양식, 목적과 요구에 따라 다른 양상을 보임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본인의 자발적인 의지로 하고 자 하는 참여목적을 향한 심리적 행동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grpSp>
        <p:nvGrpSpPr>
          <p:cNvPr id="434" name="Google Shape;434;p37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435" name="Google Shape;435;p37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436" name="Google Shape;436;p37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437" name="Google Shape;437;p37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438" name="Google Shape;438;p37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 동기 = 여가참여동기</a:t>
              </a:r>
              <a:endParaRPr/>
            </a:p>
          </p:txBody>
        </p:sp>
      </p:grpSp>
      <p:sp>
        <p:nvSpPr>
          <p:cNvPr id="439" name="Google Shape;439;p37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여가참여동기</a:t>
            </a:r>
            <a:endParaRPr/>
          </a:p>
        </p:txBody>
      </p:sp>
      <p:pic>
        <p:nvPicPr>
          <p:cNvPr id="440" name="Google Shape;440;p37" descr="Z:\180_[KCU]-[2011-2학기 5개 과목]\03.범죄심리학\04_library\00_psd\도식\num_bo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7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2" name="Google Shape;442;p37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443" name="Google Shape;443;p37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444" name="Google Shape;444;p37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445" name="Google Shape;445;p37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446" name="Google Shape;446;p37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헌대인들의 여가참여 동기</a:t>
              </a:r>
              <a:endParaRPr/>
            </a:p>
          </p:txBody>
        </p:sp>
      </p:grpSp>
      <p:grpSp>
        <p:nvGrpSpPr>
          <p:cNvPr id="447" name="Google Shape;447;p37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448" name="Google Shape;448;p37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449" name="Google Shape;449;p37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450" name="Google Shape;450;p37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451" name="Google Shape;451;p37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내적 동기</a:t>
              </a:r>
              <a:endParaRPr/>
            </a:p>
          </p:txBody>
        </p:sp>
      </p:grpSp>
      <p:sp>
        <p:nvSpPr>
          <p:cNvPr id="452" name="Google Shape;452;p37"/>
          <p:cNvSpPr/>
          <p:nvPr/>
        </p:nvSpPr>
        <p:spPr>
          <a:xfrm>
            <a:off x="232014" y="1624350"/>
            <a:ext cx="8084402" cy="2171536"/>
          </a:xfrm>
          <a:prstGeom prst="roundRect">
            <a:avLst>
              <a:gd name="adj" fmla="val 3362"/>
            </a:avLst>
          </a:prstGeom>
          <a:solidFill>
            <a:srgbClr val="FFFFFF"/>
          </a:solidFill>
          <a:ln w="12700" cap="flat" cmpd="sng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3" name="Google Shape;453;p37"/>
          <p:cNvSpPr/>
          <p:nvPr/>
        </p:nvSpPr>
        <p:spPr>
          <a:xfrm>
            <a:off x="580060" y="1742208"/>
            <a:ext cx="7143310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참여과정 자체에 내재되어 있는 즐거움과 호기심 그리고 도전적이고 어려운 과제를 해결하고자 하는 의지와 열의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학습에 있어서도 가장 중요한 요인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8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grpSp>
        <p:nvGrpSpPr>
          <p:cNvPr id="459" name="Google Shape;459;p38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460" name="Google Shape;460;p38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461" name="Google Shape;461;p38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462" name="Google Shape;462;p38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463" name="Google Shape;463;p38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 동기 = 여가참여동기</a:t>
              </a:r>
              <a:endParaRPr/>
            </a:p>
          </p:txBody>
        </p:sp>
      </p:grpSp>
      <p:sp>
        <p:nvSpPr>
          <p:cNvPr id="464" name="Google Shape;464;p38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여가참여동기</a:t>
            </a:r>
            <a:endParaRPr/>
          </a:p>
        </p:txBody>
      </p:sp>
      <p:pic>
        <p:nvPicPr>
          <p:cNvPr id="465" name="Google Shape;465;p38" descr="Z:\180_[KCU]-[2011-2학기 5개 과목]\03.범죄심리학\04_library\00_psd\도식\num_bo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38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7" name="Google Shape;467;p38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468" name="Google Shape;468;p38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469" name="Google Shape;469;p38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470" name="Google Shape;470;p38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471" name="Google Shape;471;p38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헌대인들의 여가참여 동기</a:t>
              </a:r>
              <a:endParaRPr/>
            </a:p>
          </p:txBody>
        </p:sp>
      </p:grpSp>
      <p:grpSp>
        <p:nvGrpSpPr>
          <p:cNvPr id="472" name="Google Shape;472;p38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473" name="Google Shape;473;p38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474" name="Google Shape;474;p38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475" name="Google Shape;475;p38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476" name="Google Shape;476;p38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내적 동기</a:t>
              </a:r>
              <a:endParaRPr/>
            </a:p>
          </p:txBody>
        </p:sp>
      </p:grpSp>
      <p:pic>
        <p:nvPicPr>
          <p:cNvPr id="477" name="Google Shape;477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1520" y="1707654"/>
            <a:ext cx="7531100" cy="305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9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grpSp>
        <p:nvGrpSpPr>
          <p:cNvPr id="483" name="Google Shape;483;p39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484" name="Google Shape;484;p39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485" name="Google Shape;485;p39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486" name="Google Shape;486;p39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487" name="Google Shape;487;p39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 동기 = 여가참여동기</a:t>
              </a:r>
              <a:endParaRPr/>
            </a:p>
          </p:txBody>
        </p:sp>
      </p:grpSp>
      <p:sp>
        <p:nvSpPr>
          <p:cNvPr id="488" name="Google Shape;488;p39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여가참여동기</a:t>
            </a:r>
            <a:endParaRPr/>
          </a:p>
        </p:txBody>
      </p:sp>
      <p:pic>
        <p:nvPicPr>
          <p:cNvPr id="489" name="Google Shape;489;p39" descr="Z:\180_[KCU]-[2011-2학기 5개 과목]\03.범죄심리학\04_library\00_psd\도식\num_bo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9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1" name="Google Shape;491;p39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492" name="Google Shape;492;p39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493" name="Google Shape;493;p39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494" name="Google Shape;494;p39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495" name="Google Shape;495;p39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헌대인들의 여가참여 동기</a:t>
              </a:r>
              <a:endParaRPr/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497" name="Google Shape;497;p39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498" name="Google Shape;498;p39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499" name="Google Shape;499;p39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500" name="Google Shape;500;p39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외적 동기</a:t>
              </a:r>
              <a:endParaRPr/>
            </a:p>
          </p:txBody>
        </p:sp>
      </p:grpSp>
      <p:pic>
        <p:nvPicPr>
          <p:cNvPr id="501" name="Google Shape;501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9512" y="1779662"/>
            <a:ext cx="748665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0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grpSp>
        <p:nvGrpSpPr>
          <p:cNvPr id="507" name="Google Shape;507;p40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508" name="Google Shape;508;p40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509" name="Google Shape;509;p40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510" name="Google Shape;510;p40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511" name="Google Shape;511;p40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 동기 = 여가참여동기</a:t>
              </a:r>
              <a:endParaRPr/>
            </a:p>
          </p:txBody>
        </p:sp>
      </p:grpSp>
      <p:sp>
        <p:nvSpPr>
          <p:cNvPr id="512" name="Google Shape;512;p40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여가참여동기</a:t>
            </a:r>
            <a:endParaRPr/>
          </a:p>
        </p:txBody>
      </p:sp>
      <p:pic>
        <p:nvPicPr>
          <p:cNvPr id="513" name="Google Shape;513;p40" descr="Z:\180_[KCU]-[2011-2학기 5개 과목]\03.범죄심리학\04_library\00_psd\도식\num_bo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40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5" name="Google Shape;515;p40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516" name="Google Shape;516;p40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517" name="Google Shape;517;p40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518" name="Google Shape;518;p40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519" name="Google Shape;519;p40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헌대인들의 여가참여 동기</a:t>
              </a:r>
              <a:endParaRPr/>
            </a:p>
          </p:txBody>
        </p:sp>
      </p:grpSp>
      <p:grpSp>
        <p:nvGrpSpPr>
          <p:cNvPr id="520" name="Google Shape;520;p40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521" name="Google Shape;521;p40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522" name="Google Shape;522;p40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523" name="Google Shape;523;p40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524" name="Google Shape;524;p40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내적 동기와 외적 동기의 비교</a:t>
              </a:r>
              <a:endParaRPr/>
            </a:p>
          </p:txBody>
        </p:sp>
      </p:grpSp>
      <p:graphicFrame>
        <p:nvGraphicFramePr>
          <p:cNvPr id="525" name="Google Shape;525;p40"/>
          <p:cNvGraphicFramePr/>
          <p:nvPr/>
        </p:nvGraphicFramePr>
        <p:xfrm>
          <a:off x="263058" y="1851670"/>
          <a:ext cx="7765325" cy="2178018"/>
        </p:xfrm>
        <a:graphic>
          <a:graphicData uri="http://schemas.openxmlformats.org/drawingml/2006/table">
            <a:tbl>
              <a:tblPr firstRow="1" bandRow="1">
                <a:gradFill>
                  <a:gsLst>
                    <a:gs pos="0">
                      <a:srgbClr val="DAFEA4"/>
                    </a:gs>
                    <a:gs pos="35000">
                      <a:srgbClr val="E3FEBF"/>
                    </a:gs>
                    <a:gs pos="100000">
                      <a:srgbClr val="F4FEE6"/>
                    </a:gs>
                  </a:gsLst>
                  <a:lin ang="16200000" scaled="0"/>
                </a:gradFill>
                <a:tableStyleId>{B3DB419E-DE93-4A31-8632-F597007B4AF7}</a:tableStyleId>
              </a:tblPr>
              <a:tblGrid>
                <a:gridCol w="402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/>
                        <a:t>내적 동기</a:t>
                      </a:r>
                      <a:endParaRPr sz="1800" b="1" u="none" strike="noStrike" cap="none">
                        <a:solidFill>
                          <a:srgbClr val="17365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/>
                        <a:t>외적 동기</a:t>
                      </a:r>
                      <a:endParaRPr sz="1800" b="1" u="none" strike="noStrike" cap="none">
                        <a:solidFill>
                          <a:srgbClr val="17365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/>
                        <a:t>행동자체에 즐거움이나 의미를 느껴 발생하는 강하고 능동적인 동기</a:t>
                      </a:r>
                      <a:endParaRPr sz="1800" b="1" u="none" strike="noStrike" cap="none">
                        <a:solidFill>
                          <a:srgbClr val="17365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/>
                        <a:t>행동에 따른 보상을 목표로 발생하는 약하고 수동적인 동기</a:t>
                      </a:r>
                      <a:endParaRPr sz="1800" b="1" u="none" strike="noStrike" cap="none">
                        <a:solidFill>
                          <a:srgbClr val="17365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/>
                        <a:t>축구는 너무 재미있어!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/>
                        <a:t>축구가 좋아!!!</a:t>
                      </a:r>
                      <a:endParaRPr sz="1800" b="1" u="none" strike="noStrike" cap="none">
                        <a:solidFill>
                          <a:srgbClr val="17365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/>
                        <a:t>오늘 축구 이기는 팀이 주말 외출간다!!!  이겨야지!</a:t>
                      </a:r>
                      <a:endParaRPr sz="1800" b="1" u="none" strike="noStrike" cap="none">
                        <a:solidFill>
                          <a:srgbClr val="17365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1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grpSp>
        <p:nvGrpSpPr>
          <p:cNvPr id="531" name="Google Shape;531;p41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532" name="Google Shape;532;p41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533" name="Google Shape;533;p41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534" name="Google Shape;534;p41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535" name="Google Shape;535;p41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 동기 = 여가참여동기</a:t>
              </a:r>
              <a:endParaRPr/>
            </a:p>
          </p:txBody>
        </p:sp>
      </p:grpSp>
      <p:sp>
        <p:nvSpPr>
          <p:cNvPr id="536" name="Google Shape;536;p41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여가참여동기</a:t>
            </a:r>
            <a:endParaRPr/>
          </a:p>
        </p:txBody>
      </p:sp>
      <p:pic>
        <p:nvPicPr>
          <p:cNvPr id="537" name="Google Shape;537;p41" descr="Z:\180_[KCU]-[2011-2학기 5개 과목]\03.범죄심리학\04_library\00_psd\도식\num_bo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41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9" name="Google Shape;539;p41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540" name="Google Shape;540;p41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541" name="Google Shape;541;p41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542" name="Google Shape;542;p41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543" name="Google Shape;543;p41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헌대인들의 여가참여 동기</a:t>
              </a:r>
              <a:endParaRPr/>
            </a:p>
          </p:txBody>
        </p:sp>
      </p:grpSp>
      <p:grpSp>
        <p:nvGrpSpPr>
          <p:cNvPr id="544" name="Google Shape;544;p41"/>
          <p:cNvGrpSpPr/>
          <p:nvPr/>
        </p:nvGrpSpPr>
        <p:grpSpPr>
          <a:xfrm>
            <a:off x="143386" y="1203599"/>
            <a:ext cx="5265723" cy="380613"/>
            <a:chOff x="-3558356" y="1180753"/>
            <a:chExt cx="2880320" cy="380613"/>
          </a:xfrm>
        </p:grpSpPr>
        <p:grpSp>
          <p:nvGrpSpPr>
            <p:cNvPr id="545" name="Google Shape;545;p41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546" name="Google Shape;546;p41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547" name="Google Shape;547;p41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548" name="Google Shape;548;p41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무동기</a:t>
              </a:r>
              <a:endParaRPr sz="1800" b="1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9" name="Google Shape;549;p41"/>
          <p:cNvSpPr/>
          <p:nvPr/>
        </p:nvSpPr>
        <p:spPr>
          <a:xfrm>
            <a:off x="232014" y="1624350"/>
            <a:ext cx="8547363" cy="2963624"/>
          </a:xfrm>
          <a:prstGeom prst="roundRect">
            <a:avLst>
              <a:gd name="adj" fmla="val 3362"/>
            </a:avLst>
          </a:prstGeom>
          <a:solidFill>
            <a:srgbClr val="FFFFFF"/>
          </a:solidFill>
          <a:ln w="12700" cap="flat" cmpd="sng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0" name="Google Shape;550;p41"/>
          <p:cNvSpPr/>
          <p:nvPr/>
        </p:nvSpPr>
        <p:spPr>
          <a:xfrm>
            <a:off x="426809" y="1742208"/>
            <a:ext cx="8321655" cy="18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개인의 행동이 바람직한 결과를 가져오는데 아무런 영향을 미치지 못한다는 믿음에 기인한 동기상실의 상태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내적동기와 외적동기가 없음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여가활동의 부정적인 경험이나 자신의 무능력함이 원인이 됨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2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sp>
        <p:nvSpPr>
          <p:cNvPr id="556" name="Google Shape;556;p42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여가레크리에이션 동기의 요소</a:t>
            </a:r>
            <a:endParaRPr/>
          </a:p>
        </p:txBody>
      </p:sp>
      <p:pic>
        <p:nvPicPr>
          <p:cNvPr id="557" name="Google Shape;557;p42" descr="Z:\180_[KCU]-[2011-2학기 5개 과목]\03.범죄심리학\04_library\00_psd\도식\num_bo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2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9" name="Google Shape;559;p42"/>
          <p:cNvGrpSpPr/>
          <p:nvPr/>
        </p:nvGrpSpPr>
        <p:grpSpPr>
          <a:xfrm>
            <a:off x="143387" y="1203599"/>
            <a:ext cx="4572630" cy="380613"/>
            <a:chOff x="-3558356" y="1180753"/>
            <a:chExt cx="2880320" cy="380613"/>
          </a:xfrm>
        </p:grpSpPr>
        <p:grpSp>
          <p:nvGrpSpPr>
            <p:cNvPr id="560" name="Google Shape;560;p42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561" name="Google Shape;561;p42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562" name="Google Shape;562;p42" descr="7.png"/>
              <p:cNvPicPr preferRelativeResize="0"/>
              <p:nvPr/>
            </p:nvPicPr>
            <p:blipFill rotWithShape="1">
              <a:blip r:embed="rId4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563" name="Google Shape;563;p42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여가레크리에이션 동기의 요소</a:t>
              </a:r>
              <a:endParaRPr/>
            </a:p>
          </p:txBody>
        </p:sp>
      </p:grpSp>
      <p:sp>
        <p:nvSpPr>
          <p:cNvPr id="564" name="Google Shape;564;p42"/>
          <p:cNvSpPr/>
          <p:nvPr/>
        </p:nvSpPr>
        <p:spPr>
          <a:xfrm>
            <a:off x="232014" y="1624350"/>
            <a:ext cx="8516449" cy="2980180"/>
          </a:xfrm>
          <a:prstGeom prst="roundRect">
            <a:avLst>
              <a:gd name="adj" fmla="val 3362"/>
            </a:avLst>
          </a:prstGeom>
          <a:solidFill>
            <a:srgbClr val="FFFFFF"/>
          </a:solidFill>
          <a:ln w="12700" cap="flat" cmpd="sng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5" name="Google Shape;565;p42"/>
          <p:cNvSpPr/>
          <p:nvPr/>
        </p:nvSpPr>
        <p:spPr>
          <a:xfrm>
            <a:off x="426809" y="1742208"/>
            <a:ext cx="7862444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여가레크리에이션 동기에는 한 개인이 여가에 참여하며 목표를 이루기 위해 무엇을 하고(방향), 얼마나 열심히 하며(강도), 얼마나 지속적으로 하느냐(지속성)의 요소가 포함되어 있다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3"/>
          <p:cNvSpPr/>
          <p:nvPr/>
        </p:nvSpPr>
        <p:spPr>
          <a:xfrm>
            <a:off x="107504" y="1995686"/>
            <a:ext cx="3672408" cy="2736304"/>
          </a:xfrm>
          <a:prstGeom prst="ellipse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1" name="Google Shape;571;p43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sp>
        <p:nvSpPr>
          <p:cNvPr id="572" name="Google Shape;572;p43"/>
          <p:cNvSpPr/>
          <p:nvPr/>
        </p:nvSpPr>
        <p:spPr>
          <a:xfrm>
            <a:off x="305295" y="1188461"/>
            <a:ext cx="2969956" cy="6949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3"/>
          <p:cNvSpPr/>
          <p:nvPr/>
        </p:nvSpPr>
        <p:spPr>
          <a:xfrm>
            <a:off x="313575" y="1250183"/>
            <a:ext cx="6418665" cy="571500"/>
          </a:xfrm>
          <a:custGeom>
            <a:avLst/>
            <a:gdLst/>
            <a:ahLst/>
            <a:cxnLst/>
            <a:rect l="l" t="t" r="r" b="b"/>
            <a:pathLst>
              <a:path w="2572385" h="571500" extrusionOk="0">
                <a:moveTo>
                  <a:pt x="2476436" y="0"/>
                </a:moveTo>
                <a:lnTo>
                  <a:pt x="95250" y="0"/>
                </a:lnTo>
                <a:lnTo>
                  <a:pt x="58175" y="7489"/>
                </a:lnTo>
                <a:lnTo>
                  <a:pt x="27898" y="27908"/>
                </a:lnTo>
                <a:lnTo>
                  <a:pt x="7485" y="58185"/>
                </a:lnTo>
                <a:lnTo>
                  <a:pt x="0" y="95250"/>
                </a:lnTo>
                <a:lnTo>
                  <a:pt x="0" y="476250"/>
                </a:lnTo>
                <a:lnTo>
                  <a:pt x="7485" y="513314"/>
                </a:lnTo>
                <a:lnTo>
                  <a:pt x="27898" y="543591"/>
                </a:lnTo>
                <a:lnTo>
                  <a:pt x="58175" y="564010"/>
                </a:lnTo>
                <a:lnTo>
                  <a:pt x="95250" y="571500"/>
                </a:lnTo>
                <a:lnTo>
                  <a:pt x="2476436" y="571500"/>
                </a:lnTo>
                <a:lnTo>
                  <a:pt x="2513574" y="564010"/>
                </a:lnTo>
                <a:lnTo>
                  <a:pt x="2543889" y="543591"/>
                </a:lnTo>
                <a:lnTo>
                  <a:pt x="2564322" y="513314"/>
                </a:lnTo>
                <a:lnTo>
                  <a:pt x="2571813" y="476250"/>
                </a:lnTo>
                <a:lnTo>
                  <a:pt x="2571813" y="95250"/>
                </a:lnTo>
                <a:lnTo>
                  <a:pt x="2564322" y="58185"/>
                </a:lnTo>
                <a:lnTo>
                  <a:pt x="2543889" y="27908"/>
                </a:lnTo>
                <a:lnTo>
                  <a:pt x="2513574" y="7489"/>
                </a:lnTo>
                <a:lnTo>
                  <a:pt x="2476436" y="0"/>
                </a:lnTo>
                <a:close/>
              </a:path>
            </a:pathLst>
          </a:custGeom>
          <a:solidFill>
            <a:srgbClr val="9BBA5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3"/>
          <p:cNvSpPr/>
          <p:nvPr/>
        </p:nvSpPr>
        <p:spPr>
          <a:xfrm>
            <a:off x="1277656" y="2084365"/>
            <a:ext cx="1400667" cy="141863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3"/>
          <p:cNvSpPr/>
          <p:nvPr/>
        </p:nvSpPr>
        <p:spPr>
          <a:xfrm>
            <a:off x="1835696" y="2931790"/>
            <a:ext cx="1397674" cy="141532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`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3"/>
          <p:cNvSpPr txBox="1"/>
          <p:nvPr/>
        </p:nvSpPr>
        <p:spPr>
          <a:xfrm>
            <a:off x="2268304" y="3450307"/>
            <a:ext cx="76858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지속성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3"/>
          <p:cNvSpPr/>
          <p:nvPr/>
        </p:nvSpPr>
        <p:spPr>
          <a:xfrm>
            <a:off x="620574" y="2962270"/>
            <a:ext cx="1400666" cy="141532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3"/>
          <p:cNvSpPr txBox="1"/>
          <p:nvPr/>
        </p:nvSpPr>
        <p:spPr>
          <a:xfrm>
            <a:off x="1062148" y="3465255"/>
            <a:ext cx="5175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강도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3"/>
          <p:cNvSpPr txBox="1"/>
          <p:nvPr/>
        </p:nvSpPr>
        <p:spPr>
          <a:xfrm>
            <a:off x="467270" y="1382044"/>
            <a:ext cx="54008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여가레크리에이션 동기의 3가지 요소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3"/>
          <p:cNvSpPr txBox="1"/>
          <p:nvPr/>
        </p:nvSpPr>
        <p:spPr>
          <a:xfrm>
            <a:off x="1608902" y="2505336"/>
            <a:ext cx="73817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방향</a:t>
            </a:r>
            <a:endParaRPr/>
          </a:p>
        </p:txBody>
      </p:sp>
      <p:sp>
        <p:nvSpPr>
          <p:cNvPr id="581" name="Google Shape;581;p43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여가레크리에이션 동기의 요소</a:t>
            </a:r>
            <a:endParaRPr/>
          </a:p>
        </p:txBody>
      </p:sp>
      <p:pic>
        <p:nvPicPr>
          <p:cNvPr id="582" name="Google Shape;582;p43" descr="Z:\180_[KCU]-[2011-2학기 5개 과목]\03.범죄심리학\04_library\00_psd\도식\num_box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43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4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sp>
        <p:nvSpPr>
          <p:cNvPr id="589" name="Google Shape;589;p44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여가레크리에이션 동기의 요소</a:t>
            </a:r>
            <a:endParaRPr/>
          </a:p>
        </p:txBody>
      </p:sp>
      <p:pic>
        <p:nvPicPr>
          <p:cNvPr id="590" name="Google Shape;590;p44" descr="Z:\180_[KCU]-[2011-2학기 5개 과목]\03.범죄심리학\04_library\00_psd\도식\num_bo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4"/>
          <p:cNvSpPr txBox="1"/>
          <p:nvPr/>
        </p:nvSpPr>
        <p:spPr>
          <a:xfrm>
            <a:off x="107504" y="1995686"/>
            <a:ext cx="472782" cy="1754326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3" name="Google Shape;593;p44"/>
          <p:cNvSpPr txBox="1"/>
          <p:nvPr/>
        </p:nvSpPr>
        <p:spPr>
          <a:xfrm>
            <a:off x="1038424" y="1949226"/>
            <a:ext cx="720080" cy="646331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노력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방향</a:t>
            </a:r>
            <a:endParaRPr/>
          </a:p>
        </p:txBody>
      </p:sp>
      <p:sp>
        <p:nvSpPr>
          <p:cNvPr id="594" name="Google Shape;594;p44"/>
          <p:cNvSpPr txBox="1"/>
          <p:nvPr/>
        </p:nvSpPr>
        <p:spPr>
          <a:xfrm>
            <a:off x="2219887" y="1799982"/>
            <a:ext cx="2562953" cy="369332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어떤 활동을 추구한다</a:t>
            </a:r>
            <a:endParaRPr/>
          </a:p>
        </p:txBody>
      </p:sp>
      <p:sp>
        <p:nvSpPr>
          <p:cNvPr id="595" name="Google Shape;595;p44"/>
          <p:cNvSpPr txBox="1"/>
          <p:nvPr/>
        </p:nvSpPr>
        <p:spPr>
          <a:xfrm>
            <a:off x="2219887" y="2304038"/>
            <a:ext cx="2562953" cy="369332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어떤 활동을 회피한다</a:t>
            </a:r>
            <a:endParaRPr/>
          </a:p>
        </p:txBody>
      </p:sp>
      <p:sp>
        <p:nvSpPr>
          <p:cNvPr id="596" name="Google Shape;596;p44"/>
          <p:cNvSpPr txBox="1"/>
          <p:nvPr/>
        </p:nvSpPr>
        <p:spPr>
          <a:xfrm>
            <a:off x="2230047" y="3017723"/>
            <a:ext cx="2562953" cy="369332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w="9525" cap="flat" cmpd="sng">
            <a:solidFill>
              <a:srgbClr val="7C5F9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노력을 많이 한다</a:t>
            </a:r>
            <a:endParaRPr/>
          </a:p>
        </p:txBody>
      </p:sp>
      <p:sp>
        <p:nvSpPr>
          <p:cNvPr id="597" name="Google Shape;597;p44"/>
          <p:cNvSpPr txBox="1"/>
          <p:nvPr/>
        </p:nvSpPr>
        <p:spPr>
          <a:xfrm>
            <a:off x="2230047" y="3567946"/>
            <a:ext cx="2562953" cy="369332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w="9525" cap="flat" cmpd="sng">
            <a:solidFill>
              <a:srgbClr val="7C5F9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노력을 하지 않는다</a:t>
            </a:r>
            <a:endParaRPr/>
          </a:p>
        </p:txBody>
      </p:sp>
      <p:sp>
        <p:nvSpPr>
          <p:cNvPr id="598" name="Google Shape;598;p44"/>
          <p:cNvSpPr txBox="1"/>
          <p:nvPr/>
        </p:nvSpPr>
        <p:spPr>
          <a:xfrm>
            <a:off x="1038424" y="3149555"/>
            <a:ext cx="720080" cy="646331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w="9525" cap="flat" cmpd="sng">
            <a:solidFill>
              <a:srgbClr val="7C5F9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노력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강도</a:t>
            </a:r>
            <a:endParaRPr/>
          </a:p>
        </p:txBody>
      </p:sp>
      <p:sp>
        <p:nvSpPr>
          <p:cNvPr id="599" name="Google Shape;599;p44"/>
          <p:cNvSpPr/>
          <p:nvPr/>
        </p:nvSpPr>
        <p:spPr>
          <a:xfrm>
            <a:off x="678384" y="2139702"/>
            <a:ext cx="288032" cy="216024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w="9525" cap="flat" cmpd="sng">
            <a:solidFill>
              <a:srgbClr val="F5913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0" name="Google Shape;600;p44"/>
          <p:cNvSpPr/>
          <p:nvPr/>
        </p:nvSpPr>
        <p:spPr>
          <a:xfrm>
            <a:off x="678384" y="3291830"/>
            <a:ext cx="288032" cy="216024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w="9525" cap="flat" cmpd="sng">
            <a:solidFill>
              <a:srgbClr val="F5913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1" name="Google Shape;601;p44"/>
          <p:cNvSpPr/>
          <p:nvPr/>
        </p:nvSpPr>
        <p:spPr>
          <a:xfrm>
            <a:off x="1850832" y="1923678"/>
            <a:ext cx="288032" cy="216024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w="9525" cap="flat" cmpd="sng">
            <a:solidFill>
              <a:srgbClr val="F5913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2" name="Google Shape;602;p44"/>
          <p:cNvSpPr/>
          <p:nvPr/>
        </p:nvSpPr>
        <p:spPr>
          <a:xfrm>
            <a:off x="1850832" y="2355726"/>
            <a:ext cx="288032" cy="216024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w="9525" cap="flat" cmpd="sng">
            <a:solidFill>
              <a:srgbClr val="F5913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3" name="Google Shape;603;p44"/>
          <p:cNvSpPr/>
          <p:nvPr/>
        </p:nvSpPr>
        <p:spPr>
          <a:xfrm>
            <a:off x="1840672" y="3147814"/>
            <a:ext cx="288032" cy="216024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w="9525" cap="flat" cmpd="sng">
            <a:solidFill>
              <a:srgbClr val="F5913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4" name="Google Shape;604;p44"/>
          <p:cNvSpPr/>
          <p:nvPr/>
        </p:nvSpPr>
        <p:spPr>
          <a:xfrm>
            <a:off x="1840672" y="3579862"/>
            <a:ext cx="288032" cy="216024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w="9525" cap="flat" cmpd="sng">
            <a:solidFill>
              <a:srgbClr val="F5913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05" name="Google Shape;605;p44"/>
          <p:cNvGrpSpPr/>
          <p:nvPr/>
        </p:nvGrpSpPr>
        <p:grpSpPr>
          <a:xfrm>
            <a:off x="143387" y="1203599"/>
            <a:ext cx="4572630" cy="380613"/>
            <a:chOff x="-3558356" y="1180753"/>
            <a:chExt cx="2880320" cy="380613"/>
          </a:xfrm>
        </p:grpSpPr>
        <p:grpSp>
          <p:nvGrpSpPr>
            <p:cNvPr id="606" name="Google Shape;606;p44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607" name="Google Shape;607;p44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608" name="Google Shape;608;p44" descr="7.png"/>
              <p:cNvPicPr preferRelativeResize="0"/>
              <p:nvPr/>
            </p:nvPicPr>
            <p:blipFill rotWithShape="1">
              <a:blip r:embed="rId4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609" name="Google Shape;609;p44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여가레크리에이션 동기의 방향과 강도 관계</a:t>
              </a:r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5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sp>
        <p:nvSpPr>
          <p:cNvPr id="615" name="Google Shape;615;p45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여가레크리에이션 동기의 요소</a:t>
            </a:r>
            <a:endParaRPr/>
          </a:p>
        </p:txBody>
      </p:sp>
      <p:pic>
        <p:nvPicPr>
          <p:cNvPr id="616" name="Google Shape;616;p45" descr="Z:\180_[KCU]-[2011-2학기 5개 과목]\03.범죄심리학\04_library\00_psd\도식\num_bo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45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8" name="Google Shape;618;p45"/>
          <p:cNvGrpSpPr/>
          <p:nvPr/>
        </p:nvGrpSpPr>
        <p:grpSpPr>
          <a:xfrm>
            <a:off x="143387" y="1203599"/>
            <a:ext cx="4572630" cy="380613"/>
            <a:chOff x="-3558356" y="1180753"/>
            <a:chExt cx="2880320" cy="380613"/>
          </a:xfrm>
        </p:grpSpPr>
        <p:grpSp>
          <p:nvGrpSpPr>
            <p:cNvPr id="619" name="Google Shape;619;p45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620" name="Google Shape;620;p45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621" name="Google Shape;621;p45" descr="7.png"/>
              <p:cNvPicPr preferRelativeResize="0"/>
              <p:nvPr/>
            </p:nvPicPr>
            <p:blipFill rotWithShape="1">
              <a:blip r:embed="rId4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622" name="Google Shape;622;p45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여가레크리에이션 동기 참가 모델</a:t>
              </a:r>
              <a:endParaRPr/>
            </a:p>
          </p:txBody>
        </p:sp>
      </p:grpSp>
      <p:sp>
        <p:nvSpPr>
          <p:cNvPr id="623" name="Google Shape;623;p45"/>
          <p:cNvSpPr/>
          <p:nvPr/>
        </p:nvSpPr>
        <p:spPr>
          <a:xfrm>
            <a:off x="232014" y="1624350"/>
            <a:ext cx="8660465" cy="2980180"/>
          </a:xfrm>
          <a:prstGeom prst="roundRect">
            <a:avLst>
              <a:gd name="adj" fmla="val 3362"/>
            </a:avLst>
          </a:prstGeom>
          <a:solidFill>
            <a:srgbClr val="FFFFFF"/>
          </a:solidFill>
          <a:ln w="12700" cap="flat" cmpd="sng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4" name="Google Shape;624;p45"/>
          <p:cNvSpPr/>
          <p:nvPr/>
        </p:nvSpPr>
        <p:spPr>
          <a:xfrm>
            <a:off x="426809" y="1742208"/>
            <a:ext cx="799540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여가 참가자가 어떤 목적을 향해 특정한 행동을 취하도록 유도하는 상태이며 특정한 반응에 구체적인 방향을 제시하는 내적요인이 여가참가동기모델이다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- Mannell</a:t>
            </a:r>
            <a:r>
              <a:rPr lang="ko-KR" sz="1800" b="1">
                <a:solidFill>
                  <a:srgbClr val="252525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lang="ko-KR" sz="1800" b="1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Kleiber (1997)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6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sp>
        <p:nvSpPr>
          <p:cNvPr id="630" name="Google Shape;630;p46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여가레크리에이션 동기의 요소</a:t>
            </a:r>
            <a:endParaRPr/>
          </a:p>
        </p:txBody>
      </p:sp>
      <p:pic>
        <p:nvPicPr>
          <p:cNvPr id="631" name="Google Shape;631;p46" descr="Z:\180_[KCU]-[2011-2학기 5개 과목]\03.범죄심리학\04_library\00_psd\도식\num_bo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6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3" name="Google Shape;633;p46"/>
          <p:cNvGrpSpPr/>
          <p:nvPr/>
        </p:nvGrpSpPr>
        <p:grpSpPr>
          <a:xfrm>
            <a:off x="143387" y="1203599"/>
            <a:ext cx="4572630" cy="380613"/>
            <a:chOff x="-3558356" y="1180753"/>
            <a:chExt cx="2880320" cy="380613"/>
          </a:xfrm>
        </p:grpSpPr>
        <p:grpSp>
          <p:nvGrpSpPr>
            <p:cNvPr id="634" name="Google Shape;634;p46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635" name="Google Shape;635;p46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636" name="Google Shape;636;p46" descr="7.png"/>
              <p:cNvPicPr preferRelativeResize="0"/>
              <p:nvPr/>
            </p:nvPicPr>
            <p:blipFill rotWithShape="1">
              <a:blip r:embed="rId4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637" name="Google Shape;637;p46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여가레크리에이션 동기 참가 모델</a:t>
              </a:r>
              <a:endParaRPr/>
            </a:p>
          </p:txBody>
        </p:sp>
      </p:grpSp>
      <p:sp>
        <p:nvSpPr>
          <p:cNvPr id="638" name="Google Shape;638;p46"/>
          <p:cNvSpPr/>
          <p:nvPr/>
        </p:nvSpPr>
        <p:spPr>
          <a:xfrm>
            <a:off x="3728807" y="2296296"/>
            <a:ext cx="231648" cy="17373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9" name="Google Shape;639;p46"/>
          <p:cNvSpPr/>
          <p:nvPr/>
        </p:nvSpPr>
        <p:spPr>
          <a:xfrm>
            <a:off x="1081932" y="2534518"/>
            <a:ext cx="5328285" cy="508159"/>
          </a:xfrm>
          <a:custGeom>
            <a:avLst/>
            <a:gdLst/>
            <a:ahLst/>
            <a:cxnLst/>
            <a:rect l="l" t="t" r="r" b="b"/>
            <a:pathLst>
              <a:path w="5328284" h="677545" extrusionOk="0">
                <a:moveTo>
                  <a:pt x="128339" y="356080"/>
                </a:moveTo>
                <a:lnTo>
                  <a:pt x="99764" y="405097"/>
                </a:lnTo>
                <a:lnTo>
                  <a:pt x="99764" y="648843"/>
                </a:lnTo>
                <a:lnTo>
                  <a:pt x="102014" y="660005"/>
                </a:lnTo>
                <a:lnTo>
                  <a:pt x="108146" y="669083"/>
                </a:lnTo>
                <a:lnTo>
                  <a:pt x="117230" y="675185"/>
                </a:lnTo>
                <a:lnTo>
                  <a:pt x="128339" y="677418"/>
                </a:lnTo>
                <a:lnTo>
                  <a:pt x="5299525" y="677418"/>
                </a:lnTo>
                <a:lnTo>
                  <a:pt x="5310633" y="675185"/>
                </a:lnTo>
                <a:lnTo>
                  <a:pt x="5319718" y="669083"/>
                </a:lnTo>
                <a:lnTo>
                  <a:pt x="5325850" y="660005"/>
                </a:lnTo>
                <a:lnTo>
                  <a:pt x="5328100" y="648843"/>
                </a:lnTo>
                <a:lnTo>
                  <a:pt x="156914" y="648843"/>
                </a:lnTo>
                <a:lnTo>
                  <a:pt x="128339" y="620268"/>
                </a:lnTo>
                <a:lnTo>
                  <a:pt x="156914" y="620268"/>
                </a:lnTo>
                <a:lnTo>
                  <a:pt x="156914" y="405097"/>
                </a:lnTo>
                <a:lnTo>
                  <a:pt x="128339" y="356080"/>
                </a:lnTo>
                <a:close/>
              </a:path>
              <a:path w="5328284" h="677545" extrusionOk="0">
                <a:moveTo>
                  <a:pt x="156914" y="620268"/>
                </a:moveTo>
                <a:lnTo>
                  <a:pt x="128339" y="620268"/>
                </a:lnTo>
                <a:lnTo>
                  <a:pt x="156914" y="648843"/>
                </a:lnTo>
                <a:lnTo>
                  <a:pt x="156914" y="620268"/>
                </a:lnTo>
                <a:close/>
              </a:path>
              <a:path w="5328284" h="677545" extrusionOk="0">
                <a:moveTo>
                  <a:pt x="5270950" y="620268"/>
                </a:moveTo>
                <a:lnTo>
                  <a:pt x="156914" y="620268"/>
                </a:lnTo>
                <a:lnTo>
                  <a:pt x="156914" y="648843"/>
                </a:lnTo>
                <a:lnTo>
                  <a:pt x="5270950" y="648843"/>
                </a:lnTo>
                <a:lnTo>
                  <a:pt x="5270950" y="620268"/>
                </a:lnTo>
                <a:close/>
              </a:path>
              <a:path w="5328284" h="677545" extrusionOk="0">
                <a:moveTo>
                  <a:pt x="5270950" y="28575"/>
                </a:moveTo>
                <a:lnTo>
                  <a:pt x="5270950" y="648843"/>
                </a:lnTo>
                <a:lnTo>
                  <a:pt x="5299525" y="620268"/>
                </a:lnTo>
                <a:lnTo>
                  <a:pt x="5328100" y="620268"/>
                </a:lnTo>
                <a:lnTo>
                  <a:pt x="5328100" y="57150"/>
                </a:lnTo>
                <a:lnTo>
                  <a:pt x="5299525" y="57150"/>
                </a:lnTo>
                <a:lnTo>
                  <a:pt x="5270950" y="28575"/>
                </a:lnTo>
                <a:close/>
              </a:path>
              <a:path w="5328284" h="677545" extrusionOk="0">
                <a:moveTo>
                  <a:pt x="5328100" y="620268"/>
                </a:moveTo>
                <a:lnTo>
                  <a:pt x="5299525" y="620268"/>
                </a:lnTo>
                <a:lnTo>
                  <a:pt x="5270950" y="648843"/>
                </a:lnTo>
                <a:lnTo>
                  <a:pt x="5328100" y="648843"/>
                </a:lnTo>
                <a:lnTo>
                  <a:pt x="5328100" y="620268"/>
                </a:lnTo>
                <a:close/>
              </a:path>
              <a:path w="5328284" h="677545" extrusionOk="0">
                <a:moveTo>
                  <a:pt x="128339" y="242697"/>
                </a:moveTo>
                <a:lnTo>
                  <a:pt x="3625" y="456564"/>
                </a:lnTo>
                <a:lnTo>
                  <a:pt x="0" y="467282"/>
                </a:lnTo>
                <a:lnTo>
                  <a:pt x="720" y="478202"/>
                </a:lnTo>
                <a:lnTo>
                  <a:pt x="5464" y="488051"/>
                </a:lnTo>
                <a:lnTo>
                  <a:pt x="13912" y="495554"/>
                </a:lnTo>
                <a:lnTo>
                  <a:pt x="24632" y="499250"/>
                </a:lnTo>
                <a:lnTo>
                  <a:pt x="35565" y="498554"/>
                </a:lnTo>
                <a:lnTo>
                  <a:pt x="45452" y="493785"/>
                </a:lnTo>
                <a:lnTo>
                  <a:pt x="53028" y="485267"/>
                </a:lnTo>
                <a:lnTo>
                  <a:pt x="99764" y="405097"/>
                </a:lnTo>
                <a:lnTo>
                  <a:pt x="99764" y="299466"/>
                </a:lnTo>
                <a:lnTo>
                  <a:pt x="161443" y="299466"/>
                </a:lnTo>
                <a:lnTo>
                  <a:pt x="128339" y="242697"/>
                </a:lnTo>
                <a:close/>
              </a:path>
              <a:path w="5328284" h="677545" extrusionOk="0">
                <a:moveTo>
                  <a:pt x="161443" y="299466"/>
                </a:moveTo>
                <a:lnTo>
                  <a:pt x="156914" y="299466"/>
                </a:lnTo>
                <a:lnTo>
                  <a:pt x="156914" y="405097"/>
                </a:lnTo>
                <a:lnTo>
                  <a:pt x="203650" y="485267"/>
                </a:lnTo>
                <a:lnTo>
                  <a:pt x="211226" y="493785"/>
                </a:lnTo>
                <a:lnTo>
                  <a:pt x="221112" y="498554"/>
                </a:lnTo>
                <a:lnTo>
                  <a:pt x="232046" y="499250"/>
                </a:lnTo>
                <a:lnTo>
                  <a:pt x="242766" y="495554"/>
                </a:lnTo>
                <a:lnTo>
                  <a:pt x="251213" y="488051"/>
                </a:lnTo>
                <a:lnTo>
                  <a:pt x="255958" y="478202"/>
                </a:lnTo>
                <a:lnTo>
                  <a:pt x="256678" y="467282"/>
                </a:lnTo>
                <a:lnTo>
                  <a:pt x="253053" y="456564"/>
                </a:lnTo>
                <a:lnTo>
                  <a:pt x="161443" y="299466"/>
                </a:lnTo>
                <a:close/>
              </a:path>
              <a:path w="5328284" h="677545" extrusionOk="0">
                <a:moveTo>
                  <a:pt x="156914" y="299466"/>
                </a:moveTo>
                <a:lnTo>
                  <a:pt x="99764" y="299466"/>
                </a:lnTo>
                <a:lnTo>
                  <a:pt x="99764" y="405097"/>
                </a:lnTo>
                <a:lnTo>
                  <a:pt x="128339" y="356080"/>
                </a:lnTo>
                <a:lnTo>
                  <a:pt x="103701" y="313817"/>
                </a:lnTo>
                <a:lnTo>
                  <a:pt x="156914" y="313817"/>
                </a:lnTo>
                <a:lnTo>
                  <a:pt x="156914" y="299466"/>
                </a:lnTo>
                <a:close/>
              </a:path>
              <a:path w="5328284" h="677545" extrusionOk="0">
                <a:moveTo>
                  <a:pt x="156914" y="313817"/>
                </a:moveTo>
                <a:lnTo>
                  <a:pt x="152977" y="313817"/>
                </a:lnTo>
                <a:lnTo>
                  <a:pt x="128339" y="356080"/>
                </a:lnTo>
                <a:lnTo>
                  <a:pt x="156914" y="405097"/>
                </a:lnTo>
                <a:lnTo>
                  <a:pt x="156914" y="313817"/>
                </a:lnTo>
                <a:close/>
              </a:path>
              <a:path w="5328284" h="677545" extrusionOk="0">
                <a:moveTo>
                  <a:pt x="152977" y="313817"/>
                </a:moveTo>
                <a:lnTo>
                  <a:pt x="103701" y="313817"/>
                </a:lnTo>
                <a:lnTo>
                  <a:pt x="128339" y="356080"/>
                </a:lnTo>
                <a:lnTo>
                  <a:pt x="152977" y="313817"/>
                </a:lnTo>
                <a:close/>
              </a:path>
              <a:path w="5328284" h="677545" extrusionOk="0">
                <a:moveTo>
                  <a:pt x="5299525" y="0"/>
                </a:moveTo>
                <a:lnTo>
                  <a:pt x="5236914" y="0"/>
                </a:lnTo>
                <a:lnTo>
                  <a:pt x="5236914" y="57150"/>
                </a:lnTo>
                <a:lnTo>
                  <a:pt x="5270950" y="57150"/>
                </a:lnTo>
                <a:lnTo>
                  <a:pt x="5270950" y="28575"/>
                </a:lnTo>
                <a:lnTo>
                  <a:pt x="5328100" y="28575"/>
                </a:lnTo>
                <a:lnTo>
                  <a:pt x="5325850" y="17466"/>
                </a:lnTo>
                <a:lnTo>
                  <a:pt x="5319718" y="8381"/>
                </a:lnTo>
                <a:lnTo>
                  <a:pt x="5310633" y="2250"/>
                </a:lnTo>
                <a:lnTo>
                  <a:pt x="5299525" y="0"/>
                </a:lnTo>
                <a:close/>
              </a:path>
              <a:path w="5328284" h="677545" extrusionOk="0">
                <a:moveTo>
                  <a:pt x="5328100" y="28575"/>
                </a:moveTo>
                <a:lnTo>
                  <a:pt x="5270950" y="28575"/>
                </a:lnTo>
                <a:lnTo>
                  <a:pt x="5299525" y="57150"/>
                </a:lnTo>
                <a:lnTo>
                  <a:pt x="5328100" y="57150"/>
                </a:lnTo>
                <a:lnTo>
                  <a:pt x="5328100" y="28575"/>
                </a:lnTo>
                <a:close/>
              </a:path>
            </a:pathLst>
          </a:custGeom>
          <a:solidFill>
            <a:srgbClr val="7E7E7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0" name="Google Shape;640;p46"/>
          <p:cNvSpPr/>
          <p:nvPr/>
        </p:nvSpPr>
        <p:spPr>
          <a:xfrm>
            <a:off x="1818347" y="2041599"/>
            <a:ext cx="1071562" cy="42862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1" name="Google Shape;641;p46"/>
          <p:cNvSpPr/>
          <p:nvPr/>
        </p:nvSpPr>
        <p:spPr>
          <a:xfrm>
            <a:off x="4461471" y="2041599"/>
            <a:ext cx="1071562" cy="42862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2" name="Google Shape;642;p46"/>
          <p:cNvSpPr/>
          <p:nvPr/>
        </p:nvSpPr>
        <p:spPr>
          <a:xfrm>
            <a:off x="257135" y="1923678"/>
            <a:ext cx="1908048" cy="69380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3" name="Google Shape;643;p46"/>
          <p:cNvSpPr/>
          <p:nvPr/>
        </p:nvSpPr>
        <p:spPr>
          <a:xfrm>
            <a:off x="318097" y="1954683"/>
            <a:ext cx="1786255" cy="601504"/>
          </a:xfrm>
          <a:custGeom>
            <a:avLst/>
            <a:gdLst/>
            <a:ahLst/>
            <a:cxnLst/>
            <a:rect l="l" t="t" r="r" b="b"/>
            <a:pathLst>
              <a:path w="1786255" h="802004" extrusionOk="0">
                <a:moveTo>
                  <a:pt x="0" y="801687"/>
                </a:moveTo>
                <a:lnTo>
                  <a:pt x="1786001" y="801687"/>
                </a:lnTo>
                <a:lnTo>
                  <a:pt x="1786001" y="0"/>
                </a:lnTo>
                <a:lnTo>
                  <a:pt x="0" y="0"/>
                </a:lnTo>
                <a:lnTo>
                  <a:pt x="0" y="801687"/>
                </a:lnTo>
                <a:close/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4" name="Google Shape;644;p46"/>
          <p:cNvSpPr/>
          <p:nvPr/>
        </p:nvSpPr>
        <p:spPr>
          <a:xfrm>
            <a:off x="257135" y="1923678"/>
            <a:ext cx="1908048" cy="69380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5" name="Google Shape;645;p46"/>
          <p:cNvSpPr/>
          <p:nvPr/>
        </p:nvSpPr>
        <p:spPr>
          <a:xfrm>
            <a:off x="318097" y="1954683"/>
            <a:ext cx="1786255" cy="601504"/>
          </a:xfrm>
          <a:custGeom>
            <a:avLst/>
            <a:gdLst/>
            <a:ahLst/>
            <a:cxnLst/>
            <a:rect l="l" t="t" r="r" b="b"/>
            <a:pathLst>
              <a:path w="1786255" h="802004" extrusionOk="0">
                <a:moveTo>
                  <a:pt x="0" y="801687"/>
                </a:moveTo>
                <a:lnTo>
                  <a:pt x="1786001" y="801687"/>
                </a:lnTo>
                <a:lnTo>
                  <a:pt x="1786001" y="0"/>
                </a:lnTo>
                <a:lnTo>
                  <a:pt x="0" y="0"/>
                </a:lnTo>
                <a:lnTo>
                  <a:pt x="0" y="801687"/>
                </a:lnTo>
                <a:close/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6" name="Google Shape;646;p46"/>
          <p:cNvSpPr txBox="1"/>
          <p:nvPr/>
        </p:nvSpPr>
        <p:spPr>
          <a:xfrm>
            <a:off x="318097" y="1954683"/>
            <a:ext cx="1786255" cy="559769"/>
          </a:xfrm>
          <a:prstGeom prst="rect">
            <a:avLst/>
          </a:prstGeom>
          <a:solidFill>
            <a:srgbClr val="4F81BC"/>
          </a:solidFill>
          <a:ln>
            <a:noFill/>
          </a:ln>
        </p:spPr>
        <p:txBody>
          <a:bodyPr spcFirstLastPara="1" wrap="square" lIns="0" tIns="188575" rIns="0" bIns="0" anchor="ctr" anchorCtr="0">
            <a:spAutoFit/>
          </a:bodyPr>
          <a:lstStyle/>
          <a:p>
            <a:pPr marL="26225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동기</a:t>
            </a:r>
            <a:r>
              <a:rPr lang="ko-KR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욕구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7" name="Google Shape;647;p46"/>
          <p:cNvSpPr/>
          <p:nvPr/>
        </p:nvSpPr>
        <p:spPr>
          <a:xfrm>
            <a:off x="2863175" y="1923678"/>
            <a:ext cx="1911096" cy="69380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8" name="Google Shape;648;p46"/>
          <p:cNvSpPr/>
          <p:nvPr/>
        </p:nvSpPr>
        <p:spPr>
          <a:xfrm>
            <a:off x="2924772" y="1954683"/>
            <a:ext cx="1787525" cy="601504"/>
          </a:xfrm>
          <a:custGeom>
            <a:avLst/>
            <a:gdLst/>
            <a:ahLst/>
            <a:cxnLst/>
            <a:rect l="l" t="t" r="r" b="b"/>
            <a:pathLst>
              <a:path w="1787525" h="802004" extrusionOk="0">
                <a:moveTo>
                  <a:pt x="0" y="801687"/>
                </a:moveTo>
                <a:lnTo>
                  <a:pt x="1787525" y="801687"/>
                </a:lnTo>
                <a:lnTo>
                  <a:pt x="1787525" y="0"/>
                </a:lnTo>
                <a:lnTo>
                  <a:pt x="0" y="0"/>
                </a:lnTo>
                <a:lnTo>
                  <a:pt x="0" y="801687"/>
                </a:lnTo>
                <a:close/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9" name="Google Shape;649;p46"/>
          <p:cNvSpPr/>
          <p:nvPr/>
        </p:nvSpPr>
        <p:spPr>
          <a:xfrm>
            <a:off x="2863175" y="1923678"/>
            <a:ext cx="1911096" cy="69380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0" name="Google Shape;650;p46"/>
          <p:cNvSpPr/>
          <p:nvPr/>
        </p:nvSpPr>
        <p:spPr>
          <a:xfrm>
            <a:off x="2924772" y="1954683"/>
            <a:ext cx="1787525" cy="601504"/>
          </a:xfrm>
          <a:custGeom>
            <a:avLst/>
            <a:gdLst/>
            <a:ahLst/>
            <a:cxnLst/>
            <a:rect l="l" t="t" r="r" b="b"/>
            <a:pathLst>
              <a:path w="1787525" h="802004" extrusionOk="0">
                <a:moveTo>
                  <a:pt x="0" y="801687"/>
                </a:moveTo>
                <a:lnTo>
                  <a:pt x="1787525" y="801687"/>
                </a:lnTo>
                <a:lnTo>
                  <a:pt x="1787525" y="0"/>
                </a:lnTo>
                <a:lnTo>
                  <a:pt x="0" y="0"/>
                </a:lnTo>
                <a:lnTo>
                  <a:pt x="0" y="801687"/>
                </a:lnTo>
                <a:close/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1" name="Google Shape;651;p46"/>
          <p:cNvSpPr txBox="1"/>
          <p:nvPr/>
        </p:nvSpPr>
        <p:spPr>
          <a:xfrm>
            <a:off x="2924772" y="1954683"/>
            <a:ext cx="1787525" cy="559769"/>
          </a:xfrm>
          <a:prstGeom prst="rect">
            <a:avLst/>
          </a:prstGeom>
          <a:solidFill>
            <a:srgbClr val="4F81BC"/>
          </a:solidFill>
          <a:ln>
            <a:noFill/>
          </a:ln>
        </p:spPr>
        <p:txBody>
          <a:bodyPr spcFirstLastPara="1" wrap="square" lIns="0" tIns="188575" rIns="0" bIns="0" anchor="t" anchorCtr="0">
            <a:spAutoFit/>
          </a:bodyPr>
          <a:lstStyle/>
          <a:p>
            <a:pPr marL="26289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행동</a:t>
            </a:r>
            <a:r>
              <a:rPr lang="ko-KR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활동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2" name="Google Shape;652;p46"/>
          <p:cNvSpPr/>
          <p:nvPr/>
        </p:nvSpPr>
        <p:spPr>
          <a:xfrm>
            <a:off x="5470740" y="1923678"/>
            <a:ext cx="1909572" cy="693801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3" name="Google Shape;653;p46"/>
          <p:cNvSpPr/>
          <p:nvPr/>
        </p:nvSpPr>
        <p:spPr>
          <a:xfrm>
            <a:off x="5533098" y="1954683"/>
            <a:ext cx="1786255" cy="601504"/>
          </a:xfrm>
          <a:custGeom>
            <a:avLst/>
            <a:gdLst/>
            <a:ahLst/>
            <a:cxnLst/>
            <a:rect l="l" t="t" r="r" b="b"/>
            <a:pathLst>
              <a:path w="1786254" h="802004" extrusionOk="0">
                <a:moveTo>
                  <a:pt x="0" y="801687"/>
                </a:moveTo>
                <a:lnTo>
                  <a:pt x="1785874" y="801687"/>
                </a:lnTo>
                <a:lnTo>
                  <a:pt x="1785874" y="0"/>
                </a:lnTo>
                <a:lnTo>
                  <a:pt x="0" y="0"/>
                </a:lnTo>
                <a:lnTo>
                  <a:pt x="0" y="801687"/>
                </a:lnTo>
                <a:close/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4" name="Google Shape;654;p46"/>
          <p:cNvSpPr/>
          <p:nvPr/>
        </p:nvSpPr>
        <p:spPr>
          <a:xfrm>
            <a:off x="5470740" y="1923678"/>
            <a:ext cx="1909572" cy="693801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5" name="Google Shape;655;p46"/>
          <p:cNvSpPr/>
          <p:nvPr/>
        </p:nvSpPr>
        <p:spPr>
          <a:xfrm>
            <a:off x="5533098" y="1954683"/>
            <a:ext cx="1786255" cy="601504"/>
          </a:xfrm>
          <a:custGeom>
            <a:avLst/>
            <a:gdLst/>
            <a:ahLst/>
            <a:cxnLst/>
            <a:rect l="l" t="t" r="r" b="b"/>
            <a:pathLst>
              <a:path w="1786254" h="802004" extrusionOk="0">
                <a:moveTo>
                  <a:pt x="0" y="801687"/>
                </a:moveTo>
                <a:lnTo>
                  <a:pt x="1785874" y="801687"/>
                </a:lnTo>
                <a:lnTo>
                  <a:pt x="1785874" y="0"/>
                </a:lnTo>
                <a:lnTo>
                  <a:pt x="0" y="0"/>
                </a:lnTo>
                <a:lnTo>
                  <a:pt x="0" y="801687"/>
                </a:lnTo>
                <a:close/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6" name="Google Shape;656;p46"/>
          <p:cNvSpPr txBox="1"/>
          <p:nvPr/>
        </p:nvSpPr>
        <p:spPr>
          <a:xfrm>
            <a:off x="5533098" y="1954683"/>
            <a:ext cx="1786255" cy="559769"/>
          </a:xfrm>
          <a:prstGeom prst="rect">
            <a:avLst/>
          </a:prstGeom>
          <a:solidFill>
            <a:srgbClr val="4F81BC"/>
          </a:solidFill>
          <a:ln>
            <a:noFill/>
          </a:ln>
        </p:spPr>
        <p:txBody>
          <a:bodyPr spcFirstLastPara="1" wrap="square" lIns="0" tIns="188575" rIns="0" bIns="0" anchor="t" anchorCtr="0">
            <a:spAutoFit/>
          </a:bodyPr>
          <a:lstStyle/>
          <a:p>
            <a:pPr marL="2635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</a:t>
            </a:r>
            <a:r>
              <a:rPr lang="ko-KR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만족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7" name="Google Shape;657;p46"/>
          <p:cNvSpPr/>
          <p:nvPr/>
        </p:nvSpPr>
        <p:spPr>
          <a:xfrm>
            <a:off x="3199981" y="3127259"/>
            <a:ext cx="1309115" cy="392048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8" name="Google Shape;658;p46"/>
          <p:cNvSpPr/>
          <p:nvPr/>
        </p:nvSpPr>
        <p:spPr>
          <a:xfrm>
            <a:off x="3198456" y="3086110"/>
            <a:ext cx="1310639" cy="406908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9" name="Google Shape;659;p46"/>
          <p:cNvSpPr/>
          <p:nvPr/>
        </p:nvSpPr>
        <p:spPr>
          <a:xfrm>
            <a:off x="3247097" y="3145260"/>
            <a:ext cx="1214374" cy="321563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0" name="Google Shape;660;p46"/>
          <p:cNvSpPr/>
          <p:nvPr/>
        </p:nvSpPr>
        <p:spPr>
          <a:xfrm>
            <a:off x="3247098" y="3145260"/>
            <a:ext cx="1214755" cy="321944"/>
          </a:xfrm>
          <a:custGeom>
            <a:avLst/>
            <a:gdLst/>
            <a:ahLst/>
            <a:cxnLst/>
            <a:rect l="l" t="t" r="r" b="b"/>
            <a:pathLst>
              <a:path w="1214754" h="429260" extrusionOk="0">
                <a:moveTo>
                  <a:pt x="0" y="71500"/>
                </a:moveTo>
                <a:lnTo>
                  <a:pt x="5597" y="43666"/>
                </a:lnTo>
                <a:lnTo>
                  <a:pt x="20875" y="20939"/>
                </a:lnTo>
                <a:lnTo>
                  <a:pt x="43559" y="5617"/>
                </a:lnTo>
                <a:lnTo>
                  <a:pt x="71374" y="0"/>
                </a:lnTo>
                <a:lnTo>
                  <a:pt x="1142873" y="0"/>
                </a:lnTo>
                <a:lnTo>
                  <a:pt x="1170707" y="5617"/>
                </a:lnTo>
                <a:lnTo>
                  <a:pt x="1193434" y="20939"/>
                </a:lnTo>
                <a:lnTo>
                  <a:pt x="1208756" y="43666"/>
                </a:lnTo>
                <a:lnTo>
                  <a:pt x="1214374" y="71500"/>
                </a:lnTo>
                <a:lnTo>
                  <a:pt x="1214374" y="357250"/>
                </a:lnTo>
                <a:lnTo>
                  <a:pt x="1208756" y="385085"/>
                </a:lnTo>
                <a:lnTo>
                  <a:pt x="1193434" y="407812"/>
                </a:lnTo>
                <a:lnTo>
                  <a:pt x="1170707" y="423134"/>
                </a:lnTo>
                <a:lnTo>
                  <a:pt x="1142873" y="428751"/>
                </a:lnTo>
                <a:lnTo>
                  <a:pt x="71374" y="428751"/>
                </a:lnTo>
                <a:lnTo>
                  <a:pt x="43559" y="423134"/>
                </a:lnTo>
                <a:lnTo>
                  <a:pt x="20875" y="407812"/>
                </a:lnTo>
                <a:lnTo>
                  <a:pt x="5597" y="385085"/>
                </a:lnTo>
                <a:lnTo>
                  <a:pt x="0" y="357250"/>
                </a:lnTo>
                <a:lnTo>
                  <a:pt x="0" y="71500"/>
                </a:lnTo>
                <a:close/>
              </a:path>
            </a:pathLst>
          </a:custGeom>
          <a:noFill/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1" name="Google Shape;661;p46"/>
          <p:cNvSpPr txBox="1"/>
          <p:nvPr/>
        </p:nvSpPr>
        <p:spPr>
          <a:xfrm>
            <a:off x="1496276" y="3016373"/>
            <a:ext cx="478726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635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622422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피드백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Mannell</a:t>
            </a:r>
            <a:r>
              <a:rPr lang="ko-KR" sz="1800" b="1">
                <a:solidFill>
                  <a:srgbClr val="252525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lang="ko-KR" sz="1800" b="1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Kleiber (1997)</a:t>
            </a:r>
            <a:r>
              <a:rPr lang="ko-KR" sz="1800" b="1">
                <a:solidFill>
                  <a:srgbClr val="252525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여가참가 동기모델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7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sp>
        <p:nvSpPr>
          <p:cNvPr id="667" name="Google Shape;667;p47"/>
          <p:cNvSpPr/>
          <p:nvPr/>
        </p:nvSpPr>
        <p:spPr>
          <a:xfrm>
            <a:off x="625210" y="686272"/>
            <a:ext cx="47838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여가레크리에이션 동기에 영향을 미치는 요인</a:t>
            </a:r>
            <a:endParaRPr/>
          </a:p>
        </p:txBody>
      </p:sp>
      <p:pic>
        <p:nvPicPr>
          <p:cNvPr id="668" name="Google Shape;668;p47" descr="Z:\180_[KCU]-[2011-2학기 5개 과목]\03.범죄심리학\04_library\00_psd\도식\num_bo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47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0" name="Google Shape;670;p47"/>
          <p:cNvGrpSpPr/>
          <p:nvPr/>
        </p:nvGrpSpPr>
        <p:grpSpPr>
          <a:xfrm>
            <a:off x="143387" y="1203598"/>
            <a:ext cx="4572630" cy="380614"/>
            <a:chOff x="-3558356" y="1180752"/>
            <a:chExt cx="2880320" cy="380614"/>
          </a:xfrm>
        </p:grpSpPr>
        <p:grpSp>
          <p:nvGrpSpPr>
            <p:cNvPr id="671" name="Google Shape;671;p47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672" name="Google Shape;672;p47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673" name="Google Shape;673;p47" descr="7.png"/>
              <p:cNvPicPr preferRelativeResize="0"/>
              <p:nvPr/>
            </p:nvPicPr>
            <p:blipFill rotWithShape="1">
              <a:blip r:embed="rId4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674" name="Google Shape;674;p47"/>
            <p:cNvSpPr txBox="1"/>
            <p:nvPr/>
          </p:nvSpPr>
          <p:spPr>
            <a:xfrm>
              <a:off x="-3558356" y="1180752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상호작용적 관점(interactional Perspective)</a:t>
              </a:r>
              <a:endParaRPr sz="1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5" name="Google Shape;675;p47"/>
          <p:cNvSpPr/>
          <p:nvPr/>
        </p:nvSpPr>
        <p:spPr>
          <a:xfrm>
            <a:off x="3790629" y="3118878"/>
            <a:ext cx="231648" cy="2316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6" name="Google Shape;676;p47"/>
          <p:cNvSpPr/>
          <p:nvPr/>
        </p:nvSpPr>
        <p:spPr>
          <a:xfrm>
            <a:off x="2014026" y="2461781"/>
            <a:ext cx="1071562" cy="571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7" name="Google Shape;677;p47"/>
          <p:cNvSpPr/>
          <p:nvPr/>
        </p:nvSpPr>
        <p:spPr>
          <a:xfrm>
            <a:off x="4800152" y="2461781"/>
            <a:ext cx="1071562" cy="5715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8" name="Google Shape;678;p47"/>
          <p:cNvSpPr/>
          <p:nvPr/>
        </p:nvSpPr>
        <p:spPr>
          <a:xfrm>
            <a:off x="3657152" y="3020517"/>
            <a:ext cx="571500" cy="107156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9" name="Google Shape;679;p47"/>
          <p:cNvSpPr/>
          <p:nvPr/>
        </p:nvSpPr>
        <p:spPr>
          <a:xfrm>
            <a:off x="2998148" y="4083918"/>
            <a:ext cx="1796796" cy="86410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0" name="Google Shape;680;p47"/>
          <p:cNvSpPr txBox="1"/>
          <p:nvPr/>
        </p:nvSpPr>
        <p:spPr>
          <a:xfrm>
            <a:off x="3414071" y="4299942"/>
            <a:ext cx="12941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6224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참가동기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1" name="Google Shape;681;p47"/>
          <p:cNvSpPr/>
          <p:nvPr/>
        </p:nvSpPr>
        <p:spPr>
          <a:xfrm>
            <a:off x="2938712" y="2017026"/>
            <a:ext cx="1993391" cy="146303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2" name="Google Shape;682;p47"/>
          <p:cNvSpPr txBox="1"/>
          <p:nvPr/>
        </p:nvSpPr>
        <p:spPr>
          <a:xfrm>
            <a:off x="3079313" y="2167996"/>
            <a:ext cx="1549400" cy="1051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5080" lvl="0" indent="214629" algn="ctr" rtl="0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참가자와  주변상황의  상호작용</a:t>
            </a: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47"/>
          <p:cNvSpPr/>
          <p:nvPr/>
        </p:nvSpPr>
        <p:spPr>
          <a:xfrm>
            <a:off x="323528" y="1707654"/>
            <a:ext cx="2214372" cy="2119884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4" name="Google Shape;684;p47"/>
          <p:cNvSpPr/>
          <p:nvPr/>
        </p:nvSpPr>
        <p:spPr>
          <a:xfrm>
            <a:off x="370938" y="1734706"/>
            <a:ext cx="2119249" cy="2025395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5" name="Google Shape;685;p47"/>
          <p:cNvSpPr/>
          <p:nvPr/>
        </p:nvSpPr>
        <p:spPr>
          <a:xfrm>
            <a:off x="370938" y="1734706"/>
            <a:ext cx="2119630" cy="365760"/>
          </a:xfrm>
          <a:custGeom>
            <a:avLst/>
            <a:gdLst/>
            <a:ahLst/>
            <a:cxnLst/>
            <a:rect l="l" t="t" r="r" b="b"/>
            <a:pathLst>
              <a:path w="2119630" h="365760" extrusionOk="0">
                <a:moveTo>
                  <a:pt x="0" y="365760"/>
                </a:moveTo>
                <a:lnTo>
                  <a:pt x="2119249" y="365760"/>
                </a:lnTo>
                <a:lnTo>
                  <a:pt x="2119249" y="0"/>
                </a:lnTo>
                <a:lnTo>
                  <a:pt x="0" y="0"/>
                </a:lnTo>
                <a:lnTo>
                  <a:pt x="0" y="365760"/>
                </a:lnTo>
                <a:close/>
              </a:path>
            </a:pathLst>
          </a:custGeom>
          <a:solidFill>
            <a:srgbClr val="4AACC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6" name="Google Shape;686;p47"/>
          <p:cNvSpPr/>
          <p:nvPr/>
        </p:nvSpPr>
        <p:spPr>
          <a:xfrm>
            <a:off x="370938" y="2100466"/>
            <a:ext cx="2119630" cy="1659889"/>
          </a:xfrm>
          <a:custGeom>
            <a:avLst/>
            <a:gdLst/>
            <a:ahLst/>
            <a:cxnLst/>
            <a:rect l="l" t="t" r="r" b="b"/>
            <a:pathLst>
              <a:path w="2119630" h="1659889" extrusionOk="0">
                <a:moveTo>
                  <a:pt x="0" y="1659636"/>
                </a:moveTo>
                <a:lnTo>
                  <a:pt x="2119249" y="1659636"/>
                </a:lnTo>
                <a:lnTo>
                  <a:pt x="2119249" y="0"/>
                </a:lnTo>
                <a:lnTo>
                  <a:pt x="0" y="0"/>
                </a:lnTo>
                <a:lnTo>
                  <a:pt x="0" y="1659636"/>
                </a:lnTo>
                <a:close/>
              </a:path>
            </a:pathLst>
          </a:custGeom>
          <a:solidFill>
            <a:srgbClr val="4AACC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7" name="Google Shape;687;p47"/>
          <p:cNvSpPr/>
          <p:nvPr/>
        </p:nvSpPr>
        <p:spPr>
          <a:xfrm>
            <a:off x="366175" y="2087766"/>
            <a:ext cx="2129155" cy="25400"/>
          </a:xfrm>
          <a:custGeom>
            <a:avLst/>
            <a:gdLst/>
            <a:ahLst/>
            <a:cxnLst/>
            <a:rect l="l" t="t" r="r" b="b"/>
            <a:pathLst>
              <a:path w="2129155" h="25400" extrusionOk="0">
                <a:moveTo>
                  <a:pt x="0" y="25400"/>
                </a:moveTo>
                <a:lnTo>
                  <a:pt x="2128799" y="25400"/>
                </a:lnTo>
                <a:lnTo>
                  <a:pt x="2128799" y="0"/>
                </a:lnTo>
                <a:lnTo>
                  <a:pt x="0" y="0"/>
                </a:lnTo>
                <a:lnTo>
                  <a:pt x="0" y="25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8" name="Google Shape;688;p47"/>
          <p:cNvSpPr/>
          <p:nvPr/>
        </p:nvSpPr>
        <p:spPr>
          <a:xfrm>
            <a:off x="370938" y="1729879"/>
            <a:ext cx="0" cy="2035175"/>
          </a:xfrm>
          <a:custGeom>
            <a:avLst/>
            <a:gdLst/>
            <a:ahLst/>
            <a:cxnLst/>
            <a:rect l="l" t="t" r="r" b="b"/>
            <a:pathLst>
              <a:path w="120000" h="2035175" extrusionOk="0">
                <a:moveTo>
                  <a:pt x="0" y="0"/>
                </a:moveTo>
                <a:lnTo>
                  <a:pt x="0" y="2034920"/>
                </a:lnTo>
              </a:path>
            </a:pathLst>
          </a:custGeom>
          <a:noFill/>
          <a:ln w="9525" cap="flat" cmpd="sng">
            <a:solidFill>
              <a:srgbClr val="46AA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9" name="Google Shape;689;p47"/>
          <p:cNvSpPr/>
          <p:nvPr/>
        </p:nvSpPr>
        <p:spPr>
          <a:xfrm>
            <a:off x="2490276" y="1729879"/>
            <a:ext cx="0" cy="2035175"/>
          </a:xfrm>
          <a:custGeom>
            <a:avLst/>
            <a:gdLst/>
            <a:ahLst/>
            <a:cxnLst/>
            <a:rect l="l" t="t" r="r" b="b"/>
            <a:pathLst>
              <a:path w="120000" h="2035175" extrusionOk="0">
                <a:moveTo>
                  <a:pt x="0" y="0"/>
                </a:moveTo>
                <a:lnTo>
                  <a:pt x="0" y="2034920"/>
                </a:lnTo>
              </a:path>
            </a:pathLst>
          </a:custGeom>
          <a:noFill/>
          <a:ln w="9525" cap="flat" cmpd="sng">
            <a:solidFill>
              <a:srgbClr val="46AA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0" name="Google Shape;690;p47"/>
          <p:cNvSpPr/>
          <p:nvPr/>
        </p:nvSpPr>
        <p:spPr>
          <a:xfrm>
            <a:off x="366175" y="1734706"/>
            <a:ext cx="2129155" cy="0"/>
          </a:xfrm>
          <a:custGeom>
            <a:avLst/>
            <a:gdLst/>
            <a:ahLst/>
            <a:cxnLst/>
            <a:rect l="l" t="t" r="r" b="b"/>
            <a:pathLst>
              <a:path w="2129155" h="120000" extrusionOk="0">
                <a:moveTo>
                  <a:pt x="0" y="0"/>
                </a:moveTo>
                <a:lnTo>
                  <a:pt x="2128799" y="0"/>
                </a:lnTo>
              </a:path>
            </a:pathLst>
          </a:custGeom>
          <a:noFill/>
          <a:ln w="9525" cap="flat" cmpd="sng">
            <a:solidFill>
              <a:srgbClr val="46AA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1" name="Google Shape;691;p47"/>
          <p:cNvSpPr/>
          <p:nvPr/>
        </p:nvSpPr>
        <p:spPr>
          <a:xfrm>
            <a:off x="366175" y="3760102"/>
            <a:ext cx="2129155" cy="0"/>
          </a:xfrm>
          <a:custGeom>
            <a:avLst/>
            <a:gdLst/>
            <a:ahLst/>
            <a:cxnLst/>
            <a:rect l="l" t="t" r="r" b="b"/>
            <a:pathLst>
              <a:path w="2129155" h="120000" extrusionOk="0">
                <a:moveTo>
                  <a:pt x="0" y="0"/>
                </a:moveTo>
                <a:lnTo>
                  <a:pt x="2128799" y="0"/>
                </a:lnTo>
              </a:path>
            </a:pathLst>
          </a:custGeom>
          <a:noFill/>
          <a:ln w="9525" cap="flat" cmpd="sng">
            <a:solidFill>
              <a:srgbClr val="46AA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2" name="Google Shape;692;p47"/>
          <p:cNvSpPr txBox="1"/>
          <p:nvPr/>
        </p:nvSpPr>
        <p:spPr>
          <a:xfrm>
            <a:off x="988374" y="1771916"/>
            <a:ext cx="885190" cy="28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개인특성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3" name="Google Shape;693;p47"/>
          <p:cNvSpPr/>
          <p:nvPr/>
        </p:nvSpPr>
        <p:spPr>
          <a:xfrm>
            <a:off x="5348156" y="1707654"/>
            <a:ext cx="2214372" cy="2197608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4" name="Google Shape;694;p47"/>
          <p:cNvSpPr/>
          <p:nvPr/>
        </p:nvSpPr>
        <p:spPr>
          <a:xfrm>
            <a:off x="5395401" y="1734706"/>
            <a:ext cx="2119249" cy="210312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695" name="Google Shape;695;p47"/>
          <p:cNvGraphicFramePr/>
          <p:nvPr/>
        </p:nvGraphicFramePr>
        <p:xfrm>
          <a:off x="5390638" y="1729879"/>
          <a:ext cx="2128900" cy="2112700"/>
        </p:xfrm>
        <a:graphic>
          <a:graphicData uri="http://schemas.openxmlformats.org/drawingml/2006/table">
            <a:tbl>
              <a:tblPr firstRow="1" bandRow="1">
                <a:noFill/>
                <a:tableStyleId>{AB7FB56C-D0AB-4226-8208-8990A84411C5}</a:tableStyleId>
              </a:tblPr>
              <a:tblGrid>
                <a:gridCol w="21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575">
                <a:tc>
                  <a:txBody>
                    <a:bodyPr/>
                    <a:lstStyle/>
                    <a:p>
                      <a:pPr marL="6356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상황요인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A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2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>
                          <a:solidFill>
                            <a:srgbClr val="25252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리더 스타일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  <a:buNone/>
                      </a:pPr>
                      <a:endParaRPr sz="18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>
                          <a:solidFill>
                            <a:srgbClr val="25252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시설요인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  <a:buNone/>
                      </a:pPr>
                      <a:endParaRPr sz="18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>
                          <a:solidFill>
                            <a:srgbClr val="25252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주변사람</a:t>
                      </a:r>
                      <a:endParaRPr sz="1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4AA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96" name="Google Shape;696;p47"/>
          <p:cNvSpPr txBox="1"/>
          <p:nvPr/>
        </p:nvSpPr>
        <p:spPr>
          <a:xfrm>
            <a:off x="505596" y="2222766"/>
            <a:ext cx="1802764" cy="138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85800" marR="67881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52525"/>
                </a:solidFill>
                <a:latin typeface="Malgun Gothic"/>
                <a:ea typeface="Malgun Gothic"/>
                <a:cs typeface="Malgun Gothic"/>
                <a:sym typeface="Malgun Gothic"/>
              </a:rPr>
              <a:t>욕구  흥미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52525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라이프스타일  </a:t>
            </a:r>
            <a:endParaRPr sz="1800" b="1">
              <a:solidFill>
                <a:srgbClr val="25252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252525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인구통계학적 특성  성격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8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sp>
        <p:nvSpPr>
          <p:cNvPr id="702" name="Google Shape;702;p48"/>
          <p:cNvSpPr/>
          <p:nvPr/>
        </p:nvSpPr>
        <p:spPr>
          <a:xfrm>
            <a:off x="625210" y="686272"/>
            <a:ext cx="47838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여가레크리에이션 동기에 영향을 미치는 요인</a:t>
            </a:r>
            <a:endParaRPr/>
          </a:p>
        </p:txBody>
      </p:sp>
      <p:pic>
        <p:nvPicPr>
          <p:cNvPr id="703" name="Google Shape;703;p48" descr="Z:\180_[KCU]-[2011-2학기 5개 과목]\03.범죄심리학\04_library\00_psd\도식\num_bo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48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5" name="Google Shape;705;p48"/>
          <p:cNvGrpSpPr/>
          <p:nvPr/>
        </p:nvGrpSpPr>
        <p:grpSpPr>
          <a:xfrm>
            <a:off x="143386" y="1203598"/>
            <a:ext cx="8749093" cy="380614"/>
            <a:chOff x="-3558356" y="1180752"/>
            <a:chExt cx="2880320" cy="380614"/>
          </a:xfrm>
        </p:grpSpPr>
        <p:grpSp>
          <p:nvGrpSpPr>
            <p:cNvPr id="706" name="Google Shape;706;p48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707" name="Google Shape;707;p48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708" name="Google Shape;708;p48" descr="7.png"/>
              <p:cNvPicPr preferRelativeResize="0"/>
              <p:nvPr/>
            </p:nvPicPr>
            <p:blipFill rotWithShape="1">
              <a:blip r:embed="rId4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709" name="Google Shape;709;p48"/>
            <p:cNvSpPr txBox="1"/>
            <p:nvPr/>
          </p:nvSpPr>
          <p:spPr>
            <a:xfrm>
              <a:off x="-3558356" y="1180752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여가레크리에이션 동기를 확인하면 안다~ (여가레크리에이션 동기검사척도)</a:t>
              </a:r>
              <a:endParaRPr/>
            </a:p>
          </p:txBody>
        </p:sp>
      </p:grpSp>
      <p:graphicFrame>
        <p:nvGraphicFramePr>
          <p:cNvPr id="710" name="Google Shape;710;p48"/>
          <p:cNvGraphicFramePr/>
          <p:nvPr/>
        </p:nvGraphicFramePr>
        <p:xfrm>
          <a:off x="426811" y="1707654"/>
          <a:ext cx="8393675" cy="3168450"/>
        </p:xfrm>
        <a:graphic>
          <a:graphicData uri="http://schemas.openxmlformats.org/drawingml/2006/table">
            <a:tbl>
              <a:tblPr firstRow="1" bandRow="1">
                <a:noFill/>
                <a:tableStyleId>{7C09007B-3FA5-4310-90EF-284CB8B2D65E}</a:tableStyleId>
              </a:tblPr>
              <a:tblGrid>
                <a:gridCol w="94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050">
                <a:tc>
                  <a:txBody>
                    <a:bodyPr/>
                    <a:lstStyle/>
                    <a:p>
                      <a:pPr marL="6286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하위요인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항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50">
                <a:tc rowSpan="8">
                  <a:txBody>
                    <a:bodyPr/>
                    <a:lstStyle/>
                    <a:p>
                      <a:pPr marL="6286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외적동기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1. 주변사람들에게 깊은 인상을 주고 싶기 때문에 여가활동에 참가한다.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2. 주변사람들에게 내가 여가활동을 잘 한다고 인정받고 싶기 때문이다.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3. 여가활동을 하지 않으면 내 자신에 대하여 부정적 생각이 들기 때문이다.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4. 여가활동을 통해 사람들이 나를 좋아해주길 바라기 때문이다.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5. 사회적으로 여가활동을 해야 될 것 같기 때문이다.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6. 내 주변에서는 여가활동을 하는 것이 규칙이기 때문이다.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7. 여가활동을 하지 않으면 주변사람들에게 인정받지 못할 것 같아서이다.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8. 여가활동을 가족들이 원하기 때문이다.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9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sp>
        <p:nvSpPr>
          <p:cNvPr id="716" name="Google Shape;716;p49"/>
          <p:cNvSpPr/>
          <p:nvPr/>
        </p:nvSpPr>
        <p:spPr>
          <a:xfrm>
            <a:off x="625210" y="686272"/>
            <a:ext cx="47838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여가레크리에이션 동기에 영향을 미치는 요인</a:t>
            </a:r>
            <a:endParaRPr/>
          </a:p>
        </p:txBody>
      </p:sp>
      <p:pic>
        <p:nvPicPr>
          <p:cNvPr id="717" name="Google Shape;717;p49" descr="Z:\180_[KCU]-[2011-2학기 5개 과목]\03.범죄심리학\04_library\00_psd\도식\num_bo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49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9" name="Google Shape;719;p49"/>
          <p:cNvGrpSpPr/>
          <p:nvPr/>
        </p:nvGrpSpPr>
        <p:grpSpPr>
          <a:xfrm>
            <a:off x="143386" y="1203598"/>
            <a:ext cx="8749093" cy="380614"/>
            <a:chOff x="-3558356" y="1180752"/>
            <a:chExt cx="2880320" cy="380614"/>
          </a:xfrm>
        </p:grpSpPr>
        <p:grpSp>
          <p:nvGrpSpPr>
            <p:cNvPr id="720" name="Google Shape;720;p49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721" name="Google Shape;721;p49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722" name="Google Shape;722;p49" descr="7.png"/>
              <p:cNvPicPr preferRelativeResize="0"/>
              <p:nvPr/>
            </p:nvPicPr>
            <p:blipFill rotWithShape="1">
              <a:blip r:embed="rId4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723" name="Google Shape;723;p49"/>
            <p:cNvSpPr txBox="1"/>
            <p:nvPr/>
          </p:nvSpPr>
          <p:spPr>
            <a:xfrm>
              <a:off x="-3558356" y="1180752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여가레크리에이션 동기를 확인하면 안다~ (여가레크리에이션 동기검사척도)</a:t>
              </a:r>
              <a:endParaRPr/>
            </a:p>
          </p:txBody>
        </p:sp>
      </p:grpSp>
      <p:graphicFrame>
        <p:nvGraphicFramePr>
          <p:cNvPr id="724" name="Google Shape;724;p49"/>
          <p:cNvGraphicFramePr/>
          <p:nvPr/>
        </p:nvGraphicFramePr>
        <p:xfrm>
          <a:off x="454802" y="1707654"/>
          <a:ext cx="8290175" cy="3403905"/>
        </p:xfrm>
        <a:graphic>
          <a:graphicData uri="http://schemas.openxmlformats.org/drawingml/2006/table">
            <a:tbl>
              <a:tblPr firstRow="1" bandRow="1">
                <a:noFill/>
                <a:tableStyleId>{7C09007B-3FA5-4310-90EF-284CB8B2D65E}</a:tableStyleId>
              </a:tblPr>
              <a:tblGrid>
                <a:gridCol w="97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25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하위요인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54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항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25">
                <a:tc rowSpan="4">
                  <a:txBody>
                    <a:bodyPr/>
                    <a:lstStyle/>
                    <a:p>
                      <a:pPr marL="1784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무동기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9. 나는 어느 여가활동에도 흥미가 없다.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10. 나는 내가 왜 이 여가활동을 하고 있는지 모르겠고 관심도 없다.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11. 나는 여가활동을 거의 하지 않는다.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12. 나는 여가활동에 대하여 진지하게 생각해 본적이 없다.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25">
                <a:tc rowSpan="5"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내적동기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13. 살면서 사용할 수 있는 기술들을 개발하는데 도움을 주기  때문에  참가한다.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14. 여가활동은 내가 되고 싶은 사람이 되는데 도움이 되기 때문이다.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15. 내가 하는 여가활동이 나에게 중요하기 때문이다.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16. 어떻게 여가활동들이 이루어지는지 알고 싶기 때문이다.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 17. 여가활동을 통해서 재미있게 놀고 싶기 때문이다.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0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sp>
        <p:nvSpPr>
          <p:cNvPr id="730" name="Google Shape;730;p50"/>
          <p:cNvSpPr/>
          <p:nvPr/>
        </p:nvSpPr>
        <p:spPr>
          <a:xfrm>
            <a:off x="625210" y="686272"/>
            <a:ext cx="57469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여가레크리에이션 동기에 영향을 미치는 요인</a:t>
            </a:r>
            <a:endParaRPr/>
          </a:p>
        </p:txBody>
      </p:sp>
      <p:pic>
        <p:nvPicPr>
          <p:cNvPr id="731" name="Google Shape;731;p50" descr="Z:\180_[KCU]-[2011-2학기 5개 과목]\03.범죄심리학\04_library\00_psd\도식\num_bo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0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3" name="Google Shape;733;p50"/>
          <p:cNvGrpSpPr/>
          <p:nvPr/>
        </p:nvGrpSpPr>
        <p:grpSpPr>
          <a:xfrm>
            <a:off x="143387" y="1203598"/>
            <a:ext cx="3852550" cy="380614"/>
            <a:chOff x="-3558356" y="1180752"/>
            <a:chExt cx="2880320" cy="380614"/>
          </a:xfrm>
        </p:grpSpPr>
        <p:grpSp>
          <p:nvGrpSpPr>
            <p:cNvPr id="734" name="Google Shape;734;p50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735" name="Google Shape;735;p50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736" name="Google Shape;736;p50" descr="7.png"/>
              <p:cNvPicPr preferRelativeResize="0"/>
              <p:nvPr/>
            </p:nvPicPr>
            <p:blipFill rotWithShape="1">
              <a:blip r:embed="rId4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737" name="Google Shape;737;p50"/>
            <p:cNvSpPr txBox="1"/>
            <p:nvPr/>
          </p:nvSpPr>
          <p:spPr>
            <a:xfrm>
              <a:off x="-3558356" y="1180752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소득계층별 여가의 동기</a:t>
              </a:r>
              <a:endParaRPr sz="1800" b="1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738" name="Google Shape;738;p50"/>
          <p:cNvGraphicFramePr/>
          <p:nvPr/>
        </p:nvGraphicFramePr>
        <p:xfrm>
          <a:off x="305295" y="1707654"/>
          <a:ext cx="7858175" cy="3240300"/>
        </p:xfrm>
        <a:graphic>
          <a:graphicData uri="http://schemas.openxmlformats.org/drawingml/2006/table">
            <a:tbl>
              <a:tblPr firstRow="1" bandRow="1">
                <a:noFill/>
                <a:tableStyleId>{7C09007B-3FA5-4310-90EF-284CB8B2D65E}</a:tableStyleId>
              </a:tblPr>
              <a:tblGrid>
                <a:gridCol w="242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7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5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0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 분</a:t>
                      </a:r>
                      <a:endParaRPr sz="16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6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만원이하</a:t>
                      </a:r>
                      <a:endParaRPr sz="16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101-200</a:t>
                      </a:r>
                      <a:endParaRPr sz="16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만원</a:t>
                      </a:r>
                      <a:endParaRPr sz="16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201-300</a:t>
                      </a:r>
                      <a:endParaRPr sz="16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만원</a:t>
                      </a:r>
                      <a:endParaRPr sz="16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301-400</a:t>
                      </a:r>
                      <a:endParaRPr sz="16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만원</a:t>
                      </a:r>
                      <a:endParaRPr sz="16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401</a:t>
                      </a:r>
                      <a:endParaRPr sz="16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만원이상</a:t>
                      </a:r>
                      <a:endParaRPr sz="160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사례수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148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479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909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620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395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건강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461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39.2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3339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24.4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461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18.0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461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17.6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88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20.0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대인관계 및 교제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24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9.5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397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8.1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24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8.3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461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9.0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651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9.6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개인적 즐거움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24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27.7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3339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37.0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24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36.6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461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33.7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651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27.6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새로운 지식이나 정보습득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24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397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3.3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24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3.9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461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4.5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651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4.6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일의 능률 향상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24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4.1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397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4.4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24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5.5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461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5.2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651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5.3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스트레스해소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24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14.9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3339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20.0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24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23.8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461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24.7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651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26.6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자아실현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24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397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24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461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5.3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651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5.8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기타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88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.7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461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.2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88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.6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24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715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.5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524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100.0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3339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100.0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461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100.0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461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100.0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5651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100.0</a:t>
                      </a:r>
                      <a:endParaRPr sz="1600" b="1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1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sp>
        <p:nvSpPr>
          <p:cNvPr id="744" name="Google Shape;744;p51"/>
          <p:cNvSpPr/>
          <p:nvPr/>
        </p:nvSpPr>
        <p:spPr>
          <a:xfrm>
            <a:off x="625210" y="686272"/>
            <a:ext cx="47838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여가레크리에이션 동기에 영향을 미치는 요인</a:t>
            </a:r>
            <a:endParaRPr/>
          </a:p>
        </p:txBody>
      </p:sp>
      <p:pic>
        <p:nvPicPr>
          <p:cNvPr id="745" name="Google Shape;745;p51" descr="Z:\180_[KCU]-[2011-2학기 5개 과목]\03.범죄심리학\04_library\00_psd\도식\num_bo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51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7" name="Google Shape;747;p51"/>
          <p:cNvGrpSpPr/>
          <p:nvPr/>
        </p:nvGrpSpPr>
        <p:grpSpPr>
          <a:xfrm>
            <a:off x="143387" y="1203598"/>
            <a:ext cx="3852550" cy="380614"/>
            <a:chOff x="-3558356" y="1180752"/>
            <a:chExt cx="2880320" cy="380614"/>
          </a:xfrm>
        </p:grpSpPr>
        <p:grpSp>
          <p:nvGrpSpPr>
            <p:cNvPr id="748" name="Google Shape;748;p51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749" name="Google Shape;749;p51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750" name="Google Shape;750;p51" descr="7.png"/>
              <p:cNvPicPr preferRelativeResize="0"/>
              <p:nvPr/>
            </p:nvPicPr>
            <p:blipFill rotWithShape="1">
              <a:blip r:embed="rId4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751" name="Google Shape;751;p51"/>
            <p:cNvSpPr txBox="1"/>
            <p:nvPr/>
          </p:nvSpPr>
          <p:spPr>
            <a:xfrm>
              <a:off x="-3558356" y="1180752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여가비용과 여가활동</a:t>
              </a:r>
              <a:endParaRPr sz="1800" b="1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52" name="Google Shape;752;p51"/>
          <p:cNvPicPr preferRelativeResize="0"/>
          <p:nvPr/>
        </p:nvPicPr>
        <p:blipFill rotWithShape="1">
          <a:blip r:embed="rId5">
            <a:alphaModFix/>
          </a:blip>
          <a:srcRect t="10361"/>
          <a:stretch/>
        </p:blipFill>
        <p:spPr>
          <a:xfrm>
            <a:off x="259160" y="1635646"/>
            <a:ext cx="8633320" cy="3654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52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sp>
        <p:nvSpPr>
          <p:cNvPr id="758" name="Google Shape;758;p52"/>
          <p:cNvSpPr/>
          <p:nvPr/>
        </p:nvSpPr>
        <p:spPr>
          <a:xfrm>
            <a:off x="625210" y="686272"/>
            <a:ext cx="47838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여가레크리에이션 동기에 영향을 미치는 요인</a:t>
            </a:r>
            <a:endParaRPr/>
          </a:p>
        </p:txBody>
      </p:sp>
      <p:pic>
        <p:nvPicPr>
          <p:cNvPr id="759" name="Google Shape;759;p52" descr="Z:\180_[KCU]-[2011-2학기 5개 과목]\03.범죄심리학\04_library\00_psd\도식\num_bo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52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1" name="Google Shape;761;p52"/>
          <p:cNvGrpSpPr/>
          <p:nvPr/>
        </p:nvGrpSpPr>
        <p:grpSpPr>
          <a:xfrm>
            <a:off x="143387" y="1217448"/>
            <a:ext cx="3852550" cy="366764"/>
            <a:chOff x="-3558356" y="1194602"/>
            <a:chExt cx="2880320" cy="366764"/>
          </a:xfrm>
        </p:grpSpPr>
        <p:grpSp>
          <p:nvGrpSpPr>
            <p:cNvPr id="762" name="Google Shape;762;p52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763" name="Google Shape;763;p52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764" name="Google Shape;764;p52" descr="7.png"/>
              <p:cNvPicPr preferRelativeResize="0"/>
              <p:nvPr/>
            </p:nvPicPr>
            <p:blipFill rotWithShape="1">
              <a:blip r:embed="rId4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765" name="Google Shape;765;p52"/>
            <p:cNvSpPr txBox="1"/>
            <p:nvPr/>
          </p:nvSpPr>
          <p:spPr>
            <a:xfrm>
              <a:off x="-3558356" y="1194602"/>
              <a:ext cx="2880320" cy="3416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1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Maslow (1954)의 욕구단계이론</a:t>
              </a:r>
              <a:endParaRPr sz="18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66" name="Google Shape;766;p52"/>
          <p:cNvPicPr preferRelativeResize="0"/>
          <p:nvPr/>
        </p:nvPicPr>
        <p:blipFill rotWithShape="1">
          <a:blip r:embed="rId5">
            <a:alphaModFix/>
          </a:blip>
          <a:srcRect l="6623" t="5589"/>
          <a:stretch/>
        </p:blipFill>
        <p:spPr>
          <a:xfrm>
            <a:off x="143387" y="1707654"/>
            <a:ext cx="5475868" cy="327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3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sp>
        <p:nvSpPr>
          <p:cNvPr id="772" name="Google Shape;772;p53"/>
          <p:cNvSpPr/>
          <p:nvPr/>
        </p:nvSpPr>
        <p:spPr>
          <a:xfrm>
            <a:off x="625210" y="686272"/>
            <a:ext cx="47838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여가레크리에이션 동기에 영향을 미치는 요인</a:t>
            </a:r>
            <a:endParaRPr/>
          </a:p>
        </p:txBody>
      </p:sp>
      <p:pic>
        <p:nvPicPr>
          <p:cNvPr id="773" name="Google Shape;773;p53" descr="Z:\180_[KCU]-[2011-2학기 5개 과목]\03.범죄심리학\04_library\00_psd\도식\num_bo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53"/>
          <p:cNvSpPr txBox="1"/>
          <p:nvPr/>
        </p:nvSpPr>
        <p:spPr>
          <a:xfrm>
            <a:off x="305295" y="698736"/>
            <a:ext cx="243030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53"/>
          <p:cNvSpPr/>
          <p:nvPr/>
        </p:nvSpPr>
        <p:spPr>
          <a:xfrm>
            <a:off x="199048" y="1266314"/>
            <a:ext cx="7901344" cy="341632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Kohlberg (1969)의 도덕발달이론을 여가행동에 적용되게 수정한 모형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6" name="Google Shape;776;p53"/>
          <p:cNvPicPr preferRelativeResize="0"/>
          <p:nvPr/>
        </p:nvPicPr>
        <p:blipFill rotWithShape="1">
          <a:blip r:embed="rId4">
            <a:alphaModFix/>
          </a:blip>
          <a:srcRect l="11116" t="11889" r="9041" b="3357"/>
          <a:stretch/>
        </p:blipFill>
        <p:spPr>
          <a:xfrm>
            <a:off x="422762" y="1779662"/>
            <a:ext cx="4785271" cy="3056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4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grpSp>
        <p:nvGrpSpPr>
          <p:cNvPr id="782" name="Google Shape;782;p54"/>
          <p:cNvGrpSpPr/>
          <p:nvPr/>
        </p:nvGrpSpPr>
        <p:grpSpPr>
          <a:xfrm>
            <a:off x="143386" y="1203599"/>
            <a:ext cx="4548017" cy="380613"/>
            <a:chOff x="-3558356" y="1180753"/>
            <a:chExt cx="2880320" cy="380613"/>
          </a:xfrm>
        </p:grpSpPr>
        <p:grpSp>
          <p:nvGrpSpPr>
            <p:cNvPr id="783" name="Google Shape;783;p54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784" name="Google Shape;784;p54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785" name="Google Shape;785;p54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786" name="Google Shape;786;p54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 동기 = 여가참여동기</a:t>
              </a:r>
              <a:endParaRPr/>
            </a:p>
          </p:txBody>
        </p:sp>
      </p:grpSp>
      <p:sp>
        <p:nvSpPr>
          <p:cNvPr id="787" name="Google Shape;787;p54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내적 동기 올리는 법</a:t>
            </a:r>
            <a:endParaRPr/>
          </a:p>
        </p:txBody>
      </p:sp>
      <p:pic>
        <p:nvPicPr>
          <p:cNvPr id="788" name="Google Shape;788;p54" descr="Z:\180_[KCU]-[2011-2학기 5개 과목]\03.범죄심리학\04_library\00_psd\도식\num_bo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54"/>
          <p:cNvSpPr txBox="1"/>
          <p:nvPr/>
        </p:nvSpPr>
        <p:spPr>
          <a:xfrm>
            <a:off x="224072" y="698734"/>
            <a:ext cx="390441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0" name="Google Shape;790;p54"/>
          <p:cNvGrpSpPr/>
          <p:nvPr/>
        </p:nvGrpSpPr>
        <p:grpSpPr>
          <a:xfrm>
            <a:off x="143386" y="1203599"/>
            <a:ext cx="4500623" cy="380613"/>
            <a:chOff x="-3558356" y="1180753"/>
            <a:chExt cx="2880320" cy="380613"/>
          </a:xfrm>
        </p:grpSpPr>
        <p:grpSp>
          <p:nvGrpSpPr>
            <p:cNvPr id="791" name="Google Shape;791;p54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792" name="Google Shape;792;p54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793" name="Google Shape;793;p54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794" name="Google Shape;794;p54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헌대인들의 여가참여 동기</a:t>
              </a:r>
              <a:endParaRPr/>
            </a:p>
          </p:txBody>
        </p:sp>
      </p:grpSp>
      <p:grpSp>
        <p:nvGrpSpPr>
          <p:cNvPr id="795" name="Google Shape;795;p54"/>
          <p:cNvGrpSpPr/>
          <p:nvPr/>
        </p:nvGrpSpPr>
        <p:grpSpPr>
          <a:xfrm>
            <a:off x="143387" y="1203599"/>
            <a:ext cx="4572630" cy="380613"/>
            <a:chOff x="-3558356" y="1180753"/>
            <a:chExt cx="2880320" cy="380613"/>
          </a:xfrm>
        </p:grpSpPr>
        <p:grpSp>
          <p:nvGrpSpPr>
            <p:cNvPr id="796" name="Google Shape;796;p54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797" name="Google Shape;797;p54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798" name="Google Shape;798;p54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799" name="Google Shape;799;p54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무동기에 영향을 주는 방법</a:t>
              </a:r>
              <a:endParaRPr/>
            </a:p>
          </p:txBody>
        </p:sp>
      </p:grpSp>
      <p:sp>
        <p:nvSpPr>
          <p:cNvPr id="800" name="Google Shape;800;p54"/>
          <p:cNvSpPr/>
          <p:nvPr/>
        </p:nvSpPr>
        <p:spPr>
          <a:xfrm>
            <a:off x="232015" y="1624350"/>
            <a:ext cx="7745116" cy="2963624"/>
          </a:xfrm>
          <a:prstGeom prst="roundRect">
            <a:avLst>
              <a:gd name="adj" fmla="val 3362"/>
            </a:avLst>
          </a:prstGeom>
          <a:solidFill>
            <a:srgbClr val="FFFFFF"/>
          </a:solidFill>
          <a:ln w="12700" cap="flat" cmpd="sng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1" name="Google Shape;801;p54"/>
          <p:cNvSpPr/>
          <p:nvPr/>
        </p:nvSpPr>
        <p:spPr>
          <a:xfrm>
            <a:off x="426809" y="1742208"/>
            <a:ext cx="7529567" cy="18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내적 동기를 끌어올리면 뜯어 말려도 공부한다!!!</a:t>
            </a:r>
            <a:endParaRPr/>
          </a:p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내적 동기를 올려주면 여가활동에 좋은 영향을 미친다</a:t>
            </a:r>
            <a:endParaRPr sz="1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그럼 어떻게???</a:t>
            </a:r>
            <a:endParaRPr/>
          </a:p>
          <a:p>
            <a:pPr marL="298450" marR="232409" lvl="0" indent="-285750" algn="l" rtl="0">
              <a:lnSpc>
                <a:spcPct val="1602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외적동기를 사용해야 한다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5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grpSp>
        <p:nvGrpSpPr>
          <p:cNvPr id="807" name="Google Shape;807;p55"/>
          <p:cNvGrpSpPr/>
          <p:nvPr/>
        </p:nvGrpSpPr>
        <p:grpSpPr>
          <a:xfrm>
            <a:off x="143387" y="1203599"/>
            <a:ext cx="4572630" cy="380613"/>
            <a:chOff x="-3558356" y="1180753"/>
            <a:chExt cx="2880320" cy="380613"/>
          </a:xfrm>
        </p:grpSpPr>
        <p:grpSp>
          <p:nvGrpSpPr>
            <p:cNvPr id="808" name="Google Shape;808;p55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809" name="Google Shape;809;p55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810" name="Google Shape;810;p55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811" name="Google Shape;811;p55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무동기에 영향을 주는 방법</a:t>
              </a:r>
              <a:endParaRPr/>
            </a:p>
          </p:txBody>
        </p:sp>
      </p:grpSp>
      <p:grpSp>
        <p:nvGrpSpPr>
          <p:cNvPr id="812" name="Google Shape;812;p55"/>
          <p:cNvGrpSpPr/>
          <p:nvPr/>
        </p:nvGrpSpPr>
        <p:grpSpPr>
          <a:xfrm>
            <a:off x="305589" y="1791912"/>
            <a:ext cx="4964341" cy="2075981"/>
            <a:chOff x="294" y="48254"/>
            <a:chExt cx="4964341" cy="2075981"/>
          </a:xfrm>
        </p:grpSpPr>
        <p:sp>
          <p:nvSpPr>
            <p:cNvPr id="813" name="Google Shape;813;p55"/>
            <p:cNvSpPr/>
            <p:nvPr/>
          </p:nvSpPr>
          <p:spPr>
            <a:xfrm>
              <a:off x="294" y="48254"/>
              <a:ext cx="1749837" cy="820800"/>
            </a:xfrm>
            <a:prstGeom prst="roundRect">
              <a:avLst>
                <a:gd name="adj" fmla="val 10000"/>
              </a:avLst>
            </a:prstGeom>
            <a:solidFill>
              <a:srgbClr val="49ACC5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55"/>
            <p:cNvSpPr txBox="1"/>
            <p:nvPr/>
          </p:nvSpPr>
          <p:spPr>
            <a:xfrm>
              <a:off x="294" y="48254"/>
              <a:ext cx="1749837" cy="54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128000" rIns="128000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통제적 보상</a:t>
              </a:r>
              <a:endParaRPr/>
            </a:p>
          </p:txBody>
        </p:sp>
        <p:sp>
          <p:nvSpPr>
            <p:cNvPr id="815" name="Google Shape;815;p55"/>
            <p:cNvSpPr/>
            <p:nvPr/>
          </p:nvSpPr>
          <p:spPr>
            <a:xfrm>
              <a:off x="306750" y="565382"/>
              <a:ext cx="1847461" cy="1558853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25400" cap="flat" cmpd="sng">
              <a:solidFill>
                <a:srgbClr val="49AC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55"/>
            <p:cNvSpPr txBox="1"/>
            <p:nvPr/>
          </p:nvSpPr>
          <p:spPr>
            <a:xfrm>
              <a:off x="352407" y="611039"/>
              <a:ext cx="1756147" cy="1467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128000" rIns="128000" bIns="128000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ko-KR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수학1점    올리면 만원 줄께~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5"/>
            <p:cNvSpPr/>
            <p:nvPr/>
          </p:nvSpPr>
          <p:spPr>
            <a:xfrm rot="58523">
              <a:off x="2027561" y="128652"/>
              <a:ext cx="588325" cy="435658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49AC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55"/>
            <p:cNvSpPr txBox="1"/>
            <p:nvPr/>
          </p:nvSpPr>
          <p:spPr>
            <a:xfrm rot="58523">
              <a:off x="2027570" y="214672"/>
              <a:ext cx="457628" cy="2613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5"/>
            <p:cNvSpPr/>
            <p:nvPr/>
          </p:nvSpPr>
          <p:spPr>
            <a:xfrm>
              <a:off x="2860019" y="96942"/>
              <a:ext cx="1749837" cy="820800"/>
            </a:xfrm>
            <a:prstGeom prst="roundRect">
              <a:avLst>
                <a:gd name="adj" fmla="val 10000"/>
              </a:avLst>
            </a:prstGeom>
            <a:solidFill>
              <a:srgbClr val="F69444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55"/>
            <p:cNvSpPr txBox="1"/>
            <p:nvPr/>
          </p:nvSpPr>
          <p:spPr>
            <a:xfrm>
              <a:off x="2860019" y="96942"/>
              <a:ext cx="1749837" cy="54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128000" rIns="128000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외적 동기</a:t>
              </a:r>
              <a:endParaRPr/>
            </a:p>
          </p:txBody>
        </p:sp>
        <p:sp>
          <p:nvSpPr>
            <p:cNvPr id="821" name="Google Shape;821;p55"/>
            <p:cNvSpPr/>
            <p:nvPr/>
          </p:nvSpPr>
          <p:spPr>
            <a:xfrm>
              <a:off x="3214798" y="644794"/>
              <a:ext cx="1749837" cy="1364102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25400" cap="flat" cmpd="sng">
              <a:solidFill>
                <a:srgbClr val="F694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55"/>
            <p:cNvSpPr txBox="1"/>
            <p:nvPr/>
          </p:nvSpPr>
          <p:spPr>
            <a:xfrm>
              <a:off x="3254751" y="684747"/>
              <a:ext cx="1669931" cy="1284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128000" rIns="128000" bIns="128000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ko-KR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오~ 만원!!! 공부해서   돈 벌어야지</a:t>
              </a:r>
              <a:endParaRPr/>
            </a:p>
          </p:txBody>
        </p:sp>
      </p:grpSp>
      <p:sp>
        <p:nvSpPr>
          <p:cNvPr id="823" name="Google Shape;823;p55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내적 동기 올리는 법</a:t>
            </a:r>
            <a:endParaRPr/>
          </a:p>
        </p:txBody>
      </p:sp>
      <p:pic>
        <p:nvPicPr>
          <p:cNvPr id="824" name="Google Shape;824;p55" descr="Z:\180_[KCU]-[2011-2학기 5개 과목]\03.범죄심리학\04_library\00_psd\도식\num_bo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55"/>
          <p:cNvSpPr txBox="1"/>
          <p:nvPr/>
        </p:nvSpPr>
        <p:spPr>
          <a:xfrm>
            <a:off x="224072" y="698734"/>
            <a:ext cx="390441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6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grpSp>
        <p:nvGrpSpPr>
          <p:cNvPr id="831" name="Google Shape;831;p56"/>
          <p:cNvGrpSpPr/>
          <p:nvPr/>
        </p:nvGrpSpPr>
        <p:grpSpPr>
          <a:xfrm>
            <a:off x="143387" y="1203599"/>
            <a:ext cx="4572630" cy="380613"/>
            <a:chOff x="-3558356" y="1180753"/>
            <a:chExt cx="2880320" cy="380613"/>
          </a:xfrm>
        </p:grpSpPr>
        <p:grpSp>
          <p:nvGrpSpPr>
            <p:cNvPr id="832" name="Google Shape;832;p56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833" name="Google Shape;833;p56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834" name="Google Shape;834;p56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835" name="Google Shape;835;p56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무동기에 영향을 주는 방법</a:t>
              </a:r>
              <a:endParaRPr/>
            </a:p>
          </p:txBody>
        </p:sp>
      </p:grpSp>
      <p:grpSp>
        <p:nvGrpSpPr>
          <p:cNvPr id="836" name="Google Shape;836;p56"/>
          <p:cNvGrpSpPr/>
          <p:nvPr/>
        </p:nvGrpSpPr>
        <p:grpSpPr>
          <a:xfrm>
            <a:off x="307352" y="1919783"/>
            <a:ext cx="4806455" cy="2380158"/>
            <a:chOff x="2057" y="176125"/>
            <a:chExt cx="4806455" cy="2380158"/>
          </a:xfrm>
        </p:grpSpPr>
        <p:sp>
          <p:nvSpPr>
            <p:cNvPr id="837" name="Google Shape;837;p56"/>
            <p:cNvSpPr/>
            <p:nvPr/>
          </p:nvSpPr>
          <p:spPr>
            <a:xfrm>
              <a:off x="2057" y="176125"/>
              <a:ext cx="1765946" cy="771780"/>
            </a:xfrm>
            <a:prstGeom prst="roundRect">
              <a:avLst>
                <a:gd name="adj" fmla="val 10000"/>
              </a:avLst>
            </a:prstGeom>
            <a:solidFill>
              <a:srgbClr val="49ACC5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56"/>
            <p:cNvSpPr txBox="1"/>
            <p:nvPr/>
          </p:nvSpPr>
          <p:spPr>
            <a:xfrm>
              <a:off x="2057" y="176125"/>
              <a:ext cx="1765946" cy="514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128000" rIns="128000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정보적 보상</a:t>
              </a:r>
              <a:endParaRPr/>
            </a:p>
          </p:txBody>
        </p:sp>
        <p:sp>
          <p:nvSpPr>
            <p:cNvPr id="839" name="Google Shape;839;p56"/>
            <p:cNvSpPr/>
            <p:nvPr/>
          </p:nvSpPr>
          <p:spPr>
            <a:xfrm>
              <a:off x="358459" y="790058"/>
              <a:ext cx="1765946" cy="1766225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25400" cap="flat" cmpd="sng">
              <a:solidFill>
                <a:srgbClr val="49AC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6"/>
            <p:cNvSpPr txBox="1"/>
            <p:nvPr/>
          </p:nvSpPr>
          <p:spPr>
            <a:xfrm>
              <a:off x="410182" y="841781"/>
              <a:ext cx="1662500" cy="16627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128000" rIns="128000" bIns="128000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ko-KR" sz="1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성적이 올랐네? 우리 외식하면서 축하하자~</a:t>
              </a:r>
              <a:endPara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6"/>
            <p:cNvSpPr/>
            <p:nvPr/>
          </p:nvSpPr>
          <p:spPr>
            <a:xfrm rot="55898">
              <a:off x="2035677" y="236877"/>
              <a:ext cx="567622" cy="439669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49AC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6"/>
            <p:cNvSpPr txBox="1"/>
            <p:nvPr/>
          </p:nvSpPr>
          <p:spPr>
            <a:xfrm rot="55898">
              <a:off x="2035686" y="323739"/>
              <a:ext cx="435721" cy="2638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6"/>
            <p:cNvSpPr/>
            <p:nvPr/>
          </p:nvSpPr>
          <p:spPr>
            <a:xfrm>
              <a:off x="2838848" y="222255"/>
              <a:ext cx="1765946" cy="771780"/>
            </a:xfrm>
            <a:prstGeom prst="roundRect">
              <a:avLst>
                <a:gd name="adj" fmla="val 10000"/>
              </a:avLst>
            </a:prstGeom>
            <a:solidFill>
              <a:srgbClr val="F69444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6"/>
            <p:cNvSpPr txBox="1"/>
            <p:nvPr/>
          </p:nvSpPr>
          <p:spPr>
            <a:xfrm>
              <a:off x="2838848" y="222255"/>
              <a:ext cx="1765946" cy="514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128000" rIns="128000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내적 동기</a:t>
              </a:r>
              <a:endParaRPr/>
            </a:p>
          </p:txBody>
        </p:sp>
        <p:sp>
          <p:nvSpPr>
            <p:cNvPr id="845" name="Google Shape;845;p56"/>
            <p:cNvSpPr/>
            <p:nvPr/>
          </p:nvSpPr>
          <p:spPr>
            <a:xfrm>
              <a:off x="3042566" y="974578"/>
              <a:ext cx="1765946" cy="1581705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25400" cap="flat" cmpd="sng">
              <a:solidFill>
                <a:srgbClr val="F694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56"/>
            <p:cNvSpPr txBox="1"/>
            <p:nvPr/>
          </p:nvSpPr>
          <p:spPr>
            <a:xfrm>
              <a:off x="3088893" y="1020905"/>
              <a:ext cx="1673292" cy="1489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Malgun Gothic"/>
                <a:buChar char="•"/>
              </a:pPr>
              <a:r>
                <a:rPr lang="ko-KR" sz="15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우아 이렇게 좋아하시니까 열심히 공부해야 겠다~</a:t>
              </a:r>
              <a:endParaRPr sz="15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847" name="Google Shape;847;p56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내적 동기 올리는 법</a:t>
            </a:r>
            <a:endParaRPr/>
          </a:p>
        </p:txBody>
      </p:sp>
      <p:pic>
        <p:nvPicPr>
          <p:cNvPr id="848" name="Google Shape;848;p56" descr="Z:\180_[KCU]-[2011-2학기 5개 과목]\03.범죄심리학\04_library\00_psd\도식\num_bo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6"/>
          <p:cNvSpPr txBox="1"/>
          <p:nvPr/>
        </p:nvSpPr>
        <p:spPr>
          <a:xfrm>
            <a:off x="224072" y="698734"/>
            <a:ext cx="390441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57"/>
          <p:cNvSpPr txBox="1">
            <a:spLocks noGrp="1"/>
          </p:cNvSpPr>
          <p:nvPr>
            <p:ph type="ctrTitle"/>
          </p:nvPr>
        </p:nvSpPr>
        <p:spPr>
          <a:xfrm>
            <a:off x="324494" y="51470"/>
            <a:ext cx="8135938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1C1C"/>
              </a:buClr>
              <a:buSzPts val="2500"/>
              <a:buFont typeface="Arial"/>
              <a:buNone/>
            </a:pPr>
            <a:r>
              <a:rPr lang="ko-KR"/>
              <a:t>여가이론과 여가레크리에이션 동기 이해</a:t>
            </a:r>
            <a:endParaRPr/>
          </a:p>
        </p:txBody>
      </p:sp>
      <p:grpSp>
        <p:nvGrpSpPr>
          <p:cNvPr id="855" name="Google Shape;855;p57"/>
          <p:cNvGrpSpPr/>
          <p:nvPr/>
        </p:nvGrpSpPr>
        <p:grpSpPr>
          <a:xfrm>
            <a:off x="143386" y="1203599"/>
            <a:ext cx="4548017" cy="380613"/>
            <a:chOff x="-3558356" y="1180753"/>
            <a:chExt cx="2880320" cy="380613"/>
          </a:xfrm>
        </p:grpSpPr>
        <p:grpSp>
          <p:nvGrpSpPr>
            <p:cNvPr id="856" name="Google Shape;856;p57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857" name="Google Shape;857;p57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858" name="Google Shape;858;p57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859" name="Google Shape;859;p57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 동기 = 여가참여동기</a:t>
              </a:r>
              <a:endParaRPr/>
            </a:p>
          </p:txBody>
        </p:sp>
      </p:grpSp>
      <p:sp>
        <p:nvSpPr>
          <p:cNvPr id="860" name="Google Shape;860;p57"/>
          <p:cNvSpPr/>
          <p:nvPr/>
        </p:nvSpPr>
        <p:spPr>
          <a:xfrm>
            <a:off x="625210" y="686272"/>
            <a:ext cx="47838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4177"/>
                </a:solidFill>
                <a:latin typeface="Arial"/>
                <a:ea typeface="Arial"/>
                <a:cs typeface="Arial"/>
                <a:sym typeface="Arial"/>
              </a:rPr>
              <a:t>내적 동기 올리는 법</a:t>
            </a:r>
            <a:endParaRPr/>
          </a:p>
        </p:txBody>
      </p:sp>
      <p:grpSp>
        <p:nvGrpSpPr>
          <p:cNvPr id="861" name="Google Shape;861;p57"/>
          <p:cNvGrpSpPr/>
          <p:nvPr/>
        </p:nvGrpSpPr>
        <p:grpSpPr>
          <a:xfrm>
            <a:off x="143386" y="1203599"/>
            <a:ext cx="4500623" cy="380613"/>
            <a:chOff x="-3558356" y="1180753"/>
            <a:chExt cx="2880320" cy="380613"/>
          </a:xfrm>
        </p:grpSpPr>
        <p:grpSp>
          <p:nvGrpSpPr>
            <p:cNvPr id="862" name="Google Shape;862;p57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863" name="Google Shape;863;p57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864" name="Google Shape;864;p57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865" name="Google Shape;865;p57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헌대인들의 여가참여 동기</a:t>
              </a:r>
              <a:endParaRPr/>
            </a:p>
          </p:txBody>
        </p:sp>
      </p:grpSp>
      <p:grpSp>
        <p:nvGrpSpPr>
          <p:cNvPr id="866" name="Google Shape;866;p57"/>
          <p:cNvGrpSpPr/>
          <p:nvPr/>
        </p:nvGrpSpPr>
        <p:grpSpPr>
          <a:xfrm>
            <a:off x="143387" y="1203599"/>
            <a:ext cx="4572630" cy="380613"/>
            <a:chOff x="-3558356" y="1180753"/>
            <a:chExt cx="2880320" cy="380613"/>
          </a:xfrm>
        </p:grpSpPr>
        <p:grpSp>
          <p:nvGrpSpPr>
            <p:cNvPr id="867" name="Google Shape;867;p57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868" name="Google Shape;868;p57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869" name="Google Shape;869;p57" descr="7.png"/>
              <p:cNvPicPr preferRelativeResize="0"/>
              <p:nvPr/>
            </p:nvPicPr>
            <p:blipFill rotWithShape="1">
              <a:blip r:embed="rId3">
                <a:alphaModFix/>
              </a:blip>
              <a:srcRect l="36136" t="27801" r="50166" b="42889"/>
              <a:stretch/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</p:pic>
        </p:grpSp>
        <p:sp>
          <p:nvSpPr>
            <p:cNvPr id="870" name="Google Shape;870;p57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여가의  내적 동기를 높이기 위한 전략</a:t>
              </a:r>
              <a:endParaRPr/>
            </a:p>
          </p:txBody>
        </p:sp>
      </p:grpSp>
      <p:sp>
        <p:nvSpPr>
          <p:cNvPr id="871" name="Google Shape;871;p57"/>
          <p:cNvSpPr/>
          <p:nvPr/>
        </p:nvSpPr>
        <p:spPr>
          <a:xfrm>
            <a:off x="232015" y="1624350"/>
            <a:ext cx="4411994" cy="3179648"/>
          </a:xfrm>
          <a:prstGeom prst="roundRect">
            <a:avLst>
              <a:gd name="adj" fmla="val 3362"/>
            </a:avLst>
          </a:prstGeom>
          <a:solidFill>
            <a:srgbClr val="FFFFFF"/>
          </a:solidFill>
          <a:ln w="12700" cap="flat" cmpd="sng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2" name="Google Shape;872;p57"/>
          <p:cNvSpPr/>
          <p:nvPr/>
        </p:nvSpPr>
        <p:spPr>
          <a:xfrm>
            <a:off x="426794" y="1742200"/>
            <a:ext cx="7267200" cy="29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여가 활동의 가치 인식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의사결정에 의 참여 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622422"/>
                </a:solidFill>
                <a:latin typeface="Trebuchet MS"/>
                <a:ea typeface="Trebuchet MS"/>
                <a:cs typeface="Trebuchet MS"/>
                <a:sym typeface="Trebuchet MS"/>
              </a:rPr>
              <a:t>      (</a:t>
            </a:r>
            <a:r>
              <a:rPr lang="ko-KR" sz="1800" b="1">
                <a:solidFill>
                  <a:srgbClr val="6224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자결성</a:t>
            </a:r>
            <a:r>
              <a:rPr lang="ko-KR" sz="1800" b="1">
                <a:solidFill>
                  <a:srgbClr val="622422"/>
                </a:solidFill>
                <a:latin typeface="Trebuchet MS"/>
                <a:ea typeface="Trebuchet MS"/>
                <a:cs typeface="Trebuchet MS"/>
                <a:sym typeface="Trebuchet MS"/>
              </a:rPr>
              <a:t>:  Self-determination)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즐거움 경험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성취감 경험(실현가능한 목표설정)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자기주도 </a:t>
            </a:r>
            <a:r>
              <a:rPr lang="ko-KR" sz="1800" b="1">
                <a:solidFill>
                  <a:srgbClr val="622422"/>
                </a:solidFill>
                <a:latin typeface="Trebuchet MS"/>
                <a:ea typeface="Trebuchet MS"/>
                <a:cs typeface="Trebuchet MS"/>
                <a:sym typeface="Trebuchet MS"/>
              </a:rPr>
              <a:t>(Self-initiativeness)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언어적, 비언어적 칭찬 및 격려</a:t>
            </a:r>
            <a:endParaRPr/>
          </a:p>
        </p:txBody>
      </p:sp>
      <p:pic>
        <p:nvPicPr>
          <p:cNvPr id="873" name="Google Shape;873;p57" descr="Z:\180_[KCU]-[2011-2학기 5개 과목]\03.범죄심리학\04_library\00_psd\도식\num_bo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512" y="635582"/>
            <a:ext cx="516224" cy="470717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57"/>
          <p:cNvSpPr txBox="1"/>
          <p:nvPr/>
        </p:nvSpPr>
        <p:spPr>
          <a:xfrm>
            <a:off x="224072" y="698734"/>
            <a:ext cx="390441" cy="34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275" tIns="18125" rIns="36275" bIns="1812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D7D7D7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2000" b="1">
              <a:solidFill>
                <a:srgbClr val="D7D7D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2134</Words>
  <Application>Microsoft Office PowerPoint</Application>
  <PresentationFormat>화면 슬라이드 쇼(16:9)</PresentationFormat>
  <Paragraphs>508</Paragraphs>
  <Slides>57</Slides>
  <Notes>57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3" baseType="lpstr">
      <vt:lpstr>Noto Sans Symbols</vt:lpstr>
      <vt:lpstr>Malgun Gothic</vt:lpstr>
      <vt:lpstr>Arial</vt:lpstr>
      <vt:lpstr>Times New Roman</vt:lpstr>
      <vt:lpstr>Trebuchet MS</vt:lpstr>
      <vt:lpstr>Office 테마</vt:lpstr>
      <vt:lpstr>PowerPoint 프레젠테이션</vt:lpstr>
      <vt:lpstr>여가레크리에이션이 역사적 관점</vt:lpstr>
      <vt:lpstr>여가레크리에이션이 역사적 관점</vt:lpstr>
      <vt:lpstr>여가레크리에이션이 역사적 관점</vt:lpstr>
      <vt:lpstr>기록된 여가를 찾아서 - 고대 그리스를 아시나요?</vt:lpstr>
      <vt:lpstr> 고대 그리스를 아시나요?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여가레크리에이션이 역사적 관점</vt:lpstr>
      <vt:lpstr>PowerPoint 프레젠테이션</vt:lpstr>
      <vt:lpstr>PowerPoint 프레젠테이션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  <vt:lpstr>여가이론과 여가레크리에이션 동기 이해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KCUDNT</dc:creator>
  <cp:lastModifiedBy>choijinyi</cp:lastModifiedBy>
  <cp:revision>1</cp:revision>
  <dcterms:created xsi:type="dcterms:W3CDTF">2015-12-23T04:23:14Z</dcterms:created>
  <dcterms:modified xsi:type="dcterms:W3CDTF">2025-10-15T11:34:17Z</dcterms:modified>
</cp:coreProperties>
</file>