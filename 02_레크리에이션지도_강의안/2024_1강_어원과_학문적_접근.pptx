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04">
          <p15:clr>
            <a:srgbClr val="A4A3A4"/>
          </p15:clr>
        </p15:guide>
        <p15:guide id="2" pos="22">
          <p15:clr>
            <a:srgbClr val="A4A3A4"/>
          </p15:clr>
        </p15:guide>
        <p15:guide id="3" pos="158">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89" roundtripDataSignature="AMtx7mgANyz0iHeS7yC0pyrmPc3PO2qr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112266-DADA-4F64-9FC1-0E9F187DAD00}">
  <a:tblStyle styleId="{F6112266-DADA-4F64-9FC1-0E9F187DAD0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6889C15-DFBA-4BD0-9E9D-E118DC14D922}" styleName="Table_1">
    <a:wholeTbl>
      <a:tcTxStyle b="off" i="off">
        <a:font>
          <a:latin typeface="맑은 고딕"/>
          <a:ea typeface="맑은 고딕"/>
          <a:cs typeface="맑은 고딕"/>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맑은 고딕"/>
          <a:ea typeface="맑은 고딕"/>
          <a:cs typeface="맑은 고딕"/>
        </a:font>
        <a:schemeClr val="lt1"/>
      </a:tcTxStyle>
      <a:tcStyle>
        <a:fill>
          <a:solidFill>
            <a:schemeClr val="accent1"/>
          </a:solidFill>
        </a:fill>
      </a:tcStyle>
    </a:lastCol>
    <a:firstCol>
      <a:tcTxStyle b="on" i="off">
        <a:font>
          <a:latin typeface="맑은 고딕"/>
          <a:ea typeface="맑은 고딕"/>
          <a:cs typeface="맑은 고딕"/>
        </a:font>
        <a:schemeClr val="lt1"/>
      </a:tcTxStyle>
      <a:tcStyle>
        <a:fill>
          <a:solidFill>
            <a:schemeClr val="accent1"/>
          </a:solidFill>
        </a:fill>
      </a:tcStyle>
    </a:firstCol>
    <a:lastRow>
      <a:tcTxStyle b="on" i="off">
        <a:font>
          <a:latin typeface="맑은 고딕"/>
          <a:ea typeface="맑은 고딕"/>
          <a:cs typeface="맑은 고딕"/>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맑은 고딕"/>
          <a:ea typeface="맑은 고딕"/>
          <a:cs typeface="맑은 고딕"/>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04" orient="horz"/>
        <p:guide pos="22"/>
        <p:guide pos="158"/>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customschemas.google.com/relationships/presentationmetadata" Target="meta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4" name="Google Shape;744;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9" name="Google Shape;769;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 name="Google Shape;821;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showMasterSp="0">
  <p:cSld name="제목 슬라이드">
    <p:spTree>
      <p:nvGrpSpPr>
        <p:cNvPr id="10" name="Shape 10"/>
        <p:cNvGrpSpPr/>
        <p:nvPr/>
      </p:nvGrpSpPr>
      <p:grpSpPr>
        <a:xfrm>
          <a:off x="0" y="0"/>
          <a:ext cx="0" cy="0"/>
          <a:chOff x="0" y="0"/>
          <a:chExt cx="0" cy="0"/>
        </a:xfrm>
      </p:grpSpPr>
      <p:pic>
        <p:nvPicPr>
          <p:cNvPr id="11" name="Google Shape;11;p84"/>
          <p:cNvPicPr preferRelativeResize="0"/>
          <p:nvPr/>
        </p:nvPicPr>
        <p:blipFill rotWithShape="1">
          <a:blip r:embed="rId2">
            <a:alphaModFix/>
          </a:blip>
          <a:srcRect b="0" l="0" r="0" t="0"/>
          <a:stretch/>
        </p:blipFill>
        <p:spPr>
          <a:xfrm>
            <a:off x="0" y="4536546"/>
            <a:ext cx="2127250" cy="6098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제목 슬라이드" showMasterSp="0">
  <p:cSld name="1_제목 슬라이드">
    <p:spTree>
      <p:nvGrpSpPr>
        <p:cNvPr id="12" name="Shape 12"/>
        <p:cNvGrpSpPr/>
        <p:nvPr/>
      </p:nvGrpSpPr>
      <p:grpSpPr>
        <a:xfrm>
          <a:off x="0" y="0"/>
          <a:ext cx="0" cy="0"/>
          <a:chOff x="0" y="0"/>
          <a:chExt cx="0" cy="0"/>
        </a:xfrm>
      </p:grpSpPr>
      <p:sp>
        <p:nvSpPr>
          <p:cNvPr id="13" name="Google Shape;13;p85"/>
          <p:cNvSpPr/>
          <p:nvPr/>
        </p:nvSpPr>
        <p:spPr>
          <a:xfrm>
            <a:off x="0" y="555526"/>
            <a:ext cx="9144000" cy="4587875"/>
          </a:xfrm>
          <a:prstGeom prst="rect">
            <a:avLst/>
          </a:prstGeom>
          <a:gradFill>
            <a:gsLst>
              <a:gs pos="0">
                <a:srgbClr val="FFFFFF">
                  <a:alpha val="80000"/>
                </a:srgbClr>
              </a:gs>
              <a:gs pos="100000">
                <a:srgbClr val="FFFFFF">
                  <a:alpha val="49803"/>
                </a:srgbClr>
              </a:gs>
            </a:gsLst>
            <a:lin ang="1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4" name="Google Shape;14;p85"/>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1D1C1C"/>
              </a:buClr>
              <a:buSzPts val="2500"/>
              <a:buFont typeface="Malgun Gothic"/>
              <a:buNone/>
              <a:defRPr b="1" i="0" sz="2500" u="none" cap="none" strike="noStrike">
                <a:solidFill>
                  <a:srgbClr val="1D1C1C"/>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cxnSp>
        <p:nvCxnSpPr>
          <p:cNvPr id="15" name="Google Shape;15;p85"/>
          <p:cNvCxnSpPr/>
          <p:nvPr/>
        </p:nvCxnSpPr>
        <p:spPr>
          <a:xfrm>
            <a:off x="0" y="555526"/>
            <a:ext cx="9144000" cy="0"/>
          </a:xfrm>
          <a:prstGeom prst="straightConnector1">
            <a:avLst/>
          </a:prstGeom>
          <a:noFill/>
          <a:ln cap="flat" cmpd="sng" w="9525">
            <a:solidFill>
              <a:srgbClr val="A5A5A5"/>
            </a:solidFill>
            <a:prstDash val="solid"/>
            <a:round/>
            <a:headEnd len="sm" w="sm" type="none"/>
            <a:tailEnd len="sm" w="sm" type="none"/>
          </a:ln>
        </p:spPr>
      </p:cxnSp>
      <p:sp>
        <p:nvSpPr>
          <p:cNvPr id="16" name="Google Shape;16;p85"/>
          <p:cNvSpPr txBox="1"/>
          <p:nvPr/>
        </p:nvSpPr>
        <p:spPr>
          <a:xfrm>
            <a:off x="3167610" y="4979372"/>
            <a:ext cx="2808781" cy="184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600">
                <a:solidFill>
                  <a:srgbClr val="595959"/>
                </a:solidFill>
                <a:latin typeface="Malgun Gothic"/>
                <a:ea typeface="Malgun Gothic"/>
                <a:cs typeface="Malgun Gothic"/>
                <a:sym typeface="Malgun Gothic"/>
              </a:rPr>
              <a:t>KOREA SOONGSIL CYBER UNIVERSITY </a:t>
            </a:r>
            <a:endParaRPr sz="600">
              <a:solidFill>
                <a:srgbClr val="595959"/>
              </a:solidFill>
              <a:latin typeface="Malgun Gothic"/>
              <a:ea typeface="Malgun Gothic"/>
              <a:cs typeface="Malgun Gothic"/>
              <a:sym typeface="Malgun Goth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제목 슬라이드" showMasterSp="0">
  <p:cSld name="3_제목 슬라이드">
    <p:spTree>
      <p:nvGrpSpPr>
        <p:cNvPr id="17" name="Shape 17"/>
        <p:cNvGrpSpPr/>
        <p:nvPr/>
      </p:nvGrpSpPr>
      <p:grpSpPr>
        <a:xfrm>
          <a:off x="0" y="0"/>
          <a:ext cx="0" cy="0"/>
          <a:chOff x="0" y="0"/>
          <a:chExt cx="0" cy="0"/>
        </a:xfrm>
      </p:grpSpPr>
      <p:sp>
        <p:nvSpPr>
          <p:cNvPr id="18" name="Google Shape;18;p86"/>
          <p:cNvSpPr/>
          <p:nvPr/>
        </p:nvSpPr>
        <p:spPr>
          <a:xfrm>
            <a:off x="0" y="558486"/>
            <a:ext cx="9144000" cy="4587974"/>
          </a:xfrm>
          <a:prstGeom prst="rect">
            <a:avLst/>
          </a:prstGeom>
          <a:gradFill>
            <a:gsLst>
              <a:gs pos="0">
                <a:srgbClr val="F4F8FB">
                  <a:alpha val="94901"/>
                </a:srgbClr>
              </a:gs>
              <a:gs pos="56000">
                <a:srgbClr val="F2F2F2">
                  <a:alpha val="94901"/>
                </a:srgbClr>
              </a:gs>
              <a:gs pos="100000">
                <a:srgbClr val="D8D8D8">
                  <a:alpha val="94901"/>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 name="Google Shape;19;p86"/>
          <p:cNvSpPr txBox="1"/>
          <p:nvPr/>
        </p:nvSpPr>
        <p:spPr>
          <a:xfrm>
            <a:off x="3167608" y="4979372"/>
            <a:ext cx="2808781" cy="184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600">
                <a:solidFill>
                  <a:srgbClr val="B8D0E0"/>
                </a:solidFill>
                <a:latin typeface="Arial"/>
                <a:ea typeface="Arial"/>
                <a:cs typeface="Arial"/>
                <a:sym typeface="Arial"/>
              </a:rPr>
              <a:t>KOREA SOONGSIL CYBER UNIVERSITY </a:t>
            </a:r>
            <a:endParaRPr sz="600">
              <a:solidFill>
                <a:srgbClr val="B8D0E0"/>
              </a:solidFill>
              <a:latin typeface="Arial"/>
              <a:ea typeface="Arial"/>
              <a:cs typeface="Arial"/>
              <a:sym typeface="Arial"/>
            </a:endParaRPr>
          </a:p>
        </p:txBody>
      </p:sp>
      <p:cxnSp>
        <p:nvCxnSpPr>
          <p:cNvPr id="20" name="Google Shape;20;p86"/>
          <p:cNvCxnSpPr/>
          <p:nvPr/>
        </p:nvCxnSpPr>
        <p:spPr>
          <a:xfrm>
            <a:off x="193152" y="555526"/>
            <a:ext cx="8712968" cy="0"/>
          </a:xfrm>
          <a:prstGeom prst="straightConnector1">
            <a:avLst/>
          </a:prstGeom>
          <a:noFill/>
          <a:ln cap="flat" cmpd="sng" w="9525">
            <a:solidFill>
              <a:srgbClr val="B8D0E0"/>
            </a:solidFill>
            <a:prstDash val="solid"/>
            <a:round/>
            <a:headEnd len="sm" w="sm" type="none"/>
            <a:tailEnd len="sm" w="sm" type="none"/>
          </a:ln>
        </p:spPr>
      </p:cxnSp>
      <p:sp>
        <p:nvSpPr>
          <p:cNvPr id="21" name="Google Shape;21;p86"/>
          <p:cNvSpPr txBox="1"/>
          <p:nvPr/>
        </p:nvSpPr>
        <p:spPr>
          <a:xfrm>
            <a:off x="3167610" y="4979372"/>
            <a:ext cx="2808781" cy="184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600">
                <a:solidFill>
                  <a:srgbClr val="7F7F7F"/>
                </a:solidFill>
                <a:latin typeface="Arial"/>
                <a:ea typeface="Arial"/>
                <a:cs typeface="Arial"/>
                <a:sym typeface="Arial"/>
              </a:rPr>
              <a:t>KOREA SOONGSIL CYBER UNIVERSITY </a:t>
            </a:r>
            <a:endParaRPr sz="600">
              <a:solidFill>
                <a:srgbClr val="7F7F7F"/>
              </a:solidFill>
              <a:latin typeface="Arial"/>
              <a:ea typeface="Arial"/>
              <a:cs typeface="Arial"/>
              <a:sym typeface="Arial"/>
            </a:endParaRPr>
          </a:p>
        </p:txBody>
      </p:sp>
      <p:sp>
        <p:nvSpPr>
          <p:cNvPr id="22" name="Google Shape;22;p86"/>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CEEC8"/>
              </a:buClr>
              <a:buSzPts val="2500"/>
              <a:buFont typeface="Arial"/>
              <a:buNone/>
              <a:defRPr b="1" i="0" sz="2500" u="none" cap="none" strike="noStrike">
                <a:solidFill>
                  <a:srgbClr val="1A2D3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슬라이드" showMasterSp="0">
  <p:cSld name="2_제목 슬라이드">
    <p:spTree>
      <p:nvGrpSpPr>
        <p:cNvPr id="23" name="Shape 23"/>
        <p:cNvGrpSpPr/>
        <p:nvPr/>
      </p:nvGrpSpPr>
      <p:grpSpPr>
        <a:xfrm>
          <a:off x="0" y="0"/>
          <a:ext cx="0" cy="0"/>
          <a:chOff x="0" y="0"/>
          <a:chExt cx="0" cy="0"/>
        </a:xfrm>
      </p:grpSpPr>
      <p:sp>
        <p:nvSpPr>
          <p:cNvPr id="24" name="Google Shape;24;p87"/>
          <p:cNvSpPr/>
          <p:nvPr/>
        </p:nvSpPr>
        <p:spPr>
          <a:xfrm>
            <a:off x="0" y="0"/>
            <a:ext cx="9144000" cy="5143401"/>
          </a:xfrm>
          <a:prstGeom prst="rect">
            <a:avLst/>
          </a:prstGeom>
          <a:gradFill>
            <a:gsLst>
              <a:gs pos="0">
                <a:srgbClr val="FFFFFF">
                  <a:alpha val="89803"/>
                </a:srgbClr>
              </a:gs>
              <a:gs pos="100000">
                <a:srgbClr val="FFFFFF">
                  <a:alpha val="80000"/>
                </a:srgbClr>
              </a:gs>
            </a:gsLst>
            <a:lin ang="1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25" name="Google Shape;25;p87"/>
          <p:cNvSpPr txBox="1"/>
          <p:nvPr/>
        </p:nvSpPr>
        <p:spPr>
          <a:xfrm>
            <a:off x="3167610" y="4979372"/>
            <a:ext cx="2808781" cy="184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600">
                <a:solidFill>
                  <a:srgbClr val="595959"/>
                </a:solidFill>
                <a:latin typeface="Malgun Gothic"/>
                <a:ea typeface="Malgun Gothic"/>
                <a:cs typeface="Malgun Gothic"/>
                <a:sym typeface="Malgun Gothic"/>
              </a:rPr>
              <a:t>KOREA SOONGSIL CYBER UNIVERSITY </a:t>
            </a:r>
            <a:endParaRPr sz="600">
              <a:solidFill>
                <a:srgbClr val="595959"/>
              </a:solidFill>
              <a:latin typeface="Malgun Gothic"/>
              <a:ea typeface="Malgun Gothic"/>
              <a:cs typeface="Malgun Gothic"/>
              <a:sym typeface="Malgun Gothic"/>
            </a:endParaRPr>
          </a:p>
        </p:txBody>
      </p:sp>
      <p:sp>
        <p:nvSpPr>
          <p:cNvPr id="26" name="Google Shape;26;p87"/>
          <p:cNvSpPr txBox="1"/>
          <p:nvPr>
            <p:ph type="ctrTitle"/>
          </p:nvPr>
        </p:nvSpPr>
        <p:spPr>
          <a:xfrm>
            <a:off x="323528" y="123478"/>
            <a:ext cx="7631882" cy="43204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5B0507"/>
              </a:buClr>
              <a:buSzPts val="2500"/>
              <a:buFont typeface="Malgun Gothic"/>
              <a:buNone/>
              <a:defRPr b="1" i="0" sz="2500" u="none" cap="none" strike="noStrike">
                <a:solidFill>
                  <a:srgbClr val="5B0507"/>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제목 및 내용" showMasterSp="0">
  <p:cSld name="2_제목 및 내용">
    <p:spTree>
      <p:nvGrpSpPr>
        <p:cNvPr id="27" name="Shape 27"/>
        <p:cNvGrpSpPr/>
        <p:nvPr/>
      </p:nvGrpSpPr>
      <p:grpSpPr>
        <a:xfrm>
          <a:off x="0" y="0"/>
          <a:ext cx="0" cy="0"/>
          <a:chOff x="0" y="0"/>
          <a:chExt cx="0" cy="0"/>
        </a:xfrm>
      </p:grpSpPr>
      <p:sp>
        <p:nvSpPr>
          <p:cNvPr id="28" name="Google Shape;28;p88"/>
          <p:cNvSpPr txBox="1"/>
          <p:nvPr/>
        </p:nvSpPr>
        <p:spPr>
          <a:xfrm>
            <a:off x="3167610" y="4979372"/>
            <a:ext cx="2808781" cy="184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600">
                <a:solidFill>
                  <a:srgbClr val="595959"/>
                </a:solidFill>
                <a:latin typeface="Malgun Gothic"/>
                <a:ea typeface="Malgun Gothic"/>
                <a:cs typeface="Malgun Gothic"/>
                <a:sym typeface="Malgun Gothic"/>
              </a:rPr>
              <a:t>KOREA SOONGSIL CYBER UNIVERSITY </a:t>
            </a:r>
            <a:endParaRPr sz="600">
              <a:solidFill>
                <a:srgbClr val="595959"/>
              </a:solidFill>
              <a:latin typeface="Malgun Gothic"/>
              <a:ea typeface="Malgun Gothic"/>
              <a:cs typeface="Malgun Gothic"/>
              <a:sym typeface="Malgun Gothic"/>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사용자 지정 레이아웃" showMasterSp="0">
  <p:cSld name="사용자 지정 레이아웃">
    <p:spTree>
      <p:nvGrpSpPr>
        <p:cNvPr id="29" name="Shape 29"/>
        <p:cNvGrpSpPr/>
        <p:nvPr/>
      </p:nvGrpSpPr>
      <p:grpSpPr>
        <a:xfrm>
          <a:off x="0" y="0"/>
          <a:ext cx="0" cy="0"/>
          <a:chOff x="0" y="0"/>
          <a:chExt cx="0" cy="0"/>
        </a:xfrm>
      </p:grpSpPr>
      <p:sp>
        <p:nvSpPr>
          <p:cNvPr id="30" name="Google Shape;30;p89"/>
          <p:cNvSpPr txBox="1"/>
          <p:nvPr/>
        </p:nvSpPr>
        <p:spPr>
          <a:xfrm>
            <a:off x="3167610" y="4979372"/>
            <a:ext cx="2808781" cy="18466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ko-KR" sz="600">
                <a:solidFill>
                  <a:srgbClr val="595959"/>
                </a:solidFill>
                <a:latin typeface="Malgun Gothic"/>
                <a:ea typeface="Malgun Gothic"/>
                <a:cs typeface="Malgun Gothic"/>
                <a:sym typeface="Malgun Gothic"/>
              </a:rPr>
              <a:t>KOREA SOONGSIL CYBER UNIVERSITY </a:t>
            </a:r>
            <a:endParaRPr sz="600">
              <a:solidFill>
                <a:srgbClr val="595959"/>
              </a:solidFill>
              <a:latin typeface="Malgun Gothic"/>
              <a:ea typeface="Malgun Gothic"/>
              <a:cs typeface="Malgun Gothic"/>
              <a:sym typeface="Malgun Gothic"/>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9.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png"/><Relationship Id="rId4" Type="http://schemas.openxmlformats.org/officeDocument/2006/relationships/image" Target="../media/image2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image" Target="../media/image24.png"/><Relationship Id="rId5" Type="http://schemas.openxmlformats.org/officeDocument/2006/relationships/image" Target="../media/image1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7.png"/><Relationship Id="rId4" Type="http://schemas.openxmlformats.org/officeDocument/2006/relationships/image" Target="../media/image2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3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3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3.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44.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5.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6.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45.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37.png"/><Relationship Id="rId4" Type="http://schemas.openxmlformats.org/officeDocument/2006/relationships/image" Target="../media/image4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38.jpg"/><Relationship Id="rId4" Type="http://schemas.openxmlformats.org/officeDocument/2006/relationships/image" Target="../media/image4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 name="Shape 35"/>
        <p:cNvGrpSpPr/>
        <p:nvPr/>
      </p:nvGrpSpPr>
      <p:grpSpPr>
        <a:xfrm>
          <a:off x="0" y="0"/>
          <a:ext cx="0" cy="0"/>
          <a:chOff x="0" y="0"/>
          <a:chExt cx="0" cy="0"/>
        </a:xfrm>
      </p:grpSpPr>
      <p:sp>
        <p:nvSpPr>
          <p:cNvPr id="36" name="Google Shape;36;p1"/>
          <p:cNvSpPr/>
          <p:nvPr/>
        </p:nvSpPr>
        <p:spPr>
          <a:xfrm>
            <a:off x="2604" y="957982"/>
            <a:ext cx="9144000" cy="864096"/>
          </a:xfrm>
          <a:prstGeom prst="roundRect">
            <a:avLst>
              <a:gd fmla="val 4777" name="adj"/>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37" name="Google Shape;37;p1"/>
          <p:cNvSpPr/>
          <p:nvPr/>
        </p:nvSpPr>
        <p:spPr>
          <a:xfrm>
            <a:off x="2447256" y="1097682"/>
            <a:ext cx="547260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ko-KR" sz="3200" u="none" cap="none" strike="noStrike">
                <a:solidFill>
                  <a:srgbClr val="244061"/>
                </a:solidFill>
                <a:latin typeface="Malgun Gothic"/>
                <a:ea typeface="Malgun Gothic"/>
                <a:cs typeface="Malgun Gothic"/>
                <a:sym typeface="Malgun Gothic"/>
              </a:rPr>
              <a:t>여가와 레크리에이션 이해</a:t>
            </a:r>
            <a:endParaRPr b="1" sz="3200">
              <a:solidFill>
                <a:srgbClr val="244061"/>
              </a:solidFill>
              <a:latin typeface="Malgun Gothic"/>
              <a:ea typeface="Malgun Gothic"/>
              <a:cs typeface="Malgun Gothic"/>
              <a:sym typeface="Malgun Gothic"/>
            </a:endParaRPr>
          </a:p>
        </p:txBody>
      </p:sp>
      <p:sp>
        <p:nvSpPr>
          <p:cNvPr id="38" name="Google Shape;38;p1"/>
          <p:cNvSpPr/>
          <p:nvPr/>
        </p:nvSpPr>
        <p:spPr>
          <a:xfrm>
            <a:off x="935088" y="1085882"/>
            <a:ext cx="1503412" cy="615258"/>
          </a:xfrm>
          <a:prstGeom prst="roundRect">
            <a:avLst>
              <a:gd fmla="val 31422" name="adj"/>
            </a:avLst>
          </a:prstGeom>
          <a:solidFill>
            <a:srgbClr val="17365D"/>
          </a:solidFill>
          <a:ln>
            <a:noFill/>
          </a:ln>
        </p:spPr>
        <p:txBody>
          <a:bodyPr anchorCtr="1" anchor="ctr" bIns="0" lIns="91425" spcFirstLastPara="1" rIns="91425" wrap="square" tIns="0">
            <a:noAutofit/>
          </a:bodyPr>
          <a:lstStyle/>
          <a:p>
            <a:pPr indent="0" lvl="0" marL="0" marR="0" rtl="0" algn="ctr">
              <a:spcBef>
                <a:spcPts val="0"/>
              </a:spcBef>
              <a:spcAft>
                <a:spcPts val="0"/>
              </a:spcAft>
              <a:buNone/>
            </a:pPr>
            <a:r>
              <a:rPr b="1" lang="ko-KR" sz="2800">
                <a:solidFill>
                  <a:schemeClr val="lt1"/>
                </a:solidFill>
                <a:latin typeface="Malgun Gothic"/>
                <a:ea typeface="Malgun Gothic"/>
                <a:cs typeface="Malgun Gothic"/>
                <a:sym typeface="Malgun Gothic"/>
              </a:rPr>
              <a:t>Part 1</a:t>
            </a:r>
            <a:endParaRPr b="1" sz="2800">
              <a:solidFill>
                <a:schemeClr val="lt1"/>
              </a:solidFill>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2"/>
          <p:cNvSpPr/>
          <p:nvPr/>
        </p:nvSpPr>
        <p:spPr>
          <a:xfrm>
            <a:off x="250824" y="864892"/>
            <a:ext cx="8065591" cy="1778866"/>
          </a:xfrm>
          <a:prstGeom prst="rect">
            <a:avLst/>
          </a:prstGeom>
          <a:gradFill>
            <a:gsLst>
              <a:gs pos="0">
                <a:srgbClr val="F0F0F0"/>
              </a:gs>
              <a:gs pos="100000">
                <a:srgbClr val="F8F8F8"/>
              </a:gs>
            </a:gsLst>
            <a:lin ang="5400000" scaled="0"/>
          </a:gradFill>
          <a:ln cap="flat" cmpd="sng" w="9525">
            <a:solidFill>
              <a:srgbClr val="969696"/>
            </a:solidFill>
            <a:prstDash val="solid"/>
            <a:round/>
            <a:headEnd len="sm" w="sm" type="none"/>
            <a:tailEnd len="sm" w="sm" type="none"/>
          </a:ln>
          <a:effectLst>
            <a:outerShdw blurRad="63500" sx="101000" rotWithShape="0" algn="ctr" sy="101000">
              <a:srgbClr val="000000">
                <a:alpha val="20000"/>
              </a:srgbClr>
            </a:outerShdw>
          </a:effectLst>
        </p:spPr>
        <p:txBody>
          <a:bodyPr anchorCtr="0" anchor="ctr" bIns="45700" lIns="91425" spcFirstLastPara="1" rIns="91425" wrap="square" tIns="45700">
            <a:noAutofit/>
          </a:bodyPr>
          <a:lstStyle/>
          <a:p>
            <a:pPr indent="0" lvl="0" marL="363538" marR="0" rtl="0" algn="l">
              <a:lnSpc>
                <a:spcPct val="110000"/>
              </a:lnSpc>
              <a:spcBef>
                <a:spcPts val="0"/>
              </a:spcBef>
              <a:spcAft>
                <a:spcPts val="0"/>
              </a:spcAft>
              <a:buNone/>
            </a:pPr>
            <a:r>
              <a:t/>
            </a:r>
            <a:endParaRPr b="1" sz="1800">
              <a:solidFill>
                <a:srgbClr val="242424"/>
              </a:solidFill>
              <a:latin typeface="Arial"/>
              <a:ea typeface="Arial"/>
              <a:cs typeface="Arial"/>
              <a:sym typeface="Arial"/>
            </a:endParaRPr>
          </a:p>
        </p:txBody>
      </p:sp>
      <p:sp>
        <p:nvSpPr>
          <p:cNvPr id="44" name="Google Shape;44;p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어원</a:t>
            </a:r>
            <a:endParaRPr/>
          </a:p>
        </p:txBody>
      </p:sp>
      <p:sp>
        <p:nvSpPr>
          <p:cNvPr id="45" name="Google Shape;45;p2"/>
          <p:cNvSpPr/>
          <p:nvPr/>
        </p:nvSpPr>
        <p:spPr>
          <a:xfrm>
            <a:off x="707969" y="867026"/>
            <a:ext cx="3866764" cy="430887"/>
          </a:xfrm>
          <a:prstGeom prst="rect">
            <a:avLst/>
          </a:prstGeom>
          <a:noFill/>
          <a:ln>
            <a:noFill/>
          </a:ln>
        </p:spPr>
        <p:txBody>
          <a:bodyPr anchorCtr="0" anchor="t" bIns="45700" lIns="91425" spcFirstLastPara="1" rIns="91425" wrap="square" tIns="45700">
            <a:spAutoFit/>
          </a:bodyPr>
          <a:lstStyle/>
          <a:p>
            <a:pPr indent="-85725" lvl="0" marL="85725" marR="0" rtl="0" algn="l">
              <a:lnSpc>
                <a:spcPct val="120000"/>
              </a:lnSpc>
              <a:spcBef>
                <a:spcPts val="0"/>
              </a:spcBef>
              <a:spcAft>
                <a:spcPts val="0"/>
              </a:spcAft>
              <a:buNone/>
            </a:pPr>
            <a:r>
              <a:rPr b="1" lang="ko-KR" sz="2000">
                <a:solidFill>
                  <a:srgbClr val="244061"/>
                </a:solidFill>
                <a:latin typeface="Arial"/>
                <a:ea typeface="Arial"/>
                <a:cs typeface="Arial"/>
                <a:sym typeface="Arial"/>
              </a:rPr>
              <a:t>Leisure는 어디서 시작된 단어일까?</a:t>
            </a:r>
            <a:endParaRPr b="1" sz="2000">
              <a:solidFill>
                <a:srgbClr val="244061"/>
              </a:solidFill>
              <a:latin typeface="Arial"/>
              <a:ea typeface="Arial"/>
              <a:cs typeface="Arial"/>
              <a:sym typeface="Arial"/>
            </a:endParaRPr>
          </a:p>
        </p:txBody>
      </p:sp>
      <p:pic>
        <p:nvPicPr>
          <p:cNvPr id="46" name="Google Shape;46;p2"/>
          <p:cNvPicPr preferRelativeResize="0"/>
          <p:nvPr/>
        </p:nvPicPr>
        <p:blipFill rotWithShape="1">
          <a:blip r:embed="rId3">
            <a:alphaModFix/>
          </a:blip>
          <a:srcRect b="0" l="0" r="0" t="0"/>
          <a:stretch/>
        </p:blipFill>
        <p:spPr>
          <a:xfrm flipH="1">
            <a:off x="325662" y="927020"/>
            <a:ext cx="419797" cy="415331"/>
          </a:xfrm>
          <a:prstGeom prst="rect">
            <a:avLst/>
          </a:prstGeom>
          <a:noFill/>
          <a:ln>
            <a:noFill/>
          </a:ln>
        </p:spPr>
      </p:pic>
      <p:sp>
        <p:nvSpPr>
          <p:cNvPr id="47" name="Google Shape;47;p2"/>
          <p:cNvSpPr/>
          <p:nvPr/>
        </p:nvSpPr>
        <p:spPr>
          <a:xfrm>
            <a:off x="689760" y="1491630"/>
            <a:ext cx="4962360" cy="96231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243A"/>
              </a:buClr>
              <a:buSzPts val="1800"/>
              <a:buFont typeface="Arial"/>
              <a:buChar char="•"/>
            </a:pPr>
            <a:r>
              <a:rPr b="1" lang="ko-KR" sz="1800">
                <a:solidFill>
                  <a:srgbClr val="11243A"/>
                </a:solidFill>
                <a:latin typeface="Arial"/>
                <a:ea typeface="Arial"/>
                <a:cs typeface="Arial"/>
                <a:sym typeface="Arial"/>
              </a:rPr>
              <a:t>한국어에서 여가란 말은 ?</a:t>
            </a:r>
            <a:endParaRPr/>
          </a:p>
          <a:p>
            <a:pPr indent="0" lvl="0" marL="0" marR="0" rtl="0" algn="l">
              <a:lnSpc>
                <a:spcPct val="120000"/>
              </a:lnSpc>
              <a:spcBef>
                <a:spcPts val="1552"/>
              </a:spcBef>
              <a:spcAft>
                <a:spcPts val="0"/>
              </a:spcAft>
              <a:buClr>
                <a:srgbClr val="11243A"/>
              </a:buClr>
              <a:buSzPts val="1800"/>
              <a:buFont typeface="Arial"/>
              <a:buChar char="•"/>
            </a:pPr>
            <a:r>
              <a:rPr b="1" lang="ko-KR" sz="1800">
                <a:solidFill>
                  <a:srgbClr val="11243A"/>
                </a:solidFill>
                <a:latin typeface="Arial"/>
                <a:ea typeface="Arial"/>
                <a:cs typeface="Arial"/>
                <a:sym typeface="Arial"/>
              </a:rPr>
              <a:t>국어 사전에서는 겨를, 틈, 짬으로 표기</a:t>
            </a:r>
            <a:endParaRPr b="1" sz="1800">
              <a:solidFill>
                <a:srgbClr val="11243A"/>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 name="Shape 51"/>
        <p:cNvGrpSpPr/>
        <p:nvPr/>
      </p:nvGrpSpPr>
      <p:grpSpPr>
        <a:xfrm>
          <a:off x="0" y="0"/>
          <a:ext cx="0" cy="0"/>
          <a:chOff x="0" y="0"/>
          <a:chExt cx="0" cy="0"/>
        </a:xfrm>
      </p:grpSpPr>
      <p:grpSp>
        <p:nvGrpSpPr>
          <p:cNvPr id="52" name="Google Shape;52;p3"/>
          <p:cNvGrpSpPr/>
          <p:nvPr/>
        </p:nvGrpSpPr>
        <p:grpSpPr>
          <a:xfrm>
            <a:off x="143384" y="805735"/>
            <a:ext cx="5265723" cy="380614"/>
            <a:chOff x="-3558356" y="1180752"/>
            <a:chExt cx="2880320" cy="380614"/>
          </a:xfrm>
        </p:grpSpPr>
        <p:grpSp>
          <p:nvGrpSpPr>
            <p:cNvPr id="53" name="Google Shape;53;p3"/>
            <p:cNvGrpSpPr/>
            <p:nvPr/>
          </p:nvGrpSpPr>
          <p:grpSpPr>
            <a:xfrm>
              <a:off x="-3492896" y="1196752"/>
              <a:ext cx="2799355" cy="364614"/>
              <a:chOff x="2915816" y="620688"/>
              <a:chExt cx="3095504" cy="542944"/>
            </a:xfrm>
          </p:grpSpPr>
          <p:sp>
            <p:nvSpPr>
              <p:cNvPr id="54" name="Google Shape;54;p3"/>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55" name="Google Shape;55;p3"/>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56" name="Google Shape;56;p3"/>
            <p:cNvSpPr txBox="1"/>
            <p:nvPr/>
          </p:nvSpPr>
          <p:spPr>
            <a:xfrm>
              <a:off x="-3558356" y="1180752"/>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FFFF00"/>
                  </a:solidFill>
                  <a:latin typeface="Malgun Gothic"/>
                  <a:ea typeface="Malgun Gothic"/>
                  <a:cs typeface="Malgun Gothic"/>
                  <a:sym typeface="Malgun Gothic"/>
                </a:rPr>
                <a:t>아리스토텔레스</a:t>
              </a:r>
              <a:endParaRPr b="1" sz="1800">
                <a:solidFill>
                  <a:srgbClr val="D7D7D7"/>
                </a:solidFill>
                <a:latin typeface="Arial"/>
                <a:ea typeface="Arial"/>
                <a:cs typeface="Arial"/>
                <a:sym typeface="Arial"/>
              </a:endParaRPr>
            </a:p>
          </p:txBody>
        </p:sp>
      </p:grpSp>
      <p:sp>
        <p:nvSpPr>
          <p:cNvPr id="57" name="Google Shape;57;p3"/>
          <p:cNvSpPr/>
          <p:nvPr/>
        </p:nvSpPr>
        <p:spPr>
          <a:xfrm>
            <a:off x="232012" y="1347614"/>
            <a:ext cx="5088319" cy="1656184"/>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58" name="Google Shape;58;p3"/>
          <p:cNvSpPr txBox="1"/>
          <p:nvPr/>
        </p:nvSpPr>
        <p:spPr>
          <a:xfrm>
            <a:off x="354853" y="1419622"/>
            <a:ext cx="4793211" cy="129035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ko-KR" sz="1800">
                <a:solidFill>
                  <a:srgbClr val="262626"/>
                </a:solidFill>
                <a:latin typeface="Arial"/>
                <a:ea typeface="Arial"/>
                <a:cs typeface="Arial"/>
                <a:sym typeface="Arial"/>
              </a:rPr>
              <a:t>인간의 행복은 여가 속에 있으며 여가를 누릴 수 있는 여건을 만드는 것이야 말로 입법가의 의무요, 교육의 목적이자 훌륭한 통치의 의지이다</a:t>
            </a:r>
            <a:endParaRPr/>
          </a:p>
        </p:txBody>
      </p:sp>
      <p:pic>
        <p:nvPicPr>
          <p:cNvPr descr="고대 그리스에 대한 이미지 검색결과" id="59" name="Google Shape;59;p3"/>
          <p:cNvPicPr preferRelativeResize="0"/>
          <p:nvPr/>
        </p:nvPicPr>
        <p:blipFill rotWithShape="1">
          <a:blip r:embed="rId4">
            <a:alphaModFix/>
          </a:blip>
          <a:srcRect b="0" l="0" r="0" t="0"/>
          <a:stretch/>
        </p:blipFill>
        <p:spPr>
          <a:xfrm>
            <a:off x="5787176" y="1337295"/>
            <a:ext cx="2286000" cy="2314575"/>
          </a:xfrm>
          <a:prstGeom prst="rect">
            <a:avLst/>
          </a:prstGeom>
          <a:noFill/>
          <a:ln>
            <a:noFill/>
          </a:ln>
        </p:spPr>
      </p:pic>
      <p:sp>
        <p:nvSpPr>
          <p:cNvPr id="60" name="Google Shape;60;p3"/>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t/>
            </a:r>
            <a:endParaRPr/>
          </a:p>
        </p:txBody>
      </p:sp>
      <p:sp>
        <p:nvSpPr>
          <p:cNvPr id="61" name="Google Shape;61;p3"/>
          <p:cNvSpPr txBox="1"/>
          <p:nvPr/>
        </p:nvSpPr>
        <p:spPr>
          <a:xfrm>
            <a:off x="187896" y="123478"/>
            <a:ext cx="7631882" cy="432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D1C1C"/>
              </a:buClr>
              <a:buSzPts val="2500"/>
              <a:buFont typeface="Malgun Gothic"/>
              <a:buNone/>
            </a:pPr>
            <a:r>
              <a:rPr b="1" lang="ko-KR" sz="2500" cap="none">
                <a:solidFill>
                  <a:srgbClr val="1D1C1C"/>
                </a:solidFill>
                <a:latin typeface="Malgun Gothic"/>
                <a:ea typeface="Malgun Gothic"/>
                <a:cs typeface="Malgun Gothic"/>
                <a:sym typeface="Malgun Gothic"/>
              </a:rPr>
              <a:t>1. 여가의 어원</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 name="Shape 65"/>
        <p:cNvGrpSpPr/>
        <p:nvPr/>
      </p:nvGrpSpPr>
      <p:grpSpPr>
        <a:xfrm>
          <a:off x="0" y="0"/>
          <a:ext cx="0" cy="0"/>
          <a:chOff x="0" y="0"/>
          <a:chExt cx="0" cy="0"/>
        </a:xfrm>
      </p:grpSpPr>
      <p:grpSp>
        <p:nvGrpSpPr>
          <p:cNvPr id="66" name="Google Shape;66;p4"/>
          <p:cNvGrpSpPr/>
          <p:nvPr/>
        </p:nvGrpSpPr>
        <p:grpSpPr>
          <a:xfrm>
            <a:off x="143384" y="805735"/>
            <a:ext cx="5265723" cy="380614"/>
            <a:chOff x="-3558356" y="1180752"/>
            <a:chExt cx="2880320" cy="380614"/>
          </a:xfrm>
        </p:grpSpPr>
        <p:grpSp>
          <p:nvGrpSpPr>
            <p:cNvPr id="67" name="Google Shape;67;p4"/>
            <p:cNvGrpSpPr/>
            <p:nvPr/>
          </p:nvGrpSpPr>
          <p:grpSpPr>
            <a:xfrm>
              <a:off x="-3492896" y="1196752"/>
              <a:ext cx="2799355" cy="364614"/>
              <a:chOff x="2915816" y="620688"/>
              <a:chExt cx="3095504" cy="542944"/>
            </a:xfrm>
          </p:grpSpPr>
          <p:sp>
            <p:nvSpPr>
              <p:cNvPr id="68" name="Google Shape;68;p4"/>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69" name="Google Shape;69;p4"/>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70" name="Google Shape;70;p4"/>
            <p:cNvSpPr txBox="1"/>
            <p:nvPr/>
          </p:nvSpPr>
          <p:spPr>
            <a:xfrm>
              <a:off x="-3558356" y="1180752"/>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FFFF00"/>
                  </a:solidFill>
                  <a:latin typeface="Malgun Gothic"/>
                  <a:ea typeface="Malgun Gothic"/>
                  <a:cs typeface="Malgun Gothic"/>
                  <a:sym typeface="Malgun Gothic"/>
                </a:rPr>
                <a:t>Otium – </a:t>
              </a:r>
              <a:r>
                <a:rPr b="1" lang="ko-KR" sz="1800">
                  <a:solidFill>
                    <a:srgbClr val="D7D7D7"/>
                  </a:solidFill>
                  <a:latin typeface="Arial"/>
                  <a:ea typeface="Arial"/>
                  <a:cs typeface="Arial"/>
                  <a:sym typeface="Arial"/>
                </a:rPr>
                <a:t>로마 군대에서 시작</a:t>
              </a:r>
              <a:endParaRPr/>
            </a:p>
          </p:txBody>
        </p:sp>
      </p:grpSp>
      <p:sp>
        <p:nvSpPr>
          <p:cNvPr id="71" name="Google Shape;71;p4"/>
          <p:cNvSpPr/>
          <p:nvPr/>
        </p:nvSpPr>
        <p:spPr>
          <a:xfrm>
            <a:off x="232012" y="1347614"/>
            <a:ext cx="5088319" cy="2304256"/>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72" name="Google Shape;72;p4"/>
          <p:cNvSpPr txBox="1"/>
          <p:nvPr/>
        </p:nvSpPr>
        <p:spPr>
          <a:xfrm>
            <a:off x="354853" y="1419622"/>
            <a:ext cx="4793211"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로마군의 전투 또는 전쟁 후 휴식, 휴가에서 사용하기 시작한 단어</a:t>
            </a:r>
            <a:endParaRPr b="1" sz="1800">
              <a:solidFill>
                <a:srgbClr val="262626"/>
              </a:solidFill>
              <a:latin typeface="Arial"/>
              <a:ea typeface="Arial"/>
              <a:cs typeface="Arial"/>
              <a:sym typeface="Arial"/>
            </a:endParaRPr>
          </a:p>
          <a:p>
            <a:pPr indent="-285750" lvl="0" marL="28575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아무것도 하지 않는 여분 혹은 한가로움, 휴식을 말함</a:t>
            </a:r>
            <a:endParaRPr b="1" sz="1800">
              <a:solidFill>
                <a:srgbClr val="262626"/>
              </a:solidFill>
              <a:latin typeface="Arial"/>
              <a:ea typeface="Arial"/>
              <a:cs typeface="Arial"/>
              <a:sym typeface="Arial"/>
            </a:endParaRPr>
          </a:p>
        </p:txBody>
      </p:sp>
      <p:sp>
        <p:nvSpPr>
          <p:cNvPr id="73" name="Google Shape;73;p4"/>
          <p:cNvSpPr txBox="1"/>
          <p:nvPr>
            <p:ph type="ctrTitle"/>
          </p:nvPr>
        </p:nvSpPr>
        <p:spPr>
          <a:xfrm>
            <a:off x="107504" y="51470"/>
            <a:ext cx="8135938"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여가의 어원</a:t>
            </a:r>
            <a:endParaRPr/>
          </a:p>
        </p:txBody>
      </p:sp>
      <p:pic>
        <p:nvPicPr>
          <p:cNvPr descr="라틴어에 대한 이미지 검색결과" id="74" name="Google Shape;74;p4"/>
          <p:cNvPicPr preferRelativeResize="0"/>
          <p:nvPr/>
        </p:nvPicPr>
        <p:blipFill rotWithShape="1">
          <a:blip r:embed="rId4">
            <a:alphaModFix/>
          </a:blip>
          <a:srcRect b="0" l="0" r="0" t="0"/>
          <a:stretch/>
        </p:blipFill>
        <p:spPr>
          <a:xfrm>
            <a:off x="5580112" y="1450588"/>
            <a:ext cx="3047331" cy="19987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 name="Shape 78"/>
        <p:cNvGrpSpPr/>
        <p:nvPr/>
      </p:nvGrpSpPr>
      <p:grpSpPr>
        <a:xfrm>
          <a:off x="0" y="0"/>
          <a:ext cx="0" cy="0"/>
          <a:chOff x="0" y="0"/>
          <a:chExt cx="0" cy="0"/>
        </a:xfrm>
      </p:grpSpPr>
      <p:grpSp>
        <p:nvGrpSpPr>
          <p:cNvPr id="79" name="Google Shape;79;p5"/>
          <p:cNvGrpSpPr/>
          <p:nvPr/>
        </p:nvGrpSpPr>
        <p:grpSpPr>
          <a:xfrm>
            <a:off x="143384" y="805735"/>
            <a:ext cx="5265723" cy="380614"/>
            <a:chOff x="-3558356" y="1180752"/>
            <a:chExt cx="2880320" cy="380614"/>
          </a:xfrm>
        </p:grpSpPr>
        <p:grpSp>
          <p:nvGrpSpPr>
            <p:cNvPr id="80" name="Google Shape;80;p5"/>
            <p:cNvGrpSpPr/>
            <p:nvPr/>
          </p:nvGrpSpPr>
          <p:grpSpPr>
            <a:xfrm>
              <a:off x="-3492896" y="1196752"/>
              <a:ext cx="2799355" cy="364614"/>
              <a:chOff x="2915816" y="620688"/>
              <a:chExt cx="3095504" cy="542944"/>
            </a:xfrm>
          </p:grpSpPr>
          <p:sp>
            <p:nvSpPr>
              <p:cNvPr id="81" name="Google Shape;81;p5"/>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82" name="Google Shape;82;p5"/>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83" name="Google Shape;83;p5"/>
            <p:cNvSpPr txBox="1"/>
            <p:nvPr/>
          </p:nvSpPr>
          <p:spPr>
            <a:xfrm>
              <a:off x="-3558356" y="1180752"/>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FFFF00"/>
                  </a:solidFill>
                  <a:latin typeface="Malgun Gothic"/>
                  <a:ea typeface="Malgun Gothic"/>
                  <a:cs typeface="Malgun Gothic"/>
                  <a:sym typeface="Malgun Gothic"/>
                </a:rPr>
                <a:t>Scole - </a:t>
              </a:r>
              <a:r>
                <a:rPr b="1" lang="ko-KR" sz="1800">
                  <a:solidFill>
                    <a:srgbClr val="D7D7D7"/>
                  </a:solidFill>
                  <a:latin typeface="Arial"/>
                  <a:ea typeface="Arial"/>
                  <a:cs typeface="Arial"/>
                  <a:sym typeface="Arial"/>
                </a:rPr>
                <a:t>고대 그리스의 여가</a:t>
              </a:r>
              <a:endParaRPr/>
            </a:p>
          </p:txBody>
        </p:sp>
      </p:grpSp>
      <p:sp>
        <p:nvSpPr>
          <p:cNvPr id="84" name="Google Shape;84;p5"/>
          <p:cNvSpPr/>
          <p:nvPr/>
        </p:nvSpPr>
        <p:spPr>
          <a:xfrm>
            <a:off x="232012" y="1347614"/>
            <a:ext cx="8451740" cy="2304256"/>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85" name="Google Shape;85;p5"/>
          <p:cNvSpPr txBox="1"/>
          <p:nvPr/>
        </p:nvSpPr>
        <p:spPr>
          <a:xfrm>
            <a:off x="354852" y="1419622"/>
            <a:ext cx="7961563" cy="17058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Scole는 Leisure와 Education의 두 가지 의미로 사용되어 현재의 School이란 말의 어원이 되고 있다(Bucher, 1975)</a:t>
            </a:r>
            <a:endParaRPr/>
          </a:p>
          <a:p>
            <a:pPr indent="-285750" lvl="0" marL="28575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자기계발을 위한 정신적인 활동 상태</a:t>
            </a:r>
            <a:endParaRPr b="1" sz="1800">
              <a:solidFill>
                <a:srgbClr val="262626"/>
              </a:solidFill>
              <a:latin typeface="Arial"/>
              <a:ea typeface="Arial"/>
              <a:cs typeface="Arial"/>
              <a:sym typeface="Arial"/>
            </a:endParaRPr>
          </a:p>
          <a:p>
            <a:pPr indent="-285750" lvl="0" marL="28575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자유재량, 자기향상, 자기실현의 의미</a:t>
            </a:r>
            <a:endParaRPr/>
          </a:p>
        </p:txBody>
      </p:sp>
      <p:sp>
        <p:nvSpPr>
          <p:cNvPr id="86" name="Google Shape;86;p5"/>
          <p:cNvSpPr txBox="1"/>
          <p:nvPr>
            <p:ph type="ctrTitle"/>
          </p:nvPr>
        </p:nvSpPr>
        <p:spPr>
          <a:xfrm>
            <a:off x="107504" y="51470"/>
            <a:ext cx="8135938"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 name="Shape 90"/>
        <p:cNvGrpSpPr/>
        <p:nvPr/>
      </p:nvGrpSpPr>
      <p:grpSpPr>
        <a:xfrm>
          <a:off x="0" y="0"/>
          <a:ext cx="0" cy="0"/>
          <a:chOff x="0" y="0"/>
          <a:chExt cx="0" cy="0"/>
        </a:xfrm>
      </p:grpSpPr>
      <p:sp>
        <p:nvSpPr>
          <p:cNvPr id="91" name="Google Shape;91;p6"/>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92" name="Google Shape;92;p6"/>
          <p:cNvGrpSpPr/>
          <p:nvPr/>
        </p:nvGrpSpPr>
        <p:grpSpPr>
          <a:xfrm>
            <a:off x="143384" y="805734"/>
            <a:ext cx="5265723" cy="380615"/>
            <a:chOff x="-3558356" y="1180751"/>
            <a:chExt cx="2880320" cy="380615"/>
          </a:xfrm>
        </p:grpSpPr>
        <p:grpSp>
          <p:nvGrpSpPr>
            <p:cNvPr id="93" name="Google Shape;93;p6"/>
            <p:cNvGrpSpPr/>
            <p:nvPr/>
          </p:nvGrpSpPr>
          <p:grpSpPr>
            <a:xfrm>
              <a:off x="-3492896" y="1196752"/>
              <a:ext cx="2799355" cy="364614"/>
              <a:chOff x="2915816" y="620688"/>
              <a:chExt cx="3095504" cy="542944"/>
            </a:xfrm>
          </p:grpSpPr>
          <p:sp>
            <p:nvSpPr>
              <p:cNvPr id="94" name="Google Shape;94;p6"/>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95" name="Google Shape;95;p6"/>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96" name="Google Shape;96;p6"/>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FFFF00"/>
                  </a:solidFill>
                  <a:latin typeface="Malgun Gothic"/>
                  <a:ea typeface="Malgun Gothic"/>
                  <a:cs typeface="Malgun Gothic"/>
                  <a:sym typeface="Malgun Gothic"/>
                </a:rPr>
                <a:t>Licere – </a:t>
              </a:r>
              <a:r>
                <a:rPr b="1" lang="ko-KR" sz="1800">
                  <a:solidFill>
                    <a:srgbClr val="D7D7D7"/>
                  </a:solidFill>
                  <a:latin typeface="Arial"/>
                  <a:ea typeface="Arial"/>
                  <a:cs typeface="Arial"/>
                  <a:sym typeface="Arial"/>
                </a:rPr>
                <a:t>라틴어(리체레)</a:t>
              </a:r>
              <a:endParaRPr b="1" sz="1800">
                <a:solidFill>
                  <a:srgbClr val="D7D7D7"/>
                </a:solidFill>
                <a:latin typeface="Arial"/>
                <a:ea typeface="Arial"/>
                <a:cs typeface="Arial"/>
                <a:sym typeface="Arial"/>
              </a:endParaRPr>
            </a:p>
          </p:txBody>
        </p:sp>
      </p:grpSp>
      <p:sp>
        <p:nvSpPr>
          <p:cNvPr id="97" name="Google Shape;97;p6"/>
          <p:cNvSpPr/>
          <p:nvPr/>
        </p:nvSpPr>
        <p:spPr>
          <a:xfrm>
            <a:off x="232012" y="1347614"/>
            <a:ext cx="7940388" cy="2448272"/>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98" name="Google Shape;98;p6"/>
          <p:cNvSpPr txBox="1"/>
          <p:nvPr/>
        </p:nvSpPr>
        <p:spPr>
          <a:xfrm>
            <a:off x="354853" y="1419622"/>
            <a:ext cx="7479868" cy="212135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자유로움, 허락됨, 나태, 휴식</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일이나 작업으로부터 해방된 (to be free) 이라는 뜻의 단어</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전신적/신체적 평형상태, 이완추구</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Leisure의 파생</a:t>
            </a:r>
            <a:endParaRPr b="1" sz="18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t/>
            </a:r>
            <a:endParaRPr b="1" sz="1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 name="Shape 102"/>
        <p:cNvGrpSpPr/>
        <p:nvPr/>
      </p:nvGrpSpPr>
      <p:grpSpPr>
        <a:xfrm>
          <a:off x="0" y="0"/>
          <a:ext cx="0" cy="0"/>
          <a:chOff x="0" y="0"/>
          <a:chExt cx="0" cy="0"/>
        </a:xfrm>
      </p:grpSpPr>
      <p:sp>
        <p:nvSpPr>
          <p:cNvPr id="103" name="Google Shape;103;p7"/>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104" name="Google Shape;104;p7"/>
          <p:cNvGrpSpPr/>
          <p:nvPr/>
        </p:nvGrpSpPr>
        <p:grpSpPr>
          <a:xfrm>
            <a:off x="143384" y="839203"/>
            <a:ext cx="5265723" cy="400093"/>
            <a:chOff x="-3558356" y="1165365"/>
            <a:chExt cx="2880320" cy="400093"/>
          </a:xfrm>
        </p:grpSpPr>
        <p:grpSp>
          <p:nvGrpSpPr>
            <p:cNvPr id="105" name="Google Shape;105;p7"/>
            <p:cNvGrpSpPr/>
            <p:nvPr/>
          </p:nvGrpSpPr>
          <p:grpSpPr>
            <a:xfrm>
              <a:off x="-3492896" y="1196752"/>
              <a:ext cx="2799355" cy="364614"/>
              <a:chOff x="2915816" y="620688"/>
              <a:chExt cx="3095504" cy="542944"/>
            </a:xfrm>
          </p:grpSpPr>
          <p:sp>
            <p:nvSpPr>
              <p:cNvPr id="106" name="Google Shape;106;p7"/>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107" name="Google Shape;107;p7"/>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108" name="Google Shape;108;p7"/>
            <p:cNvSpPr txBox="1"/>
            <p:nvPr/>
          </p:nvSpPr>
          <p:spPr>
            <a:xfrm>
              <a:off x="-3558356" y="1165365"/>
              <a:ext cx="2880320" cy="40009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2000">
                  <a:solidFill>
                    <a:srgbClr val="FFFF00"/>
                  </a:solidFill>
                  <a:latin typeface="Malgun Gothic"/>
                  <a:ea typeface="Malgun Gothic"/>
                  <a:cs typeface="Malgun Gothic"/>
                  <a:sym typeface="Malgun Gothic"/>
                </a:rPr>
                <a:t>Loisir - 프랑스어</a:t>
              </a:r>
              <a:endParaRPr b="1" sz="2000">
                <a:solidFill>
                  <a:srgbClr val="FFFF00"/>
                </a:solidFill>
                <a:latin typeface="Malgun Gothic"/>
                <a:ea typeface="Malgun Gothic"/>
                <a:cs typeface="Malgun Gothic"/>
                <a:sym typeface="Malgun Gothic"/>
              </a:endParaRPr>
            </a:p>
          </p:txBody>
        </p:sp>
      </p:grpSp>
      <p:sp>
        <p:nvSpPr>
          <p:cNvPr id="109" name="Google Shape;109;p7"/>
          <p:cNvSpPr/>
          <p:nvPr/>
        </p:nvSpPr>
        <p:spPr>
          <a:xfrm>
            <a:off x="232012" y="1408324"/>
            <a:ext cx="5088319" cy="659370"/>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10" name="Google Shape;110;p7"/>
          <p:cNvSpPr/>
          <p:nvPr/>
        </p:nvSpPr>
        <p:spPr>
          <a:xfrm>
            <a:off x="292028" y="1526184"/>
            <a:ext cx="4962360" cy="459357"/>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ko-KR" sz="1800">
                <a:solidFill>
                  <a:schemeClr val="dk1"/>
                </a:solidFill>
                <a:latin typeface="Arial"/>
                <a:ea typeface="Arial"/>
                <a:cs typeface="Arial"/>
                <a:sym typeface="Arial"/>
              </a:rPr>
              <a:t>자유시간 (루이지에르)</a:t>
            </a:r>
            <a:endParaRPr b="1" sz="1800">
              <a:solidFill>
                <a:schemeClr val="dk1"/>
              </a:solidFill>
              <a:latin typeface="Arial"/>
              <a:ea typeface="Arial"/>
              <a:cs typeface="Arial"/>
              <a:sym typeface="Arial"/>
            </a:endParaRPr>
          </a:p>
        </p:txBody>
      </p:sp>
      <p:pic>
        <p:nvPicPr>
          <p:cNvPr id="111" name="Google Shape;111;p7"/>
          <p:cNvPicPr preferRelativeResize="0"/>
          <p:nvPr/>
        </p:nvPicPr>
        <p:blipFill rotWithShape="1">
          <a:blip r:embed="rId4">
            <a:alphaModFix/>
          </a:blip>
          <a:srcRect b="0" l="0" r="0" t="0"/>
          <a:stretch/>
        </p:blipFill>
        <p:spPr>
          <a:xfrm>
            <a:off x="1403648" y="2427734"/>
            <a:ext cx="2143125" cy="2143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5" name="Shape 115"/>
        <p:cNvGrpSpPr/>
        <p:nvPr/>
      </p:nvGrpSpPr>
      <p:grpSpPr>
        <a:xfrm>
          <a:off x="0" y="0"/>
          <a:ext cx="0" cy="0"/>
          <a:chOff x="0" y="0"/>
          <a:chExt cx="0" cy="0"/>
        </a:xfrm>
      </p:grpSpPr>
      <p:sp>
        <p:nvSpPr>
          <p:cNvPr id="116" name="Google Shape;116;p8"/>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117" name="Google Shape;117;p8"/>
          <p:cNvGrpSpPr/>
          <p:nvPr/>
        </p:nvGrpSpPr>
        <p:grpSpPr>
          <a:xfrm>
            <a:off x="143384" y="805734"/>
            <a:ext cx="5265723" cy="380615"/>
            <a:chOff x="-3558356" y="1180751"/>
            <a:chExt cx="2880320" cy="380615"/>
          </a:xfrm>
        </p:grpSpPr>
        <p:grpSp>
          <p:nvGrpSpPr>
            <p:cNvPr id="118" name="Google Shape;118;p8"/>
            <p:cNvGrpSpPr/>
            <p:nvPr/>
          </p:nvGrpSpPr>
          <p:grpSpPr>
            <a:xfrm>
              <a:off x="-3492896" y="1196752"/>
              <a:ext cx="2799355" cy="364614"/>
              <a:chOff x="2915816" y="620688"/>
              <a:chExt cx="3095504" cy="542944"/>
            </a:xfrm>
          </p:grpSpPr>
          <p:sp>
            <p:nvSpPr>
              <p:cNvPr id="119" name="Google Shape;119;p8"/>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120" name="Google Shape;120;p8"/>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121" name="Google Shape;121;p8"/>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1" marL="0" marR="0" rtl="0" algn="ctr">
                <a:lnSpc>
                  <a:spcPct val="90000"/>
                </a:lnSpc>
                <a:spcBef>
                  <a:spcPts val="0"/>
                </a:spcBef>
                <a:spcAft>
                  <a:spcPts val="0"/>
                </a:spcAft>
                <a:buNone/>
              </a:pPr>
              <a:r>
                <a:rPr b="1" i="0" lang="ko-KR" sz="2000" u="none" cap="none" strike="noStrike">
                  <a:solidFill>
                    <a:schemeClr val="lt1"/>
                  </a:solidFill>
                  <a:latin typeface="Arial"/>
                  <a:ea typeface="Arial"/>
                  <a:cs typeface="Arial"/>
                  <a:sym typeface="Arial"/>
                </a:rPr>
                <a:t>Webster  사전</a:t>
              </a:r>
              <a:endParaRPr/>
            </a:p>
          </p:txBody>
        </p:sp>
      </p:grpSp>
      <p:sp>
        <p:nvSpPr>
          <p:cNvPr id="122" name="Google Shape;122;p8"/>
          <p:cNvSpPr/>
          <p:nvPr/>
        </p:nvSpPr>
        <p:spPr>
          <a:xfrm>
            <a:off x="232012" y="1347614"/>
            <a:ext cx="5088319" cy="1584176"/>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23" name="Google Shape;123;p8"/>
          <p:cNvSpPr txBox="1"/>
          <p:nvPr/>
        </p:nvSpPr>
        <p:spPr>
          <a:xfrm>
            <a:off x="354853" y="1419622"/>
            <a:ext cx="4793211" cy="129035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ko-KR" sz="1800">
                <a:solidFill>
                  <a:schemeClr val="dk1"/>
                </a:solidFill>
                <a:latin typeface="Arial"/>
                <a:ea typeface="Arial"/>
                <a:cs typeface="Arial"/>
                <a:sym typeface="Arial"/>
              </a:rPr>
              <a:t>'한가로움', '안일', '직업생활로부터 벗어난 자유,</a:t>
            </a:r>
            <a:endParaRPr/>
          </a:p>
          <a:p>
            <a:pPr indent="0" lvl="0" marL="0" marR="0" rtl="0" algn="l">
              <a:lnSpc>
                <a:spcPct val="150000"/>
              </a:lnSpc>
              <a:spcBef>
                <a:spcPts val="0"/>
              </a:spcBef>
              <a:spcAft>
                <a:spcPts val="0"/>
              </a:spcAft>
              <a:buNone/>
            </a:pPr>
            <a:r>
              <a:rPr b="1" lang="ko-KR" sz="1800">
                <a:solidFill>
                  <a:schemeClr val="dk1"/>
                </a:solidFill>
                <a:latin typeface="Arial"/>
                <a:ea typeface="Arial"/>
                <a:cs typeface="Arial"/>
                <a:sym typeface="Arial"/>
              </a:rPr>
              <a:t> '한가한 시간'(spare time), </a:t>
            </a:r>
            <a:endParaRPr/>
          </a:p>
          <a:p>
            <a:pPr indent="0" lvl="0" marL="0" marR="0" rtl="0" algn="l">
              <a:lnSpc>
                <a:spcPct val="150000"/>
              </a:lnSpc>
              <a:spcBef>
                <a:spcPts val="0"/>
              </a:spcBef>
              <a:spcAft>
                <a:spcPts val="0"/>
              </a:spcAft>
              <a:buNone/>
            </a:pPr>
            <a:r>
              <a:rPr b="1" lang="ko-KR" sz="1800">
                <a:solidFill>
                  <a:schemeClr val="dk1"/>
                </a:solidFill>
                <a:latin typeface="Arial"/>
                <a:ea typeface="Arial"/>
                <a:cs typeface="Arial"/>
                <a:sym typeface="Arial"/>
              </a:rPr>
              <a:t>‘휴양. 기분전환'(recreation)이라는 뜻 </a:t>
            </a:r>
            <a:endParaRPr b="1" sz="1800">
              <a:solidFill>
                <a:schemeClr val="dk1"/>
              </a:solidFill>
              <a:latin typeface="Arial"/>
              <a:ea typeface="Arial"/>
              <a:cs typeface="Arial"/>
              <a:sym typeface="Arial"/>
            </a:endParaRPr>
          </a:p>
        </p:txBody>
      </p:sp>
      <p:pic>
        <p:nvPicPr>
          <p:cNvPr descr="웹스터 사전에 대한 이미지 검색결과" id="124" name="Google Shape;124;p8"/>
          <p:cNvPicPr preferRelativeResize="0"/>
          <p:nvPr/>
        </p:nvPicPr>
        <p:blipFill rotWithShape="1">
          <a:blip r:embed="rId4">
            <a:alphaModFix/>
          </a:blip>
          <a:srcRect b="0" l="0" r="0" t="0"/>
          <a:stretch/>
        </p:blipFill>
        <p:spPr>
          <a:xfrm>
            <a:off x="6228184" y="809698"/>
            <a:ext cx="1524000" cy="2095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p9"/>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sp>
        <p:nvSpPr>
          <p:cNvPr id="130" name="Google Shape;130;p9"/>
          <p:cNvSpPr/>
          <p:nvPr/>
        </p:nvSpPr>
        <p:spPr>
          <a:xfrm>
            <a:off x="216024" y="850095"/>
            <a:ext cx="8460432" cy="3195648"/>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31" name="Google Shape;131;p9"/>
          <p:cNvSpPr/>
          <p:nvPr/>
        </p:nvSpPr>
        <p:spPr>
          <a:xfrm rot="5400000">
            <a:off x="64053" y="1767723"/>
            <a:ext cx="237553" cy="193072"/>
          </a:xfrm>
          <a:prstGeom prst="rect">
            <a:avLst/>
          </a:prstGeom>
          <a:solidFill>
            <a:srgbClr val="17365D"/>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2" name="Google Shape;132;p9"/>
          <p:cNvSpPr/>
          <p:nvPr/>
        </p:nvSpPr>
        <p:spPr>
          <a:xfrm>
            <a:off x="1110595" y="701821"/>
            <a:ext cx="392242" cy="124055"/>
          </a:xfrm>
          <a:prstGeom prst="rect">
            <a:avLst/>
          </a:prstGeom>
          <a:solidFill>
            <a:srgbClr val="17365D"/>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3" name="Google Shape;133;p9"/>
          <p:cNvSpPr/>
          <p:nvPr/>
        </p:nvSpPr>
        <p:spPr>
          <a:xfrm>
            <a:off x="576064" y="1453455"/>
            <a:ext cx="7576234" cy="2309018"/>
          </a:xfrm>
          <a:prstGeom prst="rect">
            <a:avLst/>
          </a:prstGeom>
          <a:noFill/>
          <a:ln>
            <a:noFill/>
          </a:ln>
        </p:spPr>
        <p:txBody>
          <a:bodyPr anchorCtr="0" anchor="ctr" bIns="45700" lIns="91425" spcFirstLastPara="1" rIns="91425" wrap="square" tIns="45700">
            <a:noAutofit/>
          </a:bodyPr>
          <a:lstStyle/>
          <a:p>
            <a:pPr indent="-114300" lvl="0" marL="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여가의 어원은 무료한 시간이 아니었다</a:t>
            </a:r>
            <a:endParaRPr b="1" sz="1800">
              <a:solidFill>
                <a:srgbClr val="262626"/>
              </a:solidFill>
              <a:latin typeface="Arial"/>
              <a:ea typeface="Arial"/>
              <a:cs typeface="Arial"/>
              <a:sym typeface="Arial"/>
            </a:endParaRPr>
          </a:p>
          <a:p>
            <a:pPr indent="-114300" lvl="0" marL="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여가의 어원은 평화, 조용함, 의무가 없는 자발적     </a:t>
            </a:r>
            <a:endParaRPr b="1" sz="1800">
              <a:solidFill>
                <a:srgbClr val="262626"/>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262626"/>
                </a:solidFill>
                <a:latin typeface="Arial"/>
                <a:ea typeface="Arial"/>
                <a:cs typeface="Arial"/>
                <a:sym typeface="Arial"/>
              </a:rPr>
              <a:t> 선택, 강제성이 없는 선택, 제약성이 없는 등을 </a:t>
            </a:r>
            <a:endParaRPr b="1" sz="1800">
              <a:solidFill>
                <a:srgbClr val="262626"/>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262626"/>
                </a:solidFill>
                <a:latin typeface="Arial"/>
                <a:ea typeface="Arial"/>
                <a:cs typeface="Arial"/>
                <a:sym typeface="Arial"/>
              </a:rPr>
              <a:t> 의미한다</a:t>
            </a:r>
            <a:endParaRPr b="1" sz="1800">
              <a:solidFill>
                <a:srgbClr val="262626"/>
              </a:solidFill>
              <a:latin typeface="Arial"/>
              <a:ea typeface="Arial"/>
              <a:cs typeface="Arial"/>
              <a:sym typeface="Arial"/>
            </a:endParaRPr>
          </a:p>
          <a:p>
            <a:pPr indent="-114300" lvl="0" marL="0" marR="0" rtl="0" algn="l">
              <a:lnSpc>
                <a:spcPct val="150000"/>
              </a:lnSpc>
              <a:spcBef>
                <a:spcPts val="0"/>
              </a:spcBef>
              <a:spcAft>
                <a:spcPts val="0"/>
              </a:spcAft>
              <a:buClr>
                <a:srgbClr val="262626"/>
              </a:buClr>
              <a:buSzPts val="1800"/>
              <a:buFont typeface="Arial"/>
              <a:buChar char="•"/>
            </a:pPr>
            <a:r>
              <a:rPr b="1" lang="ko-KR" sz="1800">
                <a:solidFill>
                  <a:srgbClr val="262626"/>
                </a:solidFill>
                <a:latin typeface="Arial"/>
                <a:ea typeface="Arial"/>
                <a:cs typeface="Arial"/>
                <a:sym typeface="Arial"/>
              </a:rPr>
              <a:t>정신적 자유로움에 초점을 두고 있음</a:t>
            </a:r>
            <a:endParaRPr/>
          </a:p>
          <a:p>
            <a:pPr indent="0" lvl="0" marL="0" marR="0" rtl="0" algn="l">
              <a:lnSpc>
                <a:spcPct val="150000"/>
              </a:lnSpc>
              <a:spcBef>
                <a:spcPts val="0"/>
              </a:spcBef>
              <a:spcAft>
                <a:spcPts val="0"/>
              </a:spcAft>
              <a:buClr>
                <a:schemeClr val="dk1"/>
              </a:buClr>
              <a:buSzPts val="1400"/>
              <a:buFont typeface="Arial"/>
              <a:buNone/>
            </a:pPr>
            <a:r>
              <a:t/>
            </a:r>
            <a:endParaRPr b="1" sz="1400">
              <a:solidFill>
                <a:schemeClr val="lt1"/>
              </a:solidFill>
              <a:latin typeface="Arial"/>
              <a:ea typeface="Arial"/>
              <a:cs typeface="Arial"/>
              <a:sym typeface="Arial"/>
            </a:endParaRPr>
          </a:p>
        </p:txBody>
      </p:sp>
      <p:sp>
        <p:nvSpPr>
          <p:cNvPr id="134" name="Google Shape;134;p9"/>
          <p:cNvSpPr/>
          <p:nvPr/>
        </p:nvSpPr>
        <p:spPr>
          <a:xfrm>
            <a:off x="86272" y="699542"/>
            <a:ext cx="1986439" cy="1281112"/>
          </a:xfrm>
          <a:custGeom>
            <a:rect b="b" l="l" r="r" t="t"/>
            <a:pathLst>
              <a:path extrusionOk="0" h="1281112" w="1276350">
                <a:moveTo>
                  <a:pt x="885825" y="0"/>
                </a:moveTo>
                <a:lnTo>
                  <a:pt x="0" y="885825"/>
                </a:lnTo>
                <a:lnTo>
                  <a:pt x="0" y="1281112"/>
                </a:lnTo>
                <a:lnTo>
                  <a:pt x="1276350" y="4762"/>
                </a:lnTo>
                <a:lnTo>
                  <a:pt x="885825" y="0"/>
                </a:lnTo>
                <a:close/>
              </a:path>
            </a:pathLst>
          </a:custGeom>
          <a:solidFill>
            <a:srgbClr val="DAE5F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35" name="Google Shape;135;p9"/>
          <p:cNvSpPr txBox="1"/>
          <p:nvPr/>
        </p:nvSpPr>
        <p:spPr>
          <a:xfrm rot="-2700000">
            <a:off x="161737" y="878036"/>
            <a:ext cx="12603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Arial"/>
                <a:ea typeface="Arial"/>
                <a:cs typeface="Arial"/>
                <a:sym typeface="Arial"/>
              </a:rPr>
              <a:t>결   론</a:t>
            </a:r>
            <a:endParaRPr b="1"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9" name="Shape 139"/>
        <p:cNvGrpSpPr/>
        <p:nvPr/>
      </p:nvGrpSpPr>
      <p:grpSpPr>
        <a:xfrm>
          <a:off x="0" y="0"/>
          <a:ext cx="0" cy="0"/>
          <a:chOff x="0" y="0"/>
          <a:chExt cx="0" cy="0"/>
        </a:xfrm>
      </p:grpSpPr>
      <p:sp>
        <p:nvSpPr>
          <p:cNvPr id="140" name="Google Shape;140;p10"/>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141" name="Google Shape;141;p10"/>
          <p:cNvGrpSpPr/>
          <p:nvPr/>
        </p:nvGrpSpPr>
        <p:grpSpPr>
          <a:xfrm>
            <a:off x="143384" y="805734"/>
            <a:ext cx="5265723" cy="380615"/>
            <a:chOff x="-3558356" y="1180751"/>
            <a:chExt cx="2880320" cy="380615"/>
          </a:xfrm>
        </p:grpSpPr>
        <p:grpSp>
          <p:nvGrpSpPr>
            <p:cNvPr id="142" name="Google Shape;142;p10"/>
            <p:cNvGrpSpPr/>
            <p:nvPr/>
          </p:nvGrpSpPr>
          <p:grpSpPr>
            <a:xfrm>
              <a:off x="-3492896" y="1196752"/>
              <a:ext cx="2799355" cy="364614"/>
              <a:chOff x="2915816" y="620688"/>
              <a:chExt cx="3095504" cy="542944"/>
            </a:xfrm>
          </p:grpSpPr>
          <p:sp>
            <p:nvSpPr>
              <p:cNvPr id="143" name="Google Shape;143;p10"/>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144" name="Google Shape;144;p10"/>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145" name="Google Shape;145;p10"/>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4대 개념</a:t>
              </a:r>
              <a:endParaRPr/>
            </a:p>
          </p:txBody>
        </p:sp>
      </p:grpSp>
      <p:grpSp>
        <p:nvGrpSpPr>
          <p:cNvPr id="146" name="Google Shape;146;p10"/>
          <p:cNvGrpSpPr/>
          <p:nvPr/>
        </p:nvGrpSpPr>
        <p:grpSpPr>
          <a:xfrm>
            <a:off x="1340278" y="1558109"/>
            <a:ext cx="2957748" cy="2957748"/>
            <a:chOff x="1592814" y="210495"/>
            <a:chExt cx="2957748" cy="2957748"/>
          </a:xfrm>
        </p:grpSpPr>
        <p:sp>
          <p:nvSpPr>
            <p:cNvPr id="147" name="Google Shape;147;p10"/>
            <p:cNvSpPr/>
            <p:nvPr/>
          </p:nvSpPr>
          <p:spPr>
            <a:xfrm>
              <a:off x="1712421" y="210495"/>
              <a:ext cx="2838141" cy="2838141"/>
            </a:xfrm>
            <a:prstGeom prst="pie">
              <a:avLst>
                <a:gd fmla="val 16200000" name="adj1"/>
                <a:gd fmla="val 0" name="adj2"/>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
            <p:cNvSpPr txBox="1"/>
            <p:nvPr/>
          </p:nvSpPr>
          <p:spPr>
            <a:xfrm>
              <a:off x="3163928" y="735551"/>
              <a:ext cx="1047409" cy="844685"/>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1800"/>
                <a:buFont typeface="Malgun Gothic"/>
                <a:buNone/>
              </a:pPr>
              <a:r>
                <a:rPr lang="ko-KR" sz="1800">
                  <a:solidFill>
                    <a:schemeClr val="lt1"/>
                  </a:solidFill>
                  <a:latin typeface="Malgun Gothic"/>
                  <a:ea typeface="Malgun Gothic"/>
                  <a:cs typeface="Malgun Gothic"/>
                  <a:sym typeface="Malgun Gothic"/>
                </a:rPr>
                <a:t>시간</a:t>
              </a:r>
              <a:endParaRPr/>
            </a:p>
          </p:txBody>
        </p:sp>
        <p:sp>
          <p:nvSpPr>
            <p:cNvPr id="149" name="Google Shape;149;p10"/>
            <p:cNvSpPr/>
            <p:nvPr/>
          </p:nvSpPr>
          <p:spPr>
            <a:xfrm>
              <a:off x="1592814" y="330102"/>
              <a:ext cx="2838141" cy="2838141"/>
            </a:xfrm>
            <a:prstGeom prst="pie">
              <a:avLst>
                <a:gd fmla="val 0" name="adj1"/>
                <a:gd fmla="val 5400000" name="adj2"/>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0"/>
            <p:cNvSpPr txBox="1"/>
            <p:nvPr/>
          </p:nvSpPr>
          <p:spPr>
            <a:xfrm>
              <a:off x="3062566" y="1799854"/>
              <a:ext cx="1047409" cy="844685"/>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1800"/>
                <a:buFont typeface="Malgun Gothic"/>
                <a:buNone/>
              </a:pPr>
              <a:r>
                <a:rPr lang="ko-KR" sz="1800">
                  <a:solidFill>
                    <a:schemeClr val="lt1"/>
                  </a:solidFill>
                  <a:latin typeface="Malgun Gothic"/>
                  <a:ea typeface="Malgun Gothic"/>
                  <a:cs typeface="Malgun Gothic"/>
                  <a:sym typeface="Malgun Gothic"/>
                </a:rPr>
                <a:t>활동</a:t>
              </a:r>
              <a:endParaRPr/>
            </a:p>
          </p:txBody>
        </p:sp>
        <p:sp>
          <p:nvSpPr>
            <p:cNvPr id="151" name="Google Shape;151;p10"/>
            <p:cNvSpPr/>
            <p:nvPr/>
          </p:nvSpPr>
          <p:spPr>
            <a:xfrm>
              <a:off x="1592814" y="330102"/>
              <a:ext cx="2838141" cy="2838141"/>
            </a:xfrm>
            <a:prstGeom prst="pie">
              <a:avLst>
                <a:gd fmla="val 5400000" name="adj1"/>
                <a:gd fmla="val 10800000" name="adj2"/>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
            <p:cNvSpPr txBox="1"/>
            <p:nvPr/>
          </p:nvSpPr>
          <p:spPr>
            <a:xfrm>
              <a:off x="1913794" y="1799854"/>
              <a:ext cx="1047409" cy="844685"/>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1800"/>
                <a:buFont typeface="Malgun Gothic"/>
                <a:buNone/>
              </a:pPr>
              <a:r>
                <a:rPr lang="ko-KR" sz="1800">
                  <a:solidFill>
                    <a:schemeClr val="lt1"/>
                  </a:solidFill>
                  <a:latin typeface="Malgun Gothic"/>
                  <a:ea typeface="Malgun Gothic"/>
                  <a:cs typeface="Malgun Gothic"/>
                  <a:sym typeface="Malgun Gothic"/>
                </a:rPr>
                <a:t>주관적 심리</a:t>
              </a:r>
              <a:endParaRPr/>
            </a:p>
          </p:txBody>
        </p:sp>
        <p:sp>
          <p:nvSpPr>
            <p:cNvPr id="153" name="Google Shape;153;p10"/>
            <p:cNvSpPr/>
            <p:nvPr/>
          </p:nvSpPr>
          <p:spPr>
            <a:xfrm>
              <a:off x="1592814" y="330102"/>
              <a:ext cx="2838141" cy="2838141"/>
            </a:xfrm>
            <a:prstGeom prst="pie">
              <a:avLst>
                <a:gd fmla="val 10800000" name="adj1"/>
                <a:gd fmla="val 16200000" name="adj2"/>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
            <p:cNvSpPr txBox="1"/>
            <p:nvPr/>
          </p:nvSpPr>
          <p:spPr>
            <a:xfrm>
              <a:off x="1913794" y="853807"/>
              <a:ext cx="1047409" cy="844685"/>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Clr>
                  <a:schemeClr val="lt1"/>
                </a:buClr>
                <a:buSzPts val="1800"/>
                <a:buFont typeface="Malgun Gothic"/>
                <a:buNone/>
              </a:pPr>
              <a:r>
                <a:rPr lang="ko-KR" sz="1800">
                  <a:solidFill>
                    <a:schemeClr val="lt1"/>
                  </a:solidFill>
                  <a:latin typeface="Malgun Gothic"/>
                  <a:ea typeface="Malgun Gothic"/>
                  <a:cs typeface="Malgun Gothic"/>
                  <a:sym typeface="Malgun Gothic"/>
                </a:rPr>
                <a:t>생활 영역</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8" name="Shape 158"/>
        <p:cNvGrpSpPr/>
        <p:nvPr/>
      </p:nvGrpSpPr>
      <p:grpSpPr>
        <a:xfrm>
          <a:off x="0" y="0"/>
          <a:ext cx="0" cy="0"/>
          <a:chOff x="0" y="0"/>
          <a:chExt cx="0" cy="0"/>
        </a:xfrm>
      </p:grpSpPr>
      <p:sp>
        <p:nvSpPr>
          <p:cNvPr id="159" name="Google Shape;159;p1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160" name="Google Shape;160;p11"/>
          <p:cNvGrpSpPr/>
          <p:nvPr/>
        </p:nvGrpSpPr>
        <p:grpSpPr>
          <a:xfrm>
            <a:off x="143384" y="805734"/>
            <a:ext cx="5265723" cy="380615"/>
            <a:chOff x="-3558356" y="1180751"/>
            <a:chExt cx="2880320" cy="380615"/>
          </a:xfrm>
        </p:grpSpPr>
        <p:grpSp>
          <p:nvGrpSpPr>
            <p:cNvPr id="161" name="Google Shape;161;p11"/>
            <p:cNvGrpSpPr/>
            <p:nvPr/>
          </p:nvGrpSpPr>
          <p:grpSpPr>
            <a:xfrm>
              <a:off x="-3492896" y="1196752"/>
              <a:ext cx="2799355" cy="364614"/>
              <a:chOff x="2915816" y="620688"/>
              <a:chExt cx="3095504" cy="542944"/>
            </a:xfrm>
          </p:grpSpPr>
          <p:sp>
            <p:nvSpPr>
              <p:cNvPr id="162" name="Google Shape;162;p11"/>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163" name="Google Shape;163;p11"/>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164" name="Google Shape;164;p11"/>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시간적 개념</a:t>
              </a:r>
              <a:endParaRPr/>
            </a:p>
          </p:txBody>
        </p:sp>
      </p:grpSp>
      <p:sp>
        <p:nvSpPr>
          <p:cNvPr id="165" name="Google Shape;165;p11"/>
          <p:cNvSpPr/>
          <p:nvPr/>
        </p:nvSpPr>
        <p:spPr>
          <a:xfrm>
            <a:off x="232012" y="1347614"/>
            <a:ext cx="5088319" cy="1944216"/>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66" name="Google Shape;166;p11"/>
          <p:cNvSpPr txBox="1"/>
          <p:nvPr/>
        </p:nvSpPr>
        <p:spPr>
          <a:xfrm>
            <a:off x="354853" y="1419622"/>
            <a:ext cx="4793211"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인간의 시간은 구분이 가능하다</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생계유지를 위한 시간</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생물적 욕구 충족을 위한 시간</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자유재량 시간</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0" name="Shape 170"/>
        <p:cNvGrpSpPr/>
        <p:nvPr/>
      </p:nvGrpSpPr>
      <p:grpSpPr>
        <a:xfrm>
          <a:off x="0" y="0"/>
          <a:ext cx="0" cy="0"/>
          <a:chOff x="0" y="0"/>
          <a:chExt cx="0" cy="0"/>
        </a:xfrm>
      </p:grpSpPr>
      <p:sp>
        <p:nvSpPr>
          <p:cNvPr id="171" name="Google Shape;171;p1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172" name="Google Shape;172;p12"/>
          <p:cNvGrpSpPr/>
          <p:nvPr/>
        </p:nvGrpSpPr>
        <p:grpSpPr>
          <a:xfrm>
            <a:off x="143384" y="805734"/>
            <a:ext cx="5265723" cy="380615"/>
            <a:chOff x="-3558356" y="1180751"/>
            <a:chExt cx="2880320" cy="380615"/>
          </a:xfrm>
        </p:grpSpPr>
        <p:grpSp>
          <p:nvGrpSpPr>
            <p:cNvPr id="173" name="Google Shape;173;p12"/>
            <p:cNvGrpSpPr/>
            <p:nvPr/>
          </p:nvGrpSpPr>
          <p:grpSpPr>
            <a:xfrm>
              <a:off x="-3492896" y="1196752"/>
              <a:ext cx="2799355" cy="364614"/>
              <a:chOff x="2915816" y="620688"/>
              <a:chExt cx="3095504" cy="542944"/>
            </a:xfrm>
          </p:grpSpPr>
          <p:sp>
            <p:nvSpPr>
              <p:cNvPr id="174" name="Google Shape;174;p12"/>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175" name="Google Shape;175;p12"/>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176" name="Google Shape;176;p12"/>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시간적 개념</a:t>
              </a:r>
              <a:endParaRPr/>
            </a:p>
          </p:txBody>
        </p:sp>
      </p:grpSp>
      <p:sp>
        <p:nvSpPr>
          <p:cNvPr id="177" name="Google Shape;177;p12"/>
          <p:cNvSpPr/>
          <p:nvPr/>
        </p:nvSpPr>
        <p:spPr>
          <a:xfrm>
            <a:off x="232012" y="1347613"/>
            <a:ext cx="5088319" cy="2657331"/>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78" name="Google Shape;178;p12"/>
          <p:cNvSpPr txBox="1"/>
          <p:nvPr/>
        </p:nvSpPr>
        <p:spPr>
          <a:xfrm>
            <a:off x="354853" y="1419622"/>
            <a:ext cx="4793211" cy="258532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자유시간 발생의 이유</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경제적 소유</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기계문명의 발달</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제재나 강요된 무위(억지로 쉬기)</a:t>
            </a:r>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은퇴 혹은 실직</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과업 수행후 휴식</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p13"/>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pic>
        <p:nvPicPr>
          <p:cNvPr id="184" name="Google Shape;184;p13"/>
          <p:cNvPicPr preferRelativeResize="0"/>
          <p:nvPr/>
        </p:nvPicPr>
        <p:blipFill rotWithShape="1">
          <a:blip r:embed="rId3">
            <a:alphaModFix/>
          </a:blip>
          <a:srcRect b="0" l="0" r="0" t="0"/>
          <a:stretch/>
        </p:blipFill>
        <p:spPr>
          <a:xfrm>
            <a:off x="323528" y="699542"/>
            <a:ext cx="5312066" cy="410445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p14"/>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190" name="Google Shape;190;p14"/>
          <p:cNvGrpSpPr/>
          <p:nvPr/>
        </p:nvGrpSpPr>
        <p:grpSpPr>
          <a:xfrm>
            <a:off x="143384" y="805734"/>
            <a:ext cx="5265723" cy="380615"/>
            <a:chOff x="-3558356" y="1180751"/>
            <a:chExt cx="2880320" cy="380615"/>
          </a:xfrm>
        </p:grpSpPr>
        <p:grpSp>
          <p:nvGrpSpPr>
            <p:cNvPr id="191" name="Google Shape;191;p14"/>
            <p:cNvGrpSpPr/>
            <p:nvPr/>
          </p:nvGrpSpPr>
          <p:grpSpPr>
            <a:xfrm>
              <a:off x="-3492896" y="1196752"/>
              <a:ext cx="2799355" cy="364614"/>
              <a:chOff x="2915816" y="620688"/>
              <a:chExt cx="3095504" cy="542944"/>
            </a:xfrm>
          </p:grpSpPr>
          <p:sp>
            <p:nvSpPr>
              <p:cNvPr id="192" name="Google Shape;192;p14"/>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193" name="Google Shape;193;p14"/>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194" name="Google Shape;194;p14"/>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시간적 개념</a:t>
              </a:r>
              <a:endParaRPr/>
            </a:p>
          </p:txBody>
        </p:sp>
      </p:grpSp>
      <p:sp>
        <p:nvSpPr>
          <p:cNvPr id="195" name="Google Shape;195;p14"/>
          <p:cNvSpPr/>
          <p:nvPr/>
        </p:nvSpPr>
        <p:spPr>
          <a:xfrm>
            <a:off x="232012" y="1347613"/>
            <a:ext cx="8372436" cy="1944217"/>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96" name="Google Shape;196;p14"/>
          <p:cNvSpPr txBox="1"/>
          <p:nvPr/>
        </p:nvSpPr>
        <p:spPr>
          <a:xfrm>
            <a:off x="354853" y="1419622"/>
            <a:ext cx="7886859" cy="129035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Dumazedier (1967)</a:t>
            </a:r>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여가를 “일, 가정, 사회의 의무로부터 벗어나 의도적으로 휴식, 기분전환, 혹은 창의력을 발휘할 수 있는 자발적인 활동” 이라고 정의</a:t>
            </a:r>
            <a:endParaRPr b="1" sz="1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p15"/>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202" name="Google Shape;202;p15"/>
          <p:cNvGrpSpPr/>
          <p:nvPr/>
        </p:nvGrpSpPr>
        <p:grpSpPr>
          <a:xfrm>
            <a:off x="143384" y="805734"/>
            <a:ext cx="5265723" cy="380615"/>
            <a:chOff x="-3558356" y="1180751"/>
            <a:chExt cx="2880320" cy="380615"/>
          </a:xfrm>
        </p:grpSpPr>
        <p:grpSp>
          <p:nvGrpSpPr>
            <p:cNvPr id="203" name="Google Shape;203;p15"/>
            <p:cNvGrpSpPr/>
            <p:nvPr/>
          </p:nvGrpSpPr>
          <p:grpSpPr>
            <a:xfrm>
              <a:off x="-3492896" y="1196752"/>
              <a:ext cx="2799355" cy="364614"/>
              <a:chOff x="2915816" y="620688"/>
              <a:chExt cx="3095504" cy="542944"/>
            </a:xfrm>
          </p:grpSpPr>
          <p:sp>
            <p:nvSpPr>
              <p:cNvPr id="204" name="Google Shape;204;p15"/>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205" name="Google Shape;205;p15"/>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206" name="Google Shape;206;p15"/>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활동적 개념</a:t>
              </a:r>
              <a:endParaRPr/>
            </a:p>
          </p:txBody>
        </p:sp>
      </p:grpSp>
      <p:sp>
        <p:nvSpPr>
          <p:cNvPr id="207" name="Google Shape;207;p15"/>
          <p:cNvSpPr/>
          <p:nvPr/>
        </p:nvSpPr>
        <p:spPr>
          <a:xfrm>
            <a:off x="232012" y="1347613"/>
            <a:ext cx="7580348" cy="2736305"/>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08" name="Google Shape;208;p15"/>
          <p:cNvSpPr txBox="1"/>
          <p:nvPr/>
        </p:nvSpPr>
        <p:spPr>
          <a:xfrm>
            <a:off x="354853" y="1419622"/>
            <a:ext cx="7140709" cy="212135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Dumazedier (1967)</a:t>
            </a:r>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자유시간에 행하는 활동 자체</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 여가를 노동, 가족, 사회의 의무로부터 해방되어 휴식이나 오락을 위하여, 또는 지식, 자발적 사 회참여, 창조적 능력의 자유로운 실현을 위하여 스스로 참여하는 활동</a:t>
            </a:r>
            <a:endParaRPr b="1" sz="18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p16"/>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214" name="Google Shape;214;p16"/>
          <p:cNvGrpSpPr/>
          <p:nvPr/>
        </p:nvGrpSpPr>
        <p:grpSpPr>
          <a:xfrm>
            <a:off x="143384" y="805734"/>
            <a:ext cx="5265723" cy="380615"/>
            <a:chOff x="-3558356" y="1180751"/>
            <a:chExt cx="2880320" cy="380615"/>
          </a:xfrm>
        </p:grpSpPr>
        <p:grpSp>
          <p:nvGrpSpPr>
            <p:cNvPr id="215" name="Google Shape;215;p16"/>
            <p:cNvGrpSpPr/>
            <p:nvPr/>
          </p:nvGrpSpPr>
          <p:grpSpPr>
            <a:xfrm>
              <a:off x="-3492896" y="1196752"/>
              <a:ext cx="2799355" cy="364614"/>
              <a:chOff x="2915816" y="620688"/>
              <a:chExt cx="3095504" cy="542944"/>
            </a:xfrm>
          </p:grpSpPr>
          <p:sp>
            <p:nvSpPr>
              <p:cNvPr id="216" name="Google Shape;216;p16"/>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217" name="Google Shape;217;p16"/>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218" name="Google Shape;218;p16"/>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활동적 개념</a:t>
              </a:r>
              <a:endParaRPr/>
            </a:p>
          </p:txBody>
        </p:sp>
      </p:grpSp>
      <p:sp>
        <p:nvSpPr>
          <p:cNvPr id="219" name="Google Shape;219;p16"/>
          <p:cNvSpPr/>
          <p:nvPr/>
        </p:nvSpPr>
        <p:spPr>
          <a:xfrm>
            <a:off x="232012" y="1347613"/>
            <a:ext cx="7631882" cy="2448273"/>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20" name="Google Shape;220;p16"/>
          <p:cNvSpPr txBox="1"/>
          <p:nvPr/>
        </p:nvSpPr>
        <p:spPr>
          <a:xfrm>
            <a:off x="354853" y="1419622"/>
            <a:ext cx="7189255" cy="17058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자유시간에 행하는 활동 자체</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 여가를 노동, 가족, 사회의 의무로부터 해방되어 휴식이나 오락을 위하여, 또는 지식, 자발적 사 회참여, 창조적 능력의 자유로운 실현을 위하여 스스로 참여하는 활동</a:t>
            </a:r>
            <a:endParaRPr b="1" sz="1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4" name="Shape 224"/>
        <p:cNvGrpSpPr/>
        <p:nvPr/>
      </p:nvGrpSpPr>
      <p:grpSpPr>
        <a:xfrm>
          <a:off x="0" y="0"/>
          <a:ext cx="0" cy="0"/>
          <a:chOff x="0" y="0"/>
          <a:chExt cx="0" cy="0"/>
        </a:xfrm>
      </p:grpSpPr>
      <p:sp>
        <p:nvSpPr>
          <p:cNvPr id="225" name="Google Shape;225;p17"/>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226" name="Google Shape;226;p17"/>
          <p:cNvGrpSpPr/>
          <p:nvPr/>
        </p:nvGrpSpPr>
        <p:grpSpPr>
          <a:xfrm>
            <a:off x="143384" y="805734"/>
            <a:ext cx="5265723" cy="380615"/>
            <a:chOff x="-3558356" y="1180751"/>
            <a:chExt cx="2880320" cy="380615"/>
          </a:xfrm>
        </p:grpSpPr>
        <p:grpSp>
          <p:nvGrpSpPr>
            <p:cNvPr id="227" name="Google Shape;227;p17"/>
            <p:cNvGrpSpPr/>
            <p:nvPr/>
          </p:nvGrpSpPr>
          <p:grpSpPr>
            <a:xfrm>
              <a:off x="-3492896" y="1196752"/>
              <a:ext cx="2799355" cy="364614"/>
              <a:chOff x="2915816" y="620688"/>
              <a:chExt cx="3095504" cy="542944"/>
            </a:xfrm>
          </p:grpSpPr>
          <p:sp>
            <p:nvSpPr>
              <p:cNvPr id="228" name="Google Shape;228;p17"/>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229" name="Google Shape;229;p17"/>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230" name="Google Shape;230;p17"/>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주관적 ,심리적 개념</a:t>
              </a:r>
              <a:endParaRPr/>
            </a:p>
          </p:txBody>
        </p:sp>
      </p:grpSp>
      <p:sp>
        <p:nvSpPr>
          <p:cNvPr id="231" name="Google Shape;231;p17"/>
          <p:cNvSpPr/>
          <p:nvPr/>
        </p:nvSpPr>
        <p:spPr>
          <a:xfrm>
            <a:off x="232012" y="1347613"/>
            <a:ext cx="7631882" cy="2808313"/>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32" name="Google Shape;232;p17"/>
          <p:cNvSpPr txBox="1"/>
          <p:nvPr/>
        </p:nvSpPr>
        <p:spPr>
          <a:xfrm>
            <a:off x="354853" y="1419622"/>
            <a:ext cx="7189255" cy="212135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마음의 상태로 규정</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인간의 전면적 발달을 위하여 주체성을 가지고 자유롭게 행동하는 심리적 상태</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따라서 일하는 과정 중에도 여가를 경험하는 것이 가능 </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Ex) 직업으로 예술활동하는 사람</a:t>
            </a:r>
            <a:endParaRPr b="1" sz="18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 name="Shape 236"/>
        <p:cNvGrpSpPr/>
        <p:nvPr/>
      </p:nvGrpSpPr>
      <p:grpSpPr>
        <a:xfrm>
          <a:off x="0" y="0"/>
          <a:ext cx="0" cy="0"/>
          <a:chOff x="0" y="0"/>
          <a:chExt cx="0" cy="0"/>
        </a:xfrm>
      </p:grpSpPr>
      <p:sp>
        <p:nvSpPr>
          <p:cNvPr id="237" name="Google Shape;237;p18"/>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여가의 어원</a:t>
            </a:r>
            <a:endParaRPr/>
          </a:p>
        </p:txBody>
      </p:sp>
      <p:grpSp>
        <p:nvGrpSpPr>
          <p:cNvPr id="238" name="Google Shape;238;p18"/>
          <p:cNvGrpSpPr/>
          <p:nvPr/>
        </p:nvGrpSpPr>
        <p:grpSpPr>
          <a:xfrm>
            <a:off x="143384" y="805734"/>
            <a:ext cx="5265723" cy="380615"/>
            <a:chOff x="-3558356" y="1180751"/>
            <a:chExt cx="2880320" cy="380615"/>
          </a:xfrm>
        </p:grpSpPr>
        <p:grpSp>
          <p:nvGrpSpPr>
            <p:cNvPr id="239" name="Google Shape;239;p18"/>
            <p:cNvGrpSpPr/>
            <p:nvPr/>
          </p:nvGrpSpPr>
          <p:grpSpPr>
            <a:xfrm>
              <a:off x="-3492896" y="1196752"/>
              <a:ext cx="2799355" cy="364614"/>
              <a:chOff x="2915816" y="620688"/>
              <a:chExt cx="3095504" cy="542944"/>
            </a:xfrm>
          </p:grpSpPr>
          <p:sp>
            <p:nvSpPr>
              <p:cNvPr id="240" name="Google Shape;240;p18"/>
              <p:cNvSpPr/>
              <p:nvPr/>
            </p:nvSpPr>
            <p:spPr>
              <a:xfrm>
                <a:off x="2915816" y="620688"/>
                <a:ext cx="3095504" cy="542944"/>
              </a:xfrm>
              <a:prstGeom prst="roundRect">
                <a:avLst>
                  <a:gd fmla="val 50000" name="adj"/>
                </a:avLst>
              </a:prstGeom>
              <a:solidFill>
                <a:srgbClr val="437137"/>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None/>
                </a:pPr>
                <a:r>
                  <a:t/>
                </a:r>
                <a:endParaRPr sz="1200">
                  <a:solidFill>
                    <a:srgbClr val="FFFFFF"/>
                  </a:solidFill>
                  <a:latin typeface="Malgun Gothic"/>
                  <a:ea typeface="Malgun Gothic"/>
                  <a:cs typeface="Malgun Gothic"/>
                  <a:sym typeface="Malgun Gothic"/>
                </a:endParaRPr>
              </a:p>
            </p:txBody>
          </p:sp>
          <p:pic>
            <p:nvPicPr>
              <p:cNvPr descr="7.png" id="241" name="Google Shape;241;p18"/>
              <p:cNvPicPr preferRelativeResize="0"/>
              <p:nvPr/>
            </p:nvPicPr>
            <p:blipFill rotWithShape="1">
              <a:blip r:embed="rId3">
                <a:alphaModFix/>
              </a:blip>
              <a:srcRect b="42889" l="36136" r="50166" t="27801"/>
              <a:stretch/>
            </p:blipFill>
            <p:spPr>
              <a:xfrm flipH="1">
                <a:off x="2927312" y="621092"/>
                <a:ext cx="3047456" cy="503652"/>
              </a:xfrm>
              <a:prstGeom prst="roundRect">
                <a:avLst>
                  <a:gd fmla="val 50000" name="adj"/>
                </a:avLst>
              </a:prstGeom>
              <a:noFill/>
              <a:ln>
                <a:noFill/>
              </a:ln>
            </p:spPr>
          </p:pic>
        </p:grpSp>
        <p:sp>
          <p:nvSpPr>
            <p:cNvPr id="242" name="Google Shape;242;p18"/>
            <p:cNvSpPr txBox="1"/>
            <p:nvPr/>
          </p:nvSpPr>
          <p:spPr>
            <a:xfrm>
              <a:off x="-3558356" y="1180751"/>
              <a:ext cx="2880320" cy="36931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ko-KR" sz="1800">
                  <a:solidFill>
                    <a:srgbClr val="D7D7D7"/>
                  </a:solidFill>
                  <a:latin typeface="Arial"/>
                  <a:ea typeface="Arial"/>
                  <a:cs typeface="Arial"/>
                  <a:sym typeface="Arial"/>
                </a:rPr>
                <a:t>여가의 유사개념</a:t>
              </a:r>
              <a:endParaRPr/>
            </a:p>
          </p:txBody>
        </p:sp>
      </p:grpSp>
      <p:sp>
        <p:nvSpPr>
          <p:cNvPr id="243" name="Google Shape;243;p18"/>
          <p:cNvSpPr/>
          <p:nvPr/>
        </p:nvSpPr>
        <p:spPr>
          <a:xfrm>
            <a:off x="232012" y="1347613"/>
            <a:ext cx="5564124" cy="1152129"/>
          </a:xfrm>
          <a:prstGeom prst="roundRect">
            <a:avLst>
              <a:gd fmla="val 3362" name="adj"/>
            </a:avLst>
          </a:prstGeom>
          <a:solidFill>
            <a:srgbClr val="FFFFFF"/>
          </a:solidFill>
          <a:ln cap="flat" cmpd="sng" w="12700">
            <a:solidFill>
              <a:srgbClr val="B8B8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244" name="Google Shape;244;p18"/>
          <p:cNvSpPr txBox="1"/>
          <p:nvPr/>
        </p:nvSpPr>
        <p:spPr>
          <a:xfrm>
            <a:off x="354853" y="1419622"/>
            <a:ext cx="5241421" cy="87485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레크리에이션</a:t>
            </a:r>
            <a:endParaRPr b="1" sz="18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Arial"/>
              <a:buChar char="•"/>
            </a:pPr>
            <a:r>
              <a:rPr b="1" lang="ko-KR" sz="1800">
                <a:solidFill>
                  <a:schemeClr val="dk1"/>
                </a:solidFill>
                <a:latin typeface="Arial"/>
                <a:ea typeface="Arial"/>
                <a:cs typeface="Arial"/>
                <a:sym typeface="Arial"/>
              </a:rPr>
              <a:t>놀이</a:t>
            </a:r>
            <a:endParaRPr b="1" sz="18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8" name="Shape 248"/>
        <p:cNvGrpSpPr/>
        <p:nvPr/>
      </p:nvGrpSpPr>
      <p:grpSpPr>
        <a:xfrm>
          <a:off x="0" y="0"/>
          <a:ext cx="0" cy="0"/>
          <a:chOff x="0" y="0"/>
          <a:chExt cx="0" cy="0"/>
        </a:xfrm>
      </p:grpSpPr>
      <p:sp>
        <p:nvSpPr>
          <p:cNvPr id="249" name="Google Shape;249;p19"/>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여가 개념 정리~</a:t>
            </a:r>
            <a:endParaRPr/>
          </a:p>
        </p:txBody>
      </p:sp>
      <p:sp>
        <p:nvSpPr>
          <p:cNvPr id="250" name="Google Shape;250;p19"/>
          <p:cNvSpPr/>
          <p:nvPr/>
        </p:nvSpPr>
        <p:spPr>
          <a:xfrm>
            <a:off x="107504" y="699542"/>
            <a:ext cx="5719912" cy="43088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Arial"/>
                <a:ea typeface="Arial"/>
                <a:cs typeface="Arial"/>
                <a:sym typeface="Arial"/>
              </a:rPr>
              <a:t>1) 여가의 시작은?</a:t>
            </a:r>
            <a:endParaRPr/>
          </a:p>
        </p:txBody>
      </p:sp>
      <p:pic>
        <p:nvPicPr>
          <p:cNvPr id="251" name="Google Shape;251;p19"/>
          <p:cNvPicPr preferRelativeResize="0"/>
          <p:nvPr/>
        </p:nvPicPr>
        <p:blipFill rotWithShape="1">
          <a:blip r:embed="rId3">
            <a:alphaModFix/>
          </a:blip>
          <a:srcRect b="0" l="1521" r="0" t="2187"/>
          <a:stretch/>
        </p:blipFill>
        <p:spPr>
          <a:xfrm>
            <a:off x="107504" y="666644"/>
            <a:ext cx="7632848" cy="4112953"/>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5" name="Shape 255"/>
        <p:cNvGrpSpPr/>
        <p:nvPr/>
      </p:nvGrpSpPr>
      <p:grpSpPr>
        <a:xfrm>
          <a:off x="0" y="0"/>
          <a:ext cx="0" cy="0"/>
          <a:chOff x="0" y="0"/>
          <a:chExt cx="0" cy="0"/>
        </a:xfrm>
      </p:grpSpPr>
      <p:pic>
        <p:nvPicPr>
          <p:cNvPr descr="130120_20_1.jpg" id="256" name="Google Shape;256;p20"/>
          <p:cNvPicPr preferRelativeResize="0"/>
          <p:nvPr/>
        </p:nvPicPr>
        <p:blipFill rotWithShape="1">
          <a:blip r:embed="rId3">
            <a:alphaModFix/>
          </a:blip>
          <a:srcRect b="0" l="0" r="0" t="0"/>
          <a:stretch/>
        </p:blipFill>
        <p:spPr>
          <a:xfrm>
            <a:off x="2731707" y="2534213"/>
            <a:ext cx="3039413" cy="2330216"/>
          </a:xfrm>
          <a:prstGeom prst="rect">
            <a:avLst/>
          </a:prstGeom>
          <a:noFill/>
          <a:ln>
            <a:noFill/>
          </a:ln>
        </p:spPr>
      </p:pic>
      <p:sp>
        <p:nvSpPr>
          <p:cNvPr id="257" name="Google Shape;257;p20"/>
          <p:cNvSpPr/>
          <p:nvPr/>
        </p:nvSpPr>
        <p:spPr>
          <a:xfrm>
            <a:off x="250825" y="864892"/>
            <a:ext cx="5689600" cy="1440160"/>
          </a:xfrm>
          <a:prstGeom prst="rect">
            <a:avLst/>
          </a:prstGeom>
          <a:gradFill>
            <a:gsLst>
              <a:gs pos="0">
                <a:srgbClr val="F0F0F0"/>
              </a:gs>
              <a:gs pos="100000">
                <a:srgbClr val="F8F8F8"/>
              </a:gs>
            </a:gsLst>
            <a:lin ang="5400000" scaled="0"/>
          </a:gradFill>
          <a:ln cap="flat" cmpd="sng" w="9525">
            <a:solidFill>
              <a:srgbClr val="969696"/>
            </a:solidFill>
            <a:prstDash val="solid"/>
            <a:round/>
            <a:headEnd len="sm" w="sm" type="none"/>
            <a:tailEnd len="sm" w="sm" type="none"/>
          </a:ln>
          <a:effectLst>
            <a:outerShdw blurRad="63500" sx="101000" rotWithShape="0" algn="ctr" sy="101000">
              <a:srgbClr val="000000">
                <a:alpha val="20000"/>
              </a:srgbClr>
            </a:outerShdw>
          </a:effectLst>
        </p:spPr>
        <p:txBody>
          <a:bodyPr anchorCtr="0" anchor="ctr" bIns="45700" lIns="91425" spcFirstLastPara="1" rIns="91425" wrap="square" tIns="45700">
            <a:noAutofit/>
          </a:bodyPr>
          <a:lstStyle/>
          <a:p>
            <a:pPr indent="0" lvl="0" marL="363538" marR="0" rtl="0" algn="l">
              <a:lnSpc>
                <a:spcPct val="110000"/>
              </a:lnSpc>
              <a:spcBef>
                <a:spcPts val="0"/>
              </a:spcBef>
              <a:spcAft>
                <a:spcPts val="0"/>
              </a:spcAft>
              <a:buNone/>
            </a:pPr>
            <a:r>
              <a:t/>
            </a:r>
            <a:endParaRPr b="1" sz="1800">
              <a:solidFill>
                <a:srgbClr val="242424"/>
              </a:solidFill>
              <a:latin typeface="Malgun Gothic"/>
              <a:ea typeface="Malgun Gothic"/>
              <a:cs typeface="Malgun Gothic"/>
              <a:sym typeface="Malgun Gothic"/>
            </a:endParaRPr>
          </a:p>
        </p:txBody>
      </p:sp>
      <p:sp>
        <p:nvSpPr>
          <p:cNvPr id="258" name="Google Shape;258;p20"/>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2. 그렇다면 여가란 무엇인가</a:t>
            </a:r>
            <a:endParaRPr/>
          </a:p>
        </p:txBody>
      </p:sp>
      <p:sp>
        <p:nvSpPr>
          <p:cNvPr id="259" name="Google Shape;259;p20"/>
          <p:cNvSpPr/>
          <p:nvPr/>
        </p:nvSpPr>
        <p:spPr>
          <a:xfrm>
            <a:off x="707978" y="867025"/>
            <a:ext cx="2805600" cy="425400"/>
          </a:xfrm>
          <a:prstGeom prst="rect">
            <a:avLst/>
          </a:prstGeom>
          <a:noFill/>
          <a:ln>
            <a:noFill/>
          </a:ln>
        </p:spPr>
        <p:txBody>
          <a:bodyPr anchorCtr="0" anchor="t" bIns="45700" lIns="91425" spcFirstLastPara="1" rIns="91425" wrap="square" tIns="45700">
            <a:spAutoFit/>
          </a:bodyPr>
          <a:lstStyle/>
          <a:p>
            <a:pPr indent="-85725" lvl="0" marL="85725" marR="0" rtl="0" algn="l">
              <a:lnSpc>
                <a:spcPct val="120000"/>
              </a:lnSpc>
              <a:spcBef>
                <a:spcPts val="0"/>
              </a:spcBef>
              <a:spcAft>
                <a:spcPts val="0"/>
              </a:spcAft>
              <a:buNone/>
            </a:pPr>
            <a:r>
              <a:rPr b="1" lang="ko-KR" sz="2000">
                <a:solidFill>
                  <a:srgbClr val="244061"/>
                </a:solidFill>
                <a:latin typeface="Malgun Gothic"/>
                <a:ea typeface="Malgun Gothic"/>
                <a:cs typeface="Malgun Gothic"/>
                <a:sym typeface="Malgun Gothic"/>
              </a:rPr>
              <a:t>Leisure의 이해</a:t>
            </a:r>
            <a:endParaRPr/>
          </a:p>
        </p:txBody>
      </p:sp>
      <p:pic>
        <p:nvPicPr>
          <p:cNvPr id="260" name="Google Shape;260;p20"/>
          <p:cNvPicPr preferRelativeResize="0"/>
          <p:nvPr/>
        </p:nvPicPr>
        <p:blipFill rotWithShape="1">
          <a:blip r:embed="rId4">
            <a:alphaModFix/>
          </a:blip>
          <a:srcRect b="0" l="0" r="0" t="0"/>
          <a:stretch/>
        </p:blipFill>
        <p:spPr>
          <a:xfrm flipH="1">
            <a:off x="325662" y="927020"/>
            <a:ext cx="419797" cy="415331"/>
          </a:xfrm>
          <a:prstGeom prst="rect">
            <a:avLst/>
          </a:prstGeom>
          <a:noFill/>
          <a:ln>
            <a:noFill/>
          </a:ln>
        </p:spPr>
      </p:pic>
      <p:sp>
        <p:nvSpPr>
          <p:cNvPr id="261" name="Google Shape;261;p20"/>
          <p:cNvSpPr/>
          <p:nvPr/>
        </p:nvSpPr>
        <p:spPr>
          <a:xfrm>
            <a:off x="689760" y="1302431"/>
            <a:ext cx="4962360" cy="96231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11243A"/>
              </a:buClr>
              <a:buSzPts val="1800"/>
              <a:buFont typeface="Arial"/>
              <a:buChar char="•"/>
            </a:pPr>
            <a:r>
              <a:rPr b="1" lang="ko-KR" sz="1800">
                <a:solidFill>
                  <a:srgbClr val="11243A"/>
                </a:solidFill>
                <a:latin typeface="Malgun Gothic"/>
                <a:ea typeface="Malgun Gothic"/>
                <a:cs typeface="Malgun Gothic"/>
                <a:sym typeface="Malgun Gothic"/>
              </a:rPr>
              <a:t>여가는 노는 시간일까?</a:t>
            </a:r>
            <a:endParaRPr/>
          </a:p>
          <a:p>
            <a:pPr indent="0" lvl="0" marL="0" marR="0" rtl="0" algn="l">
              <a:lnSpc>
                <a:spcPct val="120000"/>
              </a:lnSpc>
              <a:spcBef>
                <a:spcPts val="1552"/>
              </a:spcBef>
              <a:spcAft>
                <a:spcPts val="0"/>
              </a:spcAft>
              <a:buClr>
                <a:srgbClr val="11243A"/>
              </a:buClr>
              <a:buSzPts val="1800"/>
              <a:buFont typeface="Arial"/>
              <a:buChar char="•"/>
            </a:pPr>
            <a:r>
              <a:rPr b="1" lang="ko-KR" sz="1800">
                <a:solidFill>
                  <a:srgbClr val="11243A"/>
                </a:solidFill>
                <a:latin typeface="Malgun Gothic"/>
                <a:ea typeface="Malgun Gothic"/>
                <a:cs typeface="Malgun Gothic"/>
                <a:sym typeface="Malgun Gothic"/>
              </a:rPr>
              <a:t>아니면 남은 시간일까?</a:t>
            </a:r>
            <a:endParaRPr/>
          </a:p>
        </p:txBody>
      </p:sp>
      <p:sp>
        <p:nvSpPr>
          <p:cNvPr id="262" name="Google Shape;262;p20"/>
          <p:cNvSpPr/>
          <p:nvPr/>
        </p:nvSpPr>
        <p:spPr>
          <a:xfrm>
            <a:off x="257712" y="4834717"/>
            <a:ext cx="4962360" cy="309252"/>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ko-KR" sz="1400">
                <a:solidFill>
                  <a:srgbClr val="242424"/>
                </a:solidFill>
                <a:latin typeface="Malgun Gothic"/>
                <a:ea typeface="Malgun Gothic"/>
                <a:cs typeface="Malgun Gothic"/>
                <a:sym typeface="Malgun Gothic"/>
              </a:rPr>
              <a:t>&lt;그림1&gt; 출처 kmib.co.kr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6" name="Shape 266"/>
        <p:cNvGrpSpPr/>
        <p:nvPr/>
      </p:nvGrpSpPr>
      <p:grpSpPr>
        <a:xfrm>
          <a:off x="0" y="0"/>
          <a:ext cx="0" cy="0"/>
          <a:chOff x="0" y="0"/>
          <a:chExt cx="0" cy="0"/>
        </a:xfrm>
      </p:grpSpPr>
      <p:sp>
        <p:nvSpPr>
          <p:cNvPr id="267" name="Google Shape;267;p2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여가란 무엇인가</a:t>
            </a:r>
            <a:endParaRPr/>
          </a:p>
        </p:txBody>
      </p:sp>
      <p:sp>
        <p:nvSpPr>
          <p:cNvPr id="268" name="Google Shape;268;p21"/>
          <p:cNvSpPr/>
          <p:nvPr/>
        </p:nvSpPr>
        <p:spPr>
          <a:xfrm>
            <a:off x="0" y="700259"/>
            <a:ext cx="5938730" cy="397032"/>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269" name="Google Shape;269;p21"/>
          <p:cNvSpPr/>
          <p:nvPr/>
        </p:nvSpPr>
        <p:spPr>
          <a:xfrm>
            <a:off x="251519" y="1270256"/>
            <a:ext cx="5689353" cy="162000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270" name="Google Shape;270;p21"/>
          <p:cNvSpPr/>
          <p:nvPr/>
        </p:nvSpPr>
        <p:spPr>
          <a:xfrm>
            <a:off x="483558" y="1841325"/>
            <a:ext cx="5384586" cy="1006429"/>
          </a:xfrm>
          <a:prstGeom prst="rect">
            <a:avLst/>
          </a:prstGeom>
          <a:noFill/>
          <a:ln>
            <a:noFill/>
          </a:ln>
        </p:spPr>
        <p:txBody>
          <a:bodyPr anchorCtr="0" anchor="t" bIns="45700" lIns="91425" spcFirstLastPara="1" rIns="91425" wrap="square" tIns="45700">
            <a:spAutoFit/>
          </a:bodyPr>
          <a:lstStyle/>
          <a:p>
            <a:pPr indent="-266700" lvl="0" marL="266700" marR="0" rtl="0" algn="l">
              <a:lnSpc>
                <a:spcPct val="110000"/>
              </a:lnSpc>
              <a:spcBef>
                <a:spcPts val="0"/>
              </a:spcBef>
              <a:spcAft>
                <a:spcPts val="0"/>
              </a:spcAft>
              <a:buNone/>
            </a:pPr>
            <a:r>
              <a:rPr b="1" lang="ko-KR" sz="1800">
                <a:solidFill>
                  <a:srgbClr val="974806"/>
                </a:solidFill>
                <a:latin typeface="Malgun Gothic"/>
                <a:ea typeface="Malgun Gothic"/>
                <a:cs typeface="Malgun Gothic"/>
                <a:sym typeface="Malgun Gothic"/>
              </a:rPr>
              <a:t>⇒ 여가는 각 개인을 위한 사고의 기회를 제공하며 영성을 발달시키고  신체발달을 증진시키는데 제공되었다 (정용각, 2000).</a:t>
            </a:r>
            <a:endParaRPr/>
          </a:p>
        </p:txBody>
      </p:sp>
      <p:pic>
        <p:nvPicPr>
          <p:cNvPr descr="자전거1.jpg" id="271" name="Google Shape;271;p21"/>
          <p:cNvPicPr preferRelativeResize="0"/>
          <p:nvPr/>
        </p:nvPicPr>
        <p:blipFill rotWithShape="1">
          <a:blip r:embed="rId3">
            <a:alphaModFix/>
          </a:blip>
          <a:srcRect b="0" l="0" r="0" t="0"/>
          <a:stretch/>
        </p:blipFill>
        <p:spPr>
          <a:xfrm flipH="1">
            <a:off x="1521926" y="2976308"/>
            <a:ext cx="2466910" cy="1908000"/>
          </a:xfrm>
          <a:prstGeom prst="rect">
            <a:avLst/>
          </a:prstGeom>
          <a:noFill/>
          <a:ln>
            <a:noFill/>
          </a:ln>
        </p:spPr>
      </p:pic>
      <p:sp>
        <p:nvSpPr>
          <p:cNvPr id="272" name="Google Shape;272;p21"/>
          <p:cNvSpPr/>
          <p:nvPr/>
        </p:nvSpPr>
        <p:spPr>
          <a:xfrm>
            <a:off x="1481848" y="4853760"/>
            <a:ext cx="2481180" cy="309252"/>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ko-KR" sz="1400">
                <a:solidFill>
                  <a:srgbClr val="242424"/>
                </a:solidFill>
                <a:latin typeface="Malgun Gothic"/>
                <a:ea typeface="Malgun Gothic"/>
                <a:cs typeface="Malgun Gothic"/>
                <a:sym typeface="Malgun Gothic"/>
              </a:rPr>
              <a:t>&lt;그림2&gt; 출처 www.sportnest.kr</a:t>
            </a:r>
            <a:endParaRPr/>
          </a:p>
        </p:txBody>
      </p:sp>
      <p:sp>
        <p:nvSpPr>
          <p:cNvPr id="273" name="Google Shape;273;p21"/>
          <p:cNvSpPr txBox="1"/>
          <p:nvPr/>
        </p:nvSpPr>
        <p:spPr>
          <a:xfrm>
            <a:off x="363293" y="1386819"/>
            <a:ext cx="5360835" cy="396000"/>
          </a:xfrm>
          <a:prstGeom prst="rect">
            <a:avLst/>
          </a:prstGeom>
          <a:solidFill>
            <a:srgbClr val="E5DFEC"/>
          </a:solidFill>
          <a:ln>
            <a:noFill/>
          </a:ln>
        </p:spPr>
        <p:txBody>
          <a:bodyPr anchorCtr="0" anchor="ctr" bIns="87550" lIns="175100" spcFirstLastPara="1" rIns="175100" wrap="square" tIns="87550">
            <a:noAutofit/>
          </a:bodyPr>
          <a:lstStyle/>
          <a:p>
            <a:pPr indent="-285750" lvl="0" marL="285750" marR="0" rtl="0" algn="l">
              <a:lnSpc>
                <a:spcPct val="110000"/>
              </a:lnSpc>
              <a:spcBef>
                <a:spcPts val="0"/>
              </a:spcBef>
              <a:spcAft>
                <a:spcPts val="0"/>
              </a:spcAft>
              <a:buClr>
                <a:srgbClr val="C00000"/>
              </a:buClr>
              <a:buSzPts val="1800"/>
              <a:buFont typeface="Noto Sans Symbols"/>
              <a:buChar char="✔"/>
            </a:pPr>
            <a:r>
              <a:rPr b="1" lang="ko-KR" sz="1800">
                <a:solidFill>
                  <a:srgbClr val="0F243E"/>
                </a:solidFill>
                <a:latin typeface="Malgun Gothic"/>
                <a:ea typeface="Malgun Gothic"/>
                <a:cs typeface="Malgun Gothic"/>
                <a:sym typeface="Malgun Gothic"/>
              </a:rPr>
              <a:t>Leisure와 개인과의 관계</a:t>
            </a:r>
            <a:endParaRPr/>
          </a:p>
        </p:txBody>
      </p:sp>
      <p:sp>
        <p:nvSpPr>
          <p:cNvPr id="274" name="Google Shape;274;p21"/>
          <p:cNvSpPr/>
          <p:nvPr/>
        </p:nvSpPr>
        <p:spPr>
          <a:xfrm>
            <a:off x="107504" y="699542"/>
            <a:ext cx="4824536"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여가의 접근방법 - 개인</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8" name="Shape 278"/>
        <p:cNvGrpSpPr/>
        <p:nvPr/>
      </p:nvGrpSpPr>
      <p:grpSpPr>
        <a:xfrm>
          <a:off x="0" y="0"/>
          <a:ext cx="0" cy="0"/>
          <a:chOff x="0" y="0"/>
          <a:chExt cx="0" cy="0"/>
        </a:xfrm>
      </p:grpSpPr>
      <p:sp>
        <p:nvSpPr>
          <p:cNvPr id="279" name="Google Shape;279;p22"/>
          <p:cNvSpPr/>
          <p:nvPr/>
        </p:nvSpPr>
        <p:spPr>
          <a:xfrm>
            <a:off x="0" y="700259"/>
            <a:ext cx="5938730" cy="397032"/>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280" name="Google Shape;280;p2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여가란 무엇인가</a:t>
            </a:r>
            <a:endParaRPr/>
          </a:p>
        </p:txBody>
      </p:sp>
      <p:sp>
        <p:nvSpPr>
          <p:cNvPr id="281" name="Google Shape;281;p22"/>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여가의 접근방법 - 포괄적</a:t>
            </a:r>
            <a:endParaRPr/>
          </a:p>
        </p:txBody>
      </p:sp>
      <p:sp>
        <p:nvSpPr>
          <p:cNvPr id="282" name="Google Shape;282;p22"/>
          <p:cNvSpPr/>
          <p:nvPr/>
        </p:nvSpPr>
        <p:spPr>
          <a:xfrm>
            <a:off x="251519" y="1268122"/>
            <a:ext cx="5689353" cy="1663668"/>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283" name="Google Shape;283;p22"/>
          <p:cNvSpPr/>
          <p:nvPr/>
        </p:nvSpPr>
        <p:spPr>
          <a:xfrm>
            <a:off x="483558" y="1843459"/>
            <a:ext cx="5384586" cy="1006429"/>
          </a:xfrm>
          <a:prstGeom prst="rect">
            <a:avLst/>
          </a:prstGeom>
          <a:noFill/>
          <a:ln>
            <a:noFill/>
          </a:ln>
        </p:spPr>
        <p:txBody>
          <a:bodyPr anchorCtr="0" anchor="t" bIns="45700" lIns="91425" spcFirstLastPara="1" rIns="91425" wrap="square" tIns="45700">
            <a:spAutoFit/>
          </a:bodyPr>
          <a:lstStyle/>
          <a:p>
            <a:pPr indent="-266700" lvl="0" marL="266700" marR="0" rtl="0" algn="l">
              <a:lnSpc>
                <a:spcPct val="110000"/>
              </a:lnSpc>
              <a:spcBef>
                <a:spcPts val="0"/>
              </a:spcBef>
              <a:spcAft>
                <a:spcPts val="0"/>
              </a:spcAft>
              <a:buNone/>
            </a:pPr>
            <a:r>
              <a:rPr b="1" lang="ko-KR" sz="1800">
                <a:solidFill>
                  <a:srgbClr val="974806"/>
                </a:solidFill>
                <a:latin typeface="Malgun Gothic"/>
                <a:ea typeface="Malgun Gothic"/>
                <a:cs typeface="Malgun Gothic"/>
                <a:sym typeface="Malgun Gothic"/>
              </a:rPr>
              <a:t>⇒ 여가에 대한 포괄적 관계</a:t>
            </a:r>
            <a:br>
              <a:rPr b="1" lang="ko-KR" sz="1800">
                <a:solidFill>
                  <a:srgbClr val="974806"/>
                </a:solidFill>
                <a:latin typeface="Malgun Gothic"/>
                <a:ea typeface="Malgun Gothic"/>
                <a:cs typeface="Malgun Gothic"/>
                <a:sym typeface="Malgun Gothic"/>
              </a:rPr>
            </a:br>
            <a:r>
              <a:rPr b="1" lang="ko-KR" sz="1800">
                <a:solidFill>
                  <a:srgbClr val="974806"/>
                </a:solidFill>
                <a:latin typeface="Malgun Gothic"/>
                <a:ea typeface="Malgun Gothic"/>
                <a:cs typeface="Malgun Gothic"/>
                <a:sym typeface="Malgun Gothic"/>
              </a:rPr>
              <a:t> - 여가는 남은 시간이고 레크리에이션은 여가를 </a:t>
            </a:r>
            <a:br>
              <a:rPr b="1" lang="ko-KR" sz="1800">
                <a:solidFill>
                  <a:srgbClr val="974806"/>
                </a:solidFill>
                <a:latin typeface="Malgun Gothic"/>
                <a:ea typeface="Malgun Gothic"/>
                <a:cs typeface="Malgun Gothic"/>
                <a:sym typeface="Malgun Gothic"/>
              </a:rPr>
            </a:br>
            <a:r>
              <a:rPr b="1" lang="ko-KR" sz="1800">
                <a:solidFill>
                  <a:srgbClr val="974806"/>
                </a:solidFill>
                <a:latin typeface="Malgun Gothic"/>
                <a:ea typeface="Malgun Gothic"/>
                <a:cs typeface="Malgun Gothic"/>
                <a:sym typeface="Malgun Gothic"/>
              </a:rPr>
              <a:t>   선용하는 다양한  방법이다(최진이,2012).</a:t>
            </a:r>
            <a:endParaRPr/>
          </a:p>
        </p:txBody>
      </p:sp>
      <p:sp>
        <p:nvSpPr>
          <p:cNvPr id="284" name="Google Shape;284;p22"/>
          <p:cNvSpPr txBox="1"/>
          <p:nvPr/>
        </p:nvSpPr>
        <p:spPr>
          <a:xfrm>
            <a:off x="363293" y="1384685"/>
            <a:ext cx="5464123" cy="396000"/>
          </a:xfrm>
          <a:prstGeom prst="rect">
            <a:avLst/>
          </a:prstGeom>
          <a:solidFill>
            <a:srgbClr val="E5DFEC"/>
          </a:solidFill>
          <a:ln>
            <a:noFill/>
          </a:ln>
        </p:spPr>
        <p:txBody>
          <a:bodyPr anchorCtr="0" anchor="ctr" bIns="87550" lIns="175100" spcFirstLastPara="1" rIns="175100" wrap="square" tIns="87550">
            <a:noAutofit/>
          </a:bodyPr>
          <a:lstStyle/>
          <a:p>
            <a:pPr indent="-285750" lvl="0" marL="285750" marR="0" rtl="0" algn="l">
              <a:lnSpc>
                <a:spcPct val="110000"/>
              </a:lnSpc>
              <a:spcBef>
                <a:spcPts val="0"/>
              </a:spcBef>
              <a:spcAft>
                <a:spcPts val="0"/>
              </a:spcAft>
              <a:buClr>
                <a:srgbClr val="C00000"/>
              </a:buClr>
              <a:buSzPts val="1800"/>
              <a:buFont typeface="Noto Sans Symbols"/>
              <a:buChar char="✔"/>
            </a:pPr>
            <a:r>
              <a:rPr b="1" lang="ko-KR" sz="1800">
                <a:solidFill>
                  <a:srgbClr val="0F243E"/>
                </a:solidFill>
                <a:latin typeface="Malgun Gothic"/>
                <a:ea typeface="Malgun Gothic"/>
                <a:cs typeface="Malgun Gothic"/>
                <a:sym typeface="Malgun Gothic"/>
              </a:rPr>
              <a:t>Leisure와 레크리에이션과의 관계</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8" name="Shape 288"/>
        <p:cNvGrpSpPr/>
        <p:nvPr/>
      </p:nvGrpSpPr>
      <p:grpSpPr>
        <a:xfrm>
          <a:off x="0" y="0"/>
          <a:ext cx="0" cy="0"/>
          <a:chOff x="0" y="0"/>
          <a:chExt cx="0" cy="0"/>
        </a:xfrm>
      </p:grpSpPr>
      <p:sp>
        <p:nvSpPr>
          <p:cNvPr id="289" name="Google Shape;289;p23"/>
          <p:cNvSpPr/>
          <p:nvPr/>
        </p:nvSpPr>
        <p:spPr>
          <a:xfrm>
            <a:off x="0" y="700259"/>
            <a:ext cx="5938730" cy="397032"/>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290" name="Google Shape;290;p23"/>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 여가란 무엇인가</a:t>
            </a:r>
            <a:endParaRPr/>
          </a:p>
        </p:txBody>
      </p:sp>
      <p:sp>
        <p:nvSpPr>
          <p:cNvPr id="291" name="Google Shape;291;p23"/>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여가의 접근방법 - 포괄적</a:t>
            </a:r>
            <a:endParaRPr/>
          </a:p>
        </p:txBody>
      </p:sp>
      <p:sp>
        <p:nvSpPr>
          <p:cNvPr id="292" name="Google Shape;292;p23"/>
          <p:cNvSpPr/>
          <p:nvPr/>
        </p:nvSpPr>
        <p:spPr>
          <a:xfrm>
            <a:off x="251519" y="1268122"/>
            <a:ext cx="5689353" cy="1663668"/>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293" name="Google Shape;293;p23"/>
          <p:cNvSpPr/>
          <p:nvPr/>
        </p:nvSpPr>
        <p:spPr>
          <a:xfrm>
            <a:off x="483558" y="1843459"/>
            <a:ext cx="5384586" cy="1465016"/>
          </a:xfrm>
          <a:prstGeom prst="rect">
            <a:avLst/>
          </a:prstGeom>
          <a:noFill/>
          <a:ln>
            <a:noFill/>
          </a:ln>
        </p:spPr>
        <p:txBody>
          <a:bodyPr anchorCtr="0" anchor="t" bIns="45700" lIns="91425" spcFirstLastPara="1" rIns="91425" wrap="square" tIns="45700">
            <a:spAutoFit/>
          </a:bodyPr>
          <a:lstStyle/>
          <a:p>
            <a:pPr indent="-266700" lvl="0" marL="266700" marR="0" rtl="0" algn="l">
              <a:lnSpc>
                <a:spcPct val="110000"/>
              </a:lnSpc>
              <a:spcBef>
                <a:spcPts val="0"/>
              </a:spcBef>
              <a:spcAft>
                <a:spcPts val="0"/>
              </a:spcAft>
              <a:buNone/>
            </a:pPr>
            <a:r>
              <a:rPr b="1" lang="ko-KR" sz="1800">
                <a:solidFill>
                  <a:srgbClr val="974806"/>
                </a:solidFill>
                <a:latin typeface="Malgun Gothic"/>
                <a:ea typeface="Malgun Gothic"/>
                <a:cs typeface="Malgun Gothic"/>
                <a:sym typeface="Malgun Gothic"/>
              </a:rPr>
              <a:t>질문 : 현대의 삶에서 과연 여가와 레크리에이션의 구분이 가능할까요?</a:t>
            </a:r>
            <a:endParaRPr/>
          </a:p>
          <a:p>
            <a:pPr indent="-266700" lvl="0" marL="266700" marR="0" rtl="0" algn="l">
              <a:lnSpc>
                <a:spcPct val="110000"/>
              </a:lnSpc>
              <a:spcBef>
                <a:spcPts val="600"/>
              </a:spcBef>
              <a:spcAft>
                <a:spcPts val="0"/>
              </a:spcAft>
              <a:buNone/>
            </a:pPr>
            <a:r>
              <a:rPr b="1" lang="ko-KR" sz="1800">
                <a:solidFill>
                  <a:srgbClr val="974806"/>
                </a:solidFill>
                <a:latin typeface="Malgun Gothic"/>
                <a:ea typeface="Malgun Gothic"/>
                <a:cs typeface="Malgun Gothic"/>
                <a:sym typeface="Malgun Gothic"/>
              </a:rPr>
              <a:t>     </a:t>
            </a:r>
            <a:endParaRPr/>
          </a:p>
          <a:p>
            <a:pPr indent="-266700" lvl="0" marL="266700" marR="0" rtl="0" algn="l">
              <a:lnSpc>
                <a:spcPct val="110000"/>
              </a:lnSpc>
              <a:spcBef>
                <a:spcPts val="600"/>
              </a:spcBef>
              <a:spcAft>
                <a:spcPts val="0"/>
              </a:spcAft>
              <a:buNone/>
            </a:pPr>
            <a:r>
              <a:t/>
            </a:r>
            <a:endParaRPr b="1" sz="1800">
              <a:solidFill>
                <a:srgbClr val="974806"/>
              </a:solidFill>
              <a:latin typeface="Malgun Gothic"/>
              <a:ea typeface="Malgun Gothic"/>
              <a:cs typeface="Malgun Gothic"/>
              <a:sym typeface="Malgun Gothic"/>
            </a:endParaRPr>
          </a:p>
        </p:txBody>
      </p:sp>
      <p:sp>
        <p:nvSpPr>
          <p:cNvPr id="294" name="Google Shape;294;p23"/>
          <p:cNvSpPr txBox="1"/>
          <p:nvPr/>
        </p:nvSpPr>
        <p:spPr>
          <a:xfrm>
            <a:off x="363293" y="1384685"/>
            <a:ext cx="5464123" cy="396000"/>
          </a:xfrm>
          <a:prstGeom prst="rect">
            <a:avLst/>
          </a:prstGeom>
          <a:solidFill>
            <a:srgbClr val="E5DFEC"/>
          </a:solidFill>
          <a:ln>
            <a:noFill/>
          </a:ln>
        </p:spPr>
        <p:txBody>
          <a:bodyPr anchorCtr="0" anchor="ctr" bIns="87550" lIns="175100" spcFirstLastPara="1" rIns="175100" wrap="square" tIns="87550">
            <a:noAutofit/>
          </a:bodyPr>
          <a:lstStyle/>
          <a:p>
            <a:pPr indent="-285750" lvl="0" marL="285750" marR="0" rtl="0" algn="l">
              <a:lnSpc>
                <a:spcPct val="110000"/>
              </a:lnSpc>
              <a:spcBef>
                <a:spcPts val="0"/>
              </a:spcBef>
              <a:spcAft>
                <a:spcPts val="0"/>
              </a:spcAft>
              <a:buClr>
                <a:srgbClr val="C00000"/>
              </a:buClr>
              <a:buSzPts val="1800"/>
              <a:buFont typeface="Noto Sans Symbols"/>
              <a:buChar char="✔"/>
            </a:pPr>
            <a:r>
              <a:rPr b="1" lang="ko-KR" sz="1800">
                <a:solidFill>
                  <a:srgbClr val="0F243E"/>
                </a:solidFill>
                <a:latin typeface="Malgun Gothic"/>
                <a:ea typeface="Malgun Gothic"/>
                <a:cs typeface="Malgun Gothic"/>
                <a:sym typeface="Malgun Gothic"/>
              </a:rPr>
              <a:t>Leisure와 레크리에이션과의 관계</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8" name="Shape 298"/>
        <p:cNvGrpSpPr/>
        <p:nvPr/>
      </p:nvGrpSpPr>
      <p:grpSpPr>
        <a:xfrm>
          <a:off x="0" y="0"/>
          <a:ext cx="0" cy="0"/>
          <a:chOff x="0" y="0"/>
          <a:chExt cx="0" cy="0"/>
        </a:xfrm>
      </p:grpSpPr>
      <p:sp>
        <p:nvSpPr>
          <p:cNvPr id="299" name="Google Shape;299;p24"/>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3. 레크리에이션과 여가의 학문적 접근</a:t>
            </a:r>
            <a:endParaRPr/>
          </a:p>
        </p:txBody>
      </p:sp>
      <p:sp>
        <p:nvSpPr>
          <p:cNvPr id="300" name="Google Shape;300;p24"/>
          <p:cNvSpPr txBox="1"/>
          <p:nvPr/>
        </p:nvSpPr>
        <p:spPr>
          <a:xfrm>
            <a:off x="251520" y="838757"/>
            <a:ext cx="5040560" cy="366254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레크리에이션은 기술인가 ?학문인가?</a:t>
            </a:r>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학문과 기술이 뭐가 다를까?</a:t>
            </a:r>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다를 것 없어 보이지만 다르다고 함</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계산하는 것? </a:t>
            </a:r>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기술일까 학문일까?</a:t>
            </a:r>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학문은 문화의 축적이자 계승임</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그래서 학문 연구는 창조적이기도 하지만 기초위에서 창조한다</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즉, 기초부터 차근 차근~</a:t>
            </a:r>
            <a:endParaRPr/>
          </a:p>
        </p:txBody>
      </p:sp>
      <p:pic>
        <p:nvPicPr>
          <p:cNvPr descr="선조들의 학문과 기술(상) - YES24" id="301" name="Google Shape;301;p24"/>
          <p:cNvPicPr preferRelativeResize="0"/>
          <p:nvPr/>
        </p:nvPicPr>
        <p:blipFill rotWithShape="1">
          <a:blip r:embed="rId3">
            <a:alphaModFix/>
          </a:blip>
          <a:srcRect b="0" l="0" r="0" t="0"/>
          <a:stretch/>
        </p:blipFill>
        <p:spPr>
          <a:xfrm>
            <a:off x="5364088" y="922268"/>
            <a:ext cx="2448272" cy="362706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5" name="Shape 305"/>
        <p:cNvGrpSpPr/>
        <p:nvPr/>
      </p:nvGrpSpPr>
      <p:grpSpPr>
        <a:xfrm>
          <a:off x="0" y="0"/>
          <a:ext cx="0" cy="0"/>
          <a:chOff x="0" y="0"/>
          <a:chExt cx="0" cy="0"/>
        </a:xfrm>
      </p:grpSpPr>
      <p:sp>
        <p:nvSpPr>
          <p:cNvPr id="306" name="Google Shape;306;p25"/>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07" name="Google Shape;307;p25"/>
          <p:cNvSpPr txBox="1"/>
          <p:nvPr/>
        </p:nvSpPr>
        <p:spPr>
          <a:xfrm>
            <a:off x="179512" y="627534"/>
            <a:ext cx="6120680" cy="107721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그러나 기술은 축적되고 계승되는 것도 존재하지만 이 과정이 압축되거나 생략될 수도 있다</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예) 컴퓨터 2진수나  C언어 안배워도 컴퓨터 배울 수 있음</a:t>
            </a:r>
            <a:endParaRPr b="1" sz="1800">
              <a:solidFill>
                <a:srgbClr val="242424"/>
              </a:solidFill>
              <a:latin typeface="Arial"/>
              <a:ea typeface="Arial"/>
              <a:cs typeface="Arial"/>
              <a:sym typeface="Arial"/>
            </a:endParaRPr>
          </a:p>
        </p:txBody>
      </p:sp>
      <p:pic>
        <p:nvPicPr>
          <p:cNvPr descr="c 언어 / reverse 출력 코드(I)" id="308" name="Google Shape;308;p25"/>
          <p:cNvPicPr preferRelativeResize="0"/>
          <p:nvPr/>
        </p:nvPicPr>
        <p:blipFill rotWithShape="1">
          <a:blip r:embed="rId3">
            <a:alphaModFix/>
          </a:blip>
          <a:srcRect b="0" l="0" r="0" t="0"/>
          <a:stretch/>
        </p:blipFill>
        <p:spPr>
          <a:xfrm>
            <a:off x="451378" y="1816715"/>
            <a:ext cx="5553075" cy="3305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2" name="Shape 312"/>
        <p:cNvGrpSpPr/>
        <p:nvPr/>
      </p:nvGrpSpPr>
      <p:grpSpPr>
        <a:xfrm>
          <a:off x="0" y="0"/>
          <a:ext cx="0" cy="0"/>
          <a:chOff x="0" y="0"/>
          <a:chExt cx="0" cy="0"/>
        </a:xfrm>
      </p:grpSpPr>
      <p:sp>
        <p:nvSpPr>
          <p:cNvPr id="313" name="Google Shape;313;p26"/>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14" name="Google Shape;314;p26"/>
          <p:cNvSpPr txBox="1"/>
          <p:nvPr/>
        </p:nvSpPr>
        <p:spPr>
          <a:xfrm>
            <a:off x="179512" y="627534"/>
            <a:ext cx="6120680" cy="166199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내가 컴퓨터 처음 배울때는 코불이나 베이직같은 C언어를 배움</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그러나 지금은 윈도우만 쓰면 다 됨</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이건 기술이 발전한 것임</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이것을 학문이 발전했다고 하지 않음</a:t>
            </a:r>
            <a:endParaRPr b="1" sz="1800">
              <a:solidFill>
                <a:srgbClr val="242424"/>
              </a:solidFill>
              <a:latin typeface="Arial"/>
              <a:ea typeface="Arial"/>
              <a:cs typeface="Arial"/>
              <a:sym typeface="Arial"/>
            </a:endParaRPr>
          </a:p>
        </p:txBody>
      </p:sp>
      <p:pic>
        <p:nvPicPr>
          <p:cNvPr descr="그때 그 컴퓨터들] 8~90년대 컴퓨터와 당시 추억의 게임들 : 네이버 포스트" id="315" name="Google Shape;315;p26"/>
          <p:cNvPicPr preferRelativeResize="0"/>
          <p:nvPr/>
        </p:nvPicPr>
        <p:blipFill rotWithShape="1">
          <a:blip r:embed="rId3">
            <a:alphaModFix/>
          </a:blip>
          <a:srcRect b="0" l="-86" r="44668" t="0"/>
          <a:stretch/>
        </p:blipFill>
        <p:spPr>
          <a:xfrm>
            <a:off x="467544" y="2434567"/>
            <a:ext cx="2508840" cy="2713495"/>
          </a:xfrm>
          <a:prstGeom prst="rect">
            <a:avLst/>
          </a:prstGeom>
          <a:noFill/>
          <a:ln>
            <a:noFill/>
          </a:ln>
        </p:spPr>
      </p:pic>
      <p:sp>
        <p:nvSpPr>
          <p:cNvPr descr="고성능 원했나요? HP 일체형 데스크탑 EliteOne 800 G6 발표! | 1boon" id="316" name="Google Shape;316;p26"/>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id="317" name="Google Shape;317;p26"/>
          <p:cNvPicPr preferRelativeResize="0"/>
          <p:nvPr/>
        </p:nvPicPr>
        <p:blipFill rotWithShape="1">
          <a:blip r:embed="rId4">
            <a:alphaModFix/>
          </a:blip>
          <a:srcRect b="0" l="0" r="0" t="0"/>
          <a:stretch/>
        </p:blipFill>
        <p:spPr>
          <a:xfrm>
            <a:off x="3136879" y="2434566"/>
            <a:ext cx="3163313" cy="236943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1" name="Shape 321"/>
        <p:cNvGrpSpPr/>
        <p:nvPr/>
      </p:nvGrpSpPr>
      <p:grpSpPr>
        <a:xfrm>
          <a:off x="0" y="0"/>
          <a:ext cx="0" cy="0"/>
          <a:chOff x="0" y="0"/>
          <a:chExt cx="0" cy="0"/>
        </a:xfrm>
      </p:grpSpPr>
      <p:sp>
        <p:nvSpPr>
          <p:cNvPr id="322" name="Google Shape;322;p27"/>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23" name="Google Shape;323;p27"/>
          <p:cNvSpPr txBox="1"/>
          <p:nvPr/>
        </p:nvSpPr>
        <p:spPr>
          <a:xfrm>
            <a:off x="179512" y="627534"/>
            <a:ext cx="8568952" cy="427193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인간에게 학문이 필요한 이유 – 문화를 가지고 있기 때문임</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문화는 조금씩 축적되고 세대를 이어 계승된다</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그럼 다시 고민해 보는것 - 레크리에이션은 기술인가 ?학문인가?</a:t>
            </a:r>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학문이라면 사회과학일까? 자연과학일까?</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학문이 성립되기 위해서는 무엇을 배우는가(배움의 대상), 어떻게 배우는가(대상에 대한 접근방법)가 결정되어야 한다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그리고 대상은 기존의 학문에서 추구하는 대상과 비교하여 서로 중첩되지 않는 독자적인 영역이 필요하다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그리고 창조적이지만 기초가 있어야 한다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그래서 모든 학문은 기원을 이야기한다</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7" name="Shape 327"/>
        <p:cNvGrpSpPr/>
        <p:nvPr/>
      </p:nvGrpSpPr>
      <p:grpSpPr>
        <a:xfrm>
          <a:off x="0" y="0"/>
          <a:ext cx="0" cy="0"/>
          <a:chOff x="0" y="0"/>
          <a:chExt cx="0" cy="0"/>
        </a:xfrm>
      </p:grpSpPr>
      <p:sp>
        <p:nvSpPr>
          <p:cNvPr id="328" name="Google Shape;328;p28"/>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29" name="Google Shape;329;p28"/>
          <p:cNvSpPr txBox="1"/>
          <p:nvPr/>
        </p:nvSpPr>
        <p:spPr>
          <a:xfrm>
            <a:off x="179512" y="627534"/>
            <a:ext cx="8640960" cy="300697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학문을 나누는 방법은 매우 다양하다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따라서 학문의 대상을 어느 한 기준에 맞춰 두부 자르듯이 잘라 나눌 수 없다 </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광의적 - 인간의 삶에서 중요한 두가지 요소인 사회와 자연를 기초로 사회과학과 자연과학으로 나눈다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사회과학은 인간 사이의 관계에서 일어나는 사회 현상과 인간의 사회적 행동을 탐구하는 학문</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자연과학의 발전에 영향을 받아 발전한 과학적 방법을 사용하여 사회현상을 연구한다</a:t>
            </a:r>
            <a:endParaRPr b="1" sz="1800">
              <a:solidFill>
                <a:srgbClr val="242424"/>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3" name="Shape 333"/>
        <p:cNvGrpSpPr/>
        <p:nvPr/>
      </p:nvGrpSpPr>
      <p:grpSpPr>
        <a:xfrm>
          <a:off x="0" y="0"/>
          <a:ext cx="0" cy="0"/>
          <a:chOff x="0" y="0"/>
          <a:chExt cx="0" cy="0"/>
        </a:xfrm>
      </p:grpSpPr>
      <p:sp>
        <p:nvSpPr>
          <p:cNvPr id="334" name="Google Shape;334;p29"/>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35" name="Google Shape;335;p29"/>
          <p:cNvSpPr txBox="1"/>
          <p:nvPr/>
        </p:nvSpPr>
        <p:spPr>
          <a:xfrm>
            <a:off x="179512" y="627534"/>
            <a:ext cx="8424936" cy="400417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3F3F3F"/>
              </a:buClr>
              <a:buSzPts val="1800"/>
              <a:buFont typeface="Noto Sans Symbols"/>
              <a:buChar char="●"/>
            </a:pPr>
            <a:r>
              <a:rPr b="1" lang="ko-KR" sz="1800">
                <a:solidFill>
                  <a:srgbClr val="3F3F3F"/>
                </a:solidFill>
                <a:latin typeface="Arial"/>
                <a:ea typeface="Arial"/>
                <a:cs typeface="Arial"/>
                <a:sym typeface="Arial"/>
              </a:rPr>
              <a:t> 따라서 자연과학과 같이 사회과학 역시 경험적 지식체계를 구축하는 경험과학이라고 할 수 있음</a:t>
            </a:r>
            <a:endParaRPr b="1" sz="1800">
              <a:solidFill>
                <a:srgbClr val="3F3F3F"/>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자연과학과 달리 사회과학은 인간 사이의 관계를 연구하기 때문에 가치관의 문제를 다루고 있다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사회과학은 </a:t>
            </a:r>
            <a:r>
              <a:rPr b="1" lang="ko-KR" sz="1800">
                <a:solidFill>
                  <a:srgbClr val="3F3F3F"/>
                </a:solidFill>
                <a:latin typeface="Arial"/>
                <a:ea typeface="Arial"/>
                <a:cs typeface="Arial"/>
                <a:sym typeface="Arial"/>
              </a:rPr>
              <a:t>보다 세분화하면 사회과학은  사회현상에서 보다 인간에 치중하여 문학, 역사, 철학으로 이루어진 인문학, 사회학, 경제학, 정치학, 심리학, 법학, 문헌 정보학, 고고학 등으로 나누어짐</a:t>
            </a:r>
            <a:endParaRPr b="1" sz="1800">
              <a:solidFill>
                <a:srgbClr val="3F3F3F"/>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따라서 사회과학이 다루는 사회 현상은 사회 그 자체의 구성에서 부터 사회에서 일어나는 경제, 정치, 문화적인 사건뿐만 아니라 사회의 구성원인 개인의 심리까지 다양함</a:t>
            </a:r>
            <a:endParaRPr b="1" sz="1800">
              <a:solidFill>
                <a:srgbClr val="3F3F3F"/>
              </a:solidFill>
              <a:latin typeface="Arial"/>
              <a:ea typeface="Arial"/>
              <a:cs typeface="Arial"/>
              <a:sym typeface="Arial"/>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3F3F3F"/>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9" name="Shape 339"/>
        <p:cNvGrpSpPr/>
        <p:nvPr/>
      </p:nvGrpSpPr>
      <p:grpSpPr>
        <a:xfrm>
          <a:off x="0" y="0"/>
          <a:ext cx="0" cy="0"/>
          <a:chOff x="0" y="0"/>
          <a:chExt cx="0" cy="0"/>
        </a:xfrm>
      </p:grpSpPr>
      <p:sp>
        <p:nvSpPr>
          <p:cNvPr id="340" name="Google Shape;340;p30"/>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41" name="Google Shape;341;p30"/>
          <p:cNvSpPr txBox="1"/>
          <p:nvPr/>
        </p:nvSpPr>
        <p:spPr>
          <a:xfrm>
            <a:off x="179512" y="627534"/>
            <a:ext cx="8568952" cy="206210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3F3F3F"/>
              </a:buClr>
              <a:buSzPts val="1800"/>
              <a:buFont typeface="Noto Sans Symbols"/>
              <a:buChar char="●"/>
            </a:pPr>
            <a:r>
              <a:rPr b="1" lang="ko-KR" sz="1800">
                <a:solidFill>
                  <a:srgbClr val="3F3F3F"/>
                </a:solidFill>
                <a:latin typeface="Arial"/>
                <a:ea typeface="Arial"/>
                <a:cs typeface="Arial"/>
                <a:sym typeface="Arial"/>
              </a:rPr>
              <a:t>자연과학은 자연에 대한 존재 탐구를 넘어 이를 어떻게 이용 가능하게 할 것인가를 다루는 (자연)공학으로 나누기도 한다. </a:t>
            </a:r>
            <a:endParaRPr b="1" sz="1800">
              <a:solidFill>
                <a:srgbClr val="3F3F3F"/>
              </a:solidFill>
              <a:latin typeface="Arial"/>
              <a:ea typeface="Arial"/>
              <a:cs typeface="Arial"/>
              <a:sym typeface="Arial"/>
            </a:endParaRPr>
          </a:p>
          <a:p>
            <a:pPr indent="-285750" lvl="0" marL="285750" marR="0" rtl="0" algn="l">
              <a:lnSpc>
                <a:spcPct val="120000"/>
              </a:lnSpc>
              <a:spcBef>
                <a:spcPts val="1200"/>
              </a:spcBef>
              <a:spcAft>
                <a:spcPts val="0"/>
              </a:spcAft>
              <a:buClr>
                <a:srgbClr val="3F3F3F"/>
              </a:buClr>
              <a:buSzPts val="1800"/>
              <a:buFont typeface="Noto Sans Symbols"/>
              <a:buChar char="●"/>
            </a:pPr>
            <a:r>
              <a:rPr b="1" lang="ko-KR" sz="1800">
                <a:solidFill>
                  <a:srgbClr val="3F3F3F"/>
                </a:solidFill>
                <a:latin typeface="Arial"/>
                <a:ea typeface="Arial"/>
                <a:cs typeface="Arial"/>
                <a:sym typeface="Arial"/>
              </a:rPr>
              <a:t>그 외에 문화 및 예술 영역도 학문에 포함되므로 학문의 범위는 매우 광범위하다고 볼 수 있다.(융합 학문까지 등장)</a:t>
            </a:r>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3F3F3F"/>
              </a:solidFill>
              <a:latin typeface="Arial"/>
              <a:ea typeface="Arial"/>
              <a:cs typeface="Arial"/>
              <a:sym typeface="Arial"/>
            </a:endParaRPr>
          </a:p>
        </p:txBody>
      </p:sp>
      <p:pic>
        <p:nvPicPr>
          <p:cNvPr descr="학문의 종류.jpg - 인스티즈(instiz) 인티포털" id="342" name="Google Shape;342;p30"/>
          <p:cNvPicPr preferRelativeResize="0"/>
          <p:nvPr/>
        </p:nvPicPr>
        <p:blipFill rotWithShape="1">
          <a:blip r:embed="rId3">
            <a:alphaModFix/>
          </a:blip>
          <a:srcRect b="0" l="0" r="0" t="0"/>
          <a:stretch/>
        </p:blipFill>
        <p:spPr>
          <a:xfrm>
            <a:off x="1600621" y="2355726"/>
            <a:ext cx="5328592" cy="242170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p31"/>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48" name="Google Shape;348;p31"/>
          <p:cNvSpPr txBox="1"/>
          <p:nvPr/>
        </p:nvSpPr>
        <p:spPr>
          <a:xfrm>
            <a:off x="179512" y="627534"/>
            <a:ext cx="8712968" cy="252069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3F3F3F"/>
              </a:buClr>
              <a:buSzPts val="1800"/>
              <a:buFont typeface="Noto Sans Symbols"/>
              <a:buChar char="●"/>
            </a:pPr>
            <a:r>
              <a:rPr b="1" lang="ko-KR" sz="1800">
                <a:solidFill>
                  <a:srgbClr val="3F3F3F"/>
                </a:solidFill>
                <a:latin typeface="Arial"/>
                <a:ea typeface="Arial"/>
                <a:cs typeface="Arial"/>
                <a:sym typeface="Arial"/>
              </a:rPr>
              <a:t>학문에서 연구하는  </a:t>
            </a:r>
            <a:r>
              <a:rPr b="1" lang="ko-KR" sz="1800">
                <a:solidFill>
                  <a:srgbClr val="242424"/>
                </a:solidFill>
                <a:latin typeface="Arial"/>
                <a:ea typeface="Arial"/>
                <a:cs typeface="Arial"/>
                <a:sym typeface="Arial"/>
              </a:rPr>
              <a:t>현상(혹은 실재, 사실)은 매우 복잡하고 가변적이기 때문에 이를 지칭하고 탐구하는것과 필요에 따라서 일정 방향으로 변화를 가하는 것은 어렵다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그러나 인간은 언어적인 존재이므로 대상을 무엇이라고 명명하고(이것을 개념이라고 한다) 명명된 것을 연결하여 알기 쉽게 요약하는 능력을 가졌다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이것은 무엇일까요?</a:t>
            </a:r>
            <a:endParaRPr/>
          </a:p>
          <a:p>
            <a:pPr indent="0" lvl="0" marL="0" marR="0" rtl="0" algn="l">
              <a:lnSpc>
                <a:spcPct val="120000"/>
              </a:lnSpc>
              <a:spcBef>
                <a:spcPts val="1200"/>
              </a:spcBef>
              <a:spcAft>
                <a:spcPts val="0"/>
              </a:spcAft>
              <a:buClr>
                <a:srgbClr val="242424"/>
              </a:buClr>
              <a:buSzPts val="1800"/>
              <a:buFont typeface="Noto Sans Symbols"/>
              <a:buNone/>
            </a:pPr>
            <a:r>
              <a:t/>
            </a:r>
            <a:endParaRPr b="1" sz="1800">
              <a:solidFill>
                <a:srgbClr val="242424"/>
              </a:solidFill>
              <a:latin typeface="Arial"/>
              <a:ea typeface="Arial"/>
              <a:cs typeface="Arial"/>
              <a:sym typeface="Arial"/>
            </a:endParaRPr>
          </a:p>
        </p:txBody>
      </p:sp>
      <p:pic>
        <p:nvPicPr>
          <p:cNvPr descr="개념이란 무엇인가?" id="349" name="Google Shape;349;p31"/>
          <p:cNvPicPr preferRelativeResize="0"/>
          <p:nvPr/>
        </p:nvPicPr>
        <p:blipFill rotWithShape="1">
          <a:blip r:embed="rId3">
            <a:alphaModFix/>
          </a:blip>
          <a:srcRect b="0" l="30603" r="7787" t="15657"/>
          <a:stretch/>
        </p:blipFill>
        <p:spPr>
          <a:xfrm>
            <a:off x="3059832" y="2494012"/>
            <a:ext cx="2856383" cy="3006957"/>
          </a:xfrm>
          <a:prstGeom prst="rect">
            <a:avLst/>
          </a:prstGeom>
          <a:noFill/>
          <a:ln>
            <a:noFill/>
          </a:ln>
        </p:spPr>
      </p:pic>
      <p:pic>
        <p:nvPicPr>
          <p:cNvPr id="350" name="Google Shape;350;p31"/>
          <p:cNvPicPr preferRelativeResize="0"/>
          <p:nvPr/>
        </p:nvPicPr>
        <p:blipFill rotWithShape="1">
          <a:blip r:embed="rId4">
            <a:alphaModFix/>
          </a:blip>
          <a:srcRect b="0" l="0" r="0" t="0"/>
          <a:stretch/>
        </p:blipFill>
        <p:spPr>
          <a:xfrm>
            <a:off x="683568" y="3507854"/>
            <a:ext cx="2197995" cy="123887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4" name="Shape 354"/>
        <p:cNvGrpSpPr/>
        <p:nvPr/>
      </p:nvGrpSpPr>
      <p:grpSpPr>
        <a:xfrm>
          <a:off x="0" y="0"/>
          <a:ext cx="0" cy="0"/>
          <a:chOff x="0" y="0"/>
          <a:chExt cx="0" cy="0"/>
        </a:xfrm>
      </p:grpSpPr>
      <p:sp>
        <p:nvSpPr>
          <p:cNvPr id="355" name="Google Shape;355;p32"/>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56" name="Google Shape;356;p32"/>
          <p:cNvSpPr txBox="1"/>
          <p:nvPr/>
        </p:nvSpPr>
        <p:spPr>
          <a:xfrm>
            <a:off x="179512" y="627534"/>
            <a:ext cx="8640960" cy="349326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대상을 요약하는 것, 즉 개념이 과학적인 방법에 의해 확인 되지 않았으면 그것을 가설이라고 하고 과학적인 방법으로 증명이 된 것은 이론이라고 한다.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예) 밥 한그릇을 먹으면 배부르다 – 가설, 이론은?</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따라서 이론이란 겉으로 드러난 현상의 뒤와 안에 숨어 있는 실체구조와 그 과정에 대한 요약이라고 볼 수 있다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이론은 현상을 보다 잘 설명해서 이해하게 하고 더 나아가 예측을 할 수 있게 만든다</a:t>
            </a:r>
            <a:endParaRPr b="1" sz="1800">
              <a:solidFill>
                <a:srgbClr val="242424"/>
              </a:solidFill>
              <a:latin typeface="Arial"/>
              <a:ea typeface="Arial"/>
              <a:cs typeface="Arial"/>
              <a:sym typeface="Arial"/>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242424"/>
              </a:solidFill>
              <a:latin typeface="Arial"/>
              <a:ea typeface="Arial"/>
              <a:cs typeface="Arial"/>
              <a:sym typeface="Arial"/>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242424"/>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0" name="Shape 360"/>
        <p:cNvGrpSpPr/>
        <p:nvPr/>
      </p:nvGrpSpPr>
      <p:grpSpPr>
        <a:xfrm>
          <a:off x="0" y="0"/>
          <a:ext cx="0" cy="0"/>
          <a:chOff x="0" y="0"/>
          <a:chExt cx="0" cy="0"/>
        </a:xfrm>
      </p:grpSpPr>
      <p:sp>
        <p:nvSpPr>
          <p:cNvPr id="361" name="Google Shape;361;p33"/>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62" name="Google Shape;362;p33"/>
          <p:cNvSpPr txBox="1"/>
          <p:nvPr/>
        </p:nvSpPr>
        <p:spPr>
          <a:xfrm>
            <a:off x="179512" y="627534"/>
            <a:ext cx="8640960" cy="252069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아울러 이론과 이론이 쌓이면서 독자적인 학문체계를 이루는 것이다.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예) 청소년학</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과거 청소년학이란 없었다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그러나 청소년에 대한 학문이라는 개념을 가지게 되기까지 청소년이란 이런 것이다라는 수많은 가설을 가지게 되고 이러한 가설을 과학적인 방법, 즉 연구를 통해 다양한 이론이 나오게 되고 이러한 이론과 이론이 모여 청소년학이라는 학문이 되는 것이다</a:t>
            </a:r>
            <a:endParaRPr b="1" sz="1800">
              <a:solidFill>
                <a:srgbClr val="242424"/>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p34"/>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68" name="Google Shape;368;p34"/>
          <p:cNvSpPr txBox="1"/>
          <p:nvPr/>
        </p:nvSpPr>
        <p:spPr>
          <a:xfrm>
            <a:off x="179512" y="627534"/>
            <a:ext cx="8568952" cy="367177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레크리에이션을 연구하는 학자들은 각자 본인의 전공에 따라 또는 이루어지는 레크리에이션에 따라 레크리에이션학을 연구함</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게임 중심의 레크리에이션 프로그램을  전문적으로 진행하는 학자들은 레크리에이션을 게임으로 봄</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스포츠를 중심으로 레크리에이션을 전공한 사람은 레크리에이션을 스포츠로  보고 연구함</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레크리에이션에 관한 학문은 아직 만들어지는 단계임 </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이것은 레크리에이션이 연구 대상으로서의 매우 복잡하고 다양하게 구성되어 있으며 사회적 현상은 오래 되었으나 본격적으로 학문적 관심의 대상이 된 지도 얼마 되지 않았기 때문이다</a:t>
            </a:r>
            <a:endParaRPr b="1" sz="1800">
              <a:solidFill>
                <a:srgbClr val="242424"/>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2" name="Shape 372"/>
        <p:cNvGrpSpPr/>
        <p:nvPr/>
      </p:nvGrpSpPr>
      <p:grpSpPr>
        <a:xfrm>
          <a:off x="0" y="0"/>
          <a:ext cx="0" cy="0"/>
          <a:chOff x="0" y="0"/>
          <a:chExt cx="0" cy="0"/>
        </a:xfrm>
      </p:grpSpPr>
      <p:sp>
        <p:nvSpPr>
          <p:cNvPr id="373" name="Google Shape;373;p35"/>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74" name="Google Shape;374;p35"/>
          <p:cNvSpPr txBox="1"/>
          <p:nvPr/>
        </p:nvSpPr>
        <p:spPr>
          <a:xfrm>
            <a:off x="179512" y="627534"/>
            <a:ext cx="6120680" cy="4247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레크리에이션과 관련 학문 관계를 그림으로 보면 다음과 같다</a:t>
            </a:r>
            <a:endParaRPr/>
          </a:p>
        </p:txBody>
      </p:sp>
      <p:grpSp>
        <p:nvGrpSpPr>
          <p:cNvPr id="375" name="Google Shape;375;p35"/>
          <p:cNvGrpSpPr/>
          <p:nvPr/>
        </p:nvGrpSpPr>
        <p:grpSpPr>
          <a:xfrm>
            <a:off x="291272" y="1203598"/>
            <a:ext cx="9753336" cy="3446115"/>
            <a:chOff x="845840" y="1203598"/>
            <a:chExt cx="9753336" cy="3446115"/>
          </a:xfrm>
        </p:grpSpPr>
        <p:sp>
          <p:nvSpPr>
            <p:cNvPr id="376" name="Google Shape;376;p35"/>
            <p:cNvSpPr/>
            <p:nvPr/>
          </p:nvSpPr>
          <p:spPr>
            <a:xfrm>
              <a:off x="2699792" y="2643758"/>
              <a:ext cx="1296144" cy="648072"/>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ko-KR" sz="1800">
                  <a:solidFill>
                    <a:schemeClr val="lt1"/>
                  </a:solidFill>
                  <a:latin typeface="Arial"/>
                  <a:ea typeface="Arial"/>
                  <a:cs typeface="Arial"/>
                  <a:sym typeface="Arial"/>
                </a:rPr>
                <a:t>레크리에이션</a:t>
              </a:r>
              <a:endParaRPr/>
            </a:p>
          </p:txBody>
        </p:sp>
        <p:sp>
          <p:nvSpPr>
            <p:cNvPr id="377" name="Google Shape;377;p35"/>
            <p:cNvSpPr/>
            <p:nvPr/>
          </p:nvSpPr>
          <p:spPr>
            <a:xfrm>
              <a:off x="1115616" y="2242921"/>
              <a:ext cx="4968552" cy="1656184"/>
            </a:xfrm>
            <a:prstGeom prst="ellipse">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b="1" lang="ko-KR" sz="1800">
                  <a:solidFill>
                    <a:srgbClr val="FF0000"/>
                  </a:solidFill>
                  <a:latin typeface="Arial"/>
                  <a:ea typeface="Arial"/>
                  <a:cs typeface="Arial"/>
                  <a:sym typeface="Arial"/>
                </a:rPr>
                <a:t>    축제                        BTL(판촉)</a:t>
              </a:r>
              <a:endParaRPr/>
            </a:p>
            <a:p>
              <a:pPr indent="0" lvl="0" marL="0" marR="0" rtl="0" algn="l">
                <a:lnSpc>
                  <a:spcPct val="150000"/>
                </a:lnSpc>
                <a:spcBef>
                  <a:spcPts val="0"/>
                </a:spcBef>
                <a:spcAft>
                  <a:spcPts val="0"/>
                </a:spcAft>
                <a:buNone/>
              </a:pPr>
              <a:r>
                <a:rPr b="1" lang="ko-KR" sz="1800">
                  <a:solidFill>
                    <a:srgbClr val="FF0000"/>
                  </a:solidFill>
                  <a:latin typeface="Arial"/>
                  <a:ea typeface="Arial"/>
                  <a:cs typeface="Arial"/>
                  <a:sym typeface="Arial"/>
                </a:rPr>
                <a:t>MICE                               스포츠</a:t>
              </a:r>
              <a:endParaRPr b="1" sz="1800">
                <a:solidFill>
                  <a:srgbClr val="FF0000"/>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FF0000"/>
                  </a:solidFill>
                  <a:latin typeface="Arial"/>
                  <a:ea typeface="Arial"/>
                  <a:cs typeface="Arial"/>
                  <a:sym typeface="Arial"/>
                </a:rPr>
                <a:t>개인 레크리에이션                 공연</a:t>
              </a:r>
              <a:endParaRPr/>
            </a:p>
          </p:txBody>
        </p:sp>
        <p:sp>
          <p:nvSpPr>
            <p:cNvPr id="378" name="Google Shape;378;p35"/>
            <p:cNvSpPr txBox="1"/>
            <p:nvPr/>
          </p:nvSpPr>
          <p:spPr>
            <a:xfrm>
              <a:off x="2195736" y="3754530"/>
              <a:ext cx="2520280" cy="646331"/>
            </a:xfrm>
            <a:prstGeom prst="rect">
              <a:avLst/>
            </a:prstGeom>
            <a:solidFill>
              <a:schemeClr val="lt1"/>
            </a:solidFill>
            <a:ln cap="flat" cmpd="sng" w="25400">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800">
                  <a:solidFill>
                    <a:schemeClr val="dk1"/>
                  </a:solidFill>
                  <a:latin typeface="Arial"/>
                  <a:ea typeface="Arial"/>
                  <a:cs typeface="Arial"/>
                  <a:sym typeface="Arial"/>
                </a:rPr>
                <a:t>다양한 레크리에이션의 발현</a:t>
              </a:r>
              <a:endParaRPr/>
            </a:p>
          </p:txBody>
        </p:sp>
        <p:sp>
          <p:nvSpPr>
            <p:cNvPr id="379" name="Google Shape;379;p35"/>
            <p:cNvSpPr/>
            <p:nvPr/>
          </p:nvSpPr>
          <p:spPr>
            <a:xfrm>
              <a:off x="845840" y="1285875"/>
              <a:ext cx="8460432" cy="3363838"/>
            </a:xfrm>
            <a:prstGeom prst="ellipse">
              <a:avLst/>
            </a:prstGeom>
            <a:noFill/>
            <a:ln cap="flat" cmpd="sng" w="25400">
              <a:solidFill>
                <a:schemeClr val="accent6"/>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dk1"/>
                </a:solidFill>
                <a:latin typeface="Arial"/>
                <a:ea typeface="Arial"/>
                <a:cs typeface="Arial"/>
                <a:sym typeface="Arial"/>
              </a:endParaRPr>
            </a:p>
          </p:txBody>
        </p:sp>
        <p:sp>
          <p:nvSpPr>
            <p:cNvPr id="380" name="Google Shape;380;p35"/>
            <p:cNvSpPr txBox="1"/>
            <p:nvPr/>
          </p:nvSpPr>
          <p:spPr>
            <a:xfrm>
              <a:off x="3851920" y="1203598"/>
              <a:ext cx="2448272" cy="646331"/>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800">
                  <a:solidFill>
                    <a:schemeClr val="dk1"/>
                  </a:solidFill>
                  <a:latin typeface="Arial"/>
                  <a:ea typeface="Arial"/>
                  <a:cs typeface="Arial"/>
                  <a:sym typeface="Arial"/>
                </a:rPr>
                <a:t>레크리에이션관련 학문들</a:t>
              </a:r>
              <a:endParaRPr/>
            </a:p>
          </p:txBody>
        </p:sp>
        <p:sp>
          <p:nvSpPr>
            <p:cNvPr id="381" name="Google Shape;381;p35"/>
            <p:cNvSpPr txBox="1"/>
            <p:nvPr/>
          </p:nvSpPr>
          <p:spPr>
            <a:xfrm>
              <a:off x="6228184" y="1986101"/>
              <a:ext cx="4370992" cy="2169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ko-KR" sz="1800">
                  <a:solidFill>
                    <a:srgbClr val="002060"/>
                  </a:solidFill>
                  <a:latin typeface="Arial"/>
                  <a:ea typeface="Arial"/>
                  <a:cs typeface="Arial"/>
                  <a:sym typeface="Arial"/>
                </a:rPr>
                <a:t>여가학      관광학 </a:t>
              </a:r>
              <a:endParaRPr b="1" sz="1800">
                <a:solidFill>
                  <a:srgbClr val="002060"/>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002060"/>
                  </a:solidFill>
                  <a:latin typeface="Arial"/>
                  <a:ea typeface="Arial"/>
                  <a:cs typeface="Arial"/>
                  <a:sym typeface="Arial"/>
                </a:rPr>
                <a:t>   인류학          경영학            </a:t>
              </a:r>
              <a:endParaRPr b="1" sz="1800">
                <a:solidFill>
                  <a:srgbClr val="002060"/>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002060"/>
                  </a:solidFill>
                  <a:latin typeface="Arial"/>
                  <a:ea typeface="Arial"/>
                  <a:cs typeface="Arial"/>
                  <a:sym typeface="Arial"/>
                </a:rPr>
                <a:t>   철학        사회학</a:t>
              </a:r>
              <a:endParaRPr b="1" sz="1800">
                <a:solidFill>
                  <a:srgbClr val="002060"/>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002060"/>
                  </a:solidFill>
                  <a:latin typeface="Arial"/>
                  <a:ea typeface="Arial"/>
                  <a:cs typeface="Arial"/>
                  <a:sym typeface="Arial"/>
                </a:rPr>
                <a:t> 군사학           문학</a:t>
              </a:r>
              <a:endParaRPr b="1" sz="1800">
                <a:solidFill>
                  <a:srgbClr val="002060"/>
                </a:solidFill>
                <a:latin typeface="Arial"/>
                <a:ea typeface="Arial"/>
                <a:cs typeface="Arial"/>
                <a:sym typeface="Arial"/>
              </a:endParaRPr>
            </a:p>
            <a:p>
              <a:pPr indent="0" lvl="0" marL="0" marR="0" rtl="0" algn="l">
                <a:lnSpc>
                  <a:spcPct val="150000"/>
                </a:lnSpc>
                <a:spcBef>
                  <a:spcPts val="0"/>
                </a:spcBef>
                <a:spcAft>
                  <a:spcPts val="0"/>
                </a:spcAft>
                <a:buNone/>
              </a:pPr>
              <a:r>
                <a:rPr b="1" lang="ko-KR" sz="1800">
                  <a:solidFill>
                    <a:srgbClr val="002060"/>
                  </a:solidFill>
                  <a:latin typeface="Arial"/>
                  <a:ea typeface="Arial"/>
                  <a:cs typeface="Arial"/>
                  <a:sym typeface="Arial"/>
                </a:rPr>
                <a:t>예술</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5" name="Shape 385"/>
        <p:cNvGrpSpPr/>
        <p:nvPr/>
      </p:nvGrpSpPr>
      <p:grpSpPr>
        <a:xfrm>
          <a:off x="0" y="0"/>
          <a:ext cx="0" cy="0"/>
          <a:chOff x="0" y="0"/>
          <a:chExt cx="0" cy="0"/>
        </a:xfrm>
      </p:grpSpPr>
      <p:sp>
        <p:nvSpPr>
          <p:cNvPr id="386" name="Google Shape;386;p36"/>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레크리에이션과 여가의 학문적 접근</a:t>
            </a:r>
            <a:endParaRPr/>
          </a:p>
        </p:txBody>
      </p:sp>
      <p:sp>
        <p:nvSpPr>
          <p:cNvPr id="387" name="Google Shape;387;p36"/>
          <p:cNvSpPr txBox="1"/>
          <p:nvPr/>
        </p:nvSpPr>
        <p:spPr>
          <a:xfrm>
            <a:off x="179512" y="627534"/>
            <a:ext cx="8424936" cy="99411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FF0000"/>
              </a:buClr>
              <a:buSzPts val="2400"/>
              <a:buFont typeface="Noto Sans Symbols"/>
              <a:buChar char="❖"/>
            </a:pPr>
            <a:r>
              <a:rPr b="1" lang="ko-KR" sz="2400">
                <a:solidFill>
                  <a:srgbClr val="FF0000"/>
                </a:solidFill>
                <a:latin typeface="Arial"/>
                <a:ea typeface="Arial"/>
                <a:cs typeface="Arial"/>
                <a:sym typeface="Arial"/>
              </a:rPr>
              <a:t> 레크리에이션과 관련 학문들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레크리에이션과 관련 학문을 레크리에이션의 종류와 관련 학문으로 구분하면 다음과 같다</a:t>
            </a:r>
            <a:endParaRPr/>
          </a:p>
        </p:txBody>
      </p:sp>
      <p:graphicFrame>
        <p:nvGraphicFramePr>
          <p:cNvPr id="388" name="Google Shape;388;p36"/>
          <p:cNvGraphicFramePr/>
          <p:nvPr/>
        </p:nvGraphicFramePr>
        <p:xfrm>
          <a:off x="971600" y="1781958"/>
          <a:ext cx="3000000" cy="3000000"/>
        </p:xfrm>
        <a:graphic>
          <a:graphicData uri="http://schemas.openxmlformats.org/drawingml/2006/table">
            <a:tbl>
              <a:tblPr firstCol="1">
                <a:noFill/>
                <a:tableStyleId>{F6112266-DADA-4F64-9FC1-0E9F187DAD00}</a:tableStyleId>
              </a:tblPr>
              <a:tblGrid>
                <a:gridCol w="4756300"/>
                <a:gridCol w="1220350"/>
              </a:tblGrid>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레크리에이션 종류</a:t>
                      </a:r>
                      <a:endParaRPr/>
                    </a:p>
                  </a:txBody>
                  <a:tcPr marT="17900" marB="17900" marR="64775" marL="64775" anchor="ctr">
                    <a:solidFill>
                      <a:srgbClr val="00B0F0"/>
                    </a:solidFill>
                  </a:tcP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학문명</a:t>
                      </a:r>
                      <a:endParaRPr b="1" sz="1400" u="none" cap="none" strike="noStrike">
                        <a:solidFill>
                          <a:srgbClr val="002060"/>
                        </a:solidFill>
                        <a:latin typeface="Arial"/>
                        <a:ea typeface="Arial"/>
                        <a:cs typeface="Arial"/>
                        <a:sym typeface="Arial"/>
                      </a:endParaRPr>
                    </a:p>
                  </a:txBody>
                  <a:tcPr marT="17900" marB="17900" marR="64775" marL="64775" anchor="ctr">
                    <a:solidFill>
                      <a:srgbClr val="00B0F0"/>
                    </a:solidFill>
                  </a:tcP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쇼레크리에이션. 이윤 추구, 노동운동</a:t>
                      </a:r>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경제,경영학</a:t>
                      </a:r>
                      <a:endParaRPr/>
                    </a:p>
                  </a:txBody>
                  <a:tcPr marT="17900" marB="17900" marR="64775" marL="64775" anchor="ct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환경운동. 주민의사관철운동, 불매운동, 시위등</a:t>
                      </a:r>
                      <a:endParaRPr b="1" sz="1400" u="none" cap="none" strike="noStrike">
                        <a:solidFill>
                          <a:srgbClr val="002060"/>
                        </a:solidFill>
                        <a:latin typeface="Arial"/>
                        <a:ea typeface="Arial"/>
                        <a:cs typeface="Arial"/>
                        <a:sym typeface="Arial"/>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사회학</a:t>
                      </a:r>
                      <a:endParaRPr/>
                    </a:p>
                  </a:txBody>
                  <a:tcPr marT="17900" marB="17900" marR="64775" marL="64775" anchor="ct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전쟁. 선거. 민권운동 </a:t>
                      </a:r>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정치학</a:t>
                      </a:r>
                      <a:endParaRPr/>
                    </a:p>
                  </a:txBody>
                  <a:tcPr marT="17900" marB="17900" marR="64775" marL="64775" anchor="ct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시낭송, 문학의 밤</a:t>
                      </a:r>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문학</a:t>
                      </a:r>
                      <a:endParaRPr/>
                    </a:p>
                  </a:txBody>
                  <a:tcPr marT="17900" marB="17900" marR="64775" marL="64775" anchor="ct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노래대회, 명곡음악회, 가창대회</a:t>
                      </a:r>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음악학</a:t>
                      </a:r>
                      <a:endParaRPr/>
                    </a:p>
                  </a:txBody>
                  <a:tcPr marT="17900" marB="17900" marR="64775" marL="64775" anchor="ct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명화전시. 미술전. 유명조각전</a:t>
                      </a:r>
                      <a:endParaRPr b="1" sz="1400" u="none" cap="none" strike="noStrike">
                        <a:solidFill>
                          <a:srgbClr val="002060"/>
                        </a:solidFill>
                        <a:latin typeface="Arial"/>
                        <a:ea typeface="Arial"/>
                        <a:cs typeface="Arial"/>
                        <a:sym typeface="Arial"/>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미술학</a:t>
                      </a:r>
                      <a:endParaRPr/>
                    </a:p>
                  </a:txBody>
                  <a:tcPr marT="17900" marB="17900" marR="64775" marL="64775" anchor="ctr"/>
                </a:tc>
              </a:tr>
              <a:tr h="386750">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신약치료 컨퍼런스. 의사 세미나</a:t>
                      </a:r>
                      <a:endParaRPr/>
                    </a:p>
                  </a:txBody>
                  <a:tcPr marT="17900" marB="17900" marR="64775" marL="64775" anchor="ctr"/>
                </a:tc>
                <a:tc>
                  <a:txBody>
                    <a:bodyPr/>
                    <a:lstStyle/>
                    <a:p>
                      <a:pPr indent="0" lvl="0" marL="0" marR="0" rtl="0" algn="ctr">
                        <a:lnSpc>
                          <a:spcPct val="100000"/>
                        </a:lnSpc>
                        <a:spcBef>
                          <a:spcPts val="0"/>
                        </a:spcBef>
                        <a:spcAft>
                          <a:spcPts val="0"/>
                        </a:spcAft>
                        <a:buNone/>
                      </a:pPr>
                      <a:r>
                        <a:rPr b="1" lang="ko-KR" sz="1400" u="none" cap="none" strike="noStrike">
                          <a:solidFill>
                            <a:srgbClr val="002060"/>
                          </a:solidFill>
                          <a:latin typeface="Arial"/>
                          <a:ea typeface="Arial"/>
                          <a:cs typeface="Arial"/>
                          <a:sym typeface="Arial"/>
                        </a:rPr>
                        <a:t>의학</a:t>
                      </a:r>
                      <a:endParaRPr/>
                    </a:p>
                  </a:txBody>
                  <a:tcPr marT="17900" marB="17900" marR="64775" marL="64775" anchor="ct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2" name="Shape 392"/>
        <p:cNvGrpSpPr/>
        <p:nvPr/>
      </p:nvGrpSpPr>
      <p:grpSpPr>
        <a:xfrm>
          <a:off x="0" y="0"/>
          <a:ext cx="0" cy="0"/>
          <a:chOff x="0" y="0"/>
          <a:chExt cx="0" cy="0"/>
        </a:xfrm>
      </p:grpSpPr>
      <p:sp>
        <p:nvSpPr>
          <p:cNvPr id="393" name="Google Shape;393;p37"/>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394" name="Google Shape;394;p37"/>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395" name="Google Shape;395;p37"/>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심리적 접근</a:t>
            </a:r>
            <a:endParaRPr/>
          </a:p>
        </p:txBody>
      </p:sp>
      <p:sp>
        <p:nvSpPr>
          <p:cNvPr id="396" name="Google Shape;396;p37"/>
          <p:cNvSpPr/>
          <p:nvPr/>
        </p:nvSpPr>
        <p:spPr>
          <a:xfrm>
            <a:off x="251519" y="1179447"/>
            <a:ext cx="6408713" cy="1176279"/>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397" name="Google Shape;397;p37"/>
          <p:cNvSpPr/>
          <p:nvPr/>
        </p:nvSpPr>
        <p:spPr>
          <a:xfrm>
            <a:off x="395536" y="1391168"/>
            <a:ext cx="6023099" cy="75283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심리학적 측면에서 개인적인 행동의 한 형태로의 접근</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모든 사람의 여가행동이 같지 않다는 것에서 기안</a:t>
            </a:r>
            <a:endParaRPr/>
          </a:p>
        </p:txBody>
      </p:sp>
      <p:pic>
        <p:nvPicPr>
          <p:cNvPr descr="여가즐기기에 대한 이미지 검색결과" id="398" name="Google Shape;398;p37"/>
          <p:cNvPicPr preferRelativeResize="0"/>
          <p:nvPr/>
        </p:nvPicPr>
        <p:blipFill rotWithShape="1">
          <a:blip r:embed="rId3">
            <a:alphaModFix/>
          </a:blip>
          <a:srcRect b="0" l="0" r="0" t="0"/>
          <a:stretch/>
        </p:blipFill>
        <p:spPr>
          <a:xfrm>
            <a:off x="685702" y="2477797"/>
            <a:ext cx="4608512" cy="23262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02" name="Shape 402"/>
        <p:cNvGrpSpPr/>
        <p:nvPr/>
      </p:nvGrpSpPr>
      <p:grpSpPr>
        <a:xfrm>
          <a:off x="0" y="0"/>
          <a:ext cx="0" cy="0"/>
          <a:chOff x="0" y="0"/>
          <a:chExt cx="0" cy="0"/>
        </a:xfrm>
      </p:grpSpPr>
      <p:sp>
        <p:nvSpPr>
          <p:cNvPr id="403" name="Google Shape;403;p38"/>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404" name="Google Shape;404;p38"/>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405" name="Google Shape;405;p38"/>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심리적 접근</a:t>
            </a:r>
            <a:endParaRPr/>
          </a:p>
        </p:txBody>
      </p:sp>
      <p:pic>
        <p:nvPicPr>
          <p:cNvPr id="406" name="Google Shape;406;p38"/>
          <p:cNvPicPr preferRelativeResize="0"/>
          <p:nvPr/>
        </p:nvPicPr>
        <p:blipFill rotWithShape="1">
          <a:blip r:embed="rId3">
            <a:alphaModFix/>
          </a:blip>
          <a:srcRect b="50000" l="0" r="0" t="0"/>
          <a:stretch/>
        </p:blipFill>
        <p:spPr>
          <a:xfrm>
            <a:off x="179512" y="4755862"/>
            <a:ext cx="4762500" cy="214312"/>
          </a:xfrm>
          <a:prstGeom prst="rect">
            <a:avLst/>
          </a:prstGeom>
          <a:noFill/>
          <a:ln>
            <a:noFill/>
          </a:ln>
        </p:spPr>
      </p:pic>
      <p:pic>
        <p:nvPicPr>
          <p:cNvPr descr="관련 이미지" id="407" name="Google Shape;407;p38"/>
          <p:cNvPicPr preferRelativeResize="0"/>
          <p:nvPr/>
        </p:nvPicPr>
        <p:blipFill rotWithShape="1">
          <a:blip r:embed="rId4">
            <a:alphaModFix/>
          </a:blip>
          <a:srcRect b="0" l="0" r="0" t="35137"/>
          <a:stretch/>
        </p:blipFill>
        <p:spPr>
          <a:xfrm>
            <a:off x="395536" y="1270001"/>
            <a:ext cx="5543194" cy="3317974"/>
          </a:xfrm>
          <a:prstGeom prst="rect">
            <a:avLst/>
          </a:prstGeom>
          <a:noFill/>
          <a:ln>
            <a:noFill/>
          </a:ln>
        </p:spPr>
      </p:pic>
      <p:pic>
        <p:nvPicPr>
          <p:cNvPr descr="https://www.linkupcenter.co.kr/home/wp-content/uploads/2019/05/SE-ec1e05b6-1f54-4bd8-bac1-196aa2552b98-300x213.jpg" id="408" name="Google Shape;408;p38"/>
          <p:cNvPicPr preferRelativeResize="0"/>
          <p:nvPr/>
        </p:nvPicPr>
        <p:blipFill rotWithShape="1">
          <a:blip r:embed="rId5">
            <a:alphaModFix/>
          </a:blip>
          <a:srcRect b="0" l="0" r="0" t="0"/>
          <a:stretch/>
        </p:blipFill>
        <p:spPr>
          <a:xfrm>
            <a:off x="6012160" y="1270001"/>
            <a:ext cx="2857500" cy="20288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2" name="Shape 412"/>
        <p:cNvGrpSpPr/>
        <p:nvPr/>
      </p:nvGrpSpPr>
      <p:grpSpPr>
        <a:xfrm>
          <a:off x="0" y="0"/>
          <a:ext cx="0" cy="0"/>
          <a:chOff x="0" y="0"/>
          <a:chExt cx="0" cy="0"/>
        </a:xfrm>
      </p:grpSpPr>
      <p:sp>
        <p:nvSpPr>
          <p:cNvPr id="413" name="Google Shape;413;p39"/>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414" name="Google Shape;414;p39"/>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415" name="Google Shape;415;p39"/>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심리적 접근</a:t>
            </a:r>
            <a:endParaRPr/>
          </a:p>
        </p:txBody>
      </p:sp>
      <p:sp>
        <p:nvSpPr>
          <p:cNvPr id="416" name="Google Shape;416;p39"/>
          <p:cNvSpPr/>
          <p:nvPr/>
        </p:nvSpPr>
        <p:spPr>
          <a:xfrm>
            <a:off x="251519" y="1281114"/>
            <a:ext cx="5689353" cy="943588"/>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417" name="Google Shape;417;p39"/>
          <p:cNvSpPr/>
          <p:nvPr/>
        </p:nvSpPr>
        <p:spPr>
          <a:xfrm>
            <a:off x="349101" y="1374019"/>
            <a:ext cx="5663059" cy="77867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동아리 찾기에도 나오는 심리적 접근</a:t>
            </a:r>
            <a:endParaRPr b="1" sz="1800">
              <a:solidFill>
                <a:srgbClr val="0F243E"/>
              </a:solidFill>
              <a:latin typeface="Malgun Gothic"/>
              <a:ea typeface="Malgun Gothic"/>
              <a:cs typeface="Malgun Gothic"/>
              <a:sym typeface="Malgun Gothic"/>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2015년 이대 동아리 백서(이대학보)</a:t>
            </a:r>
            <a:endParaRPr b="1" sz="1800">
              <a:solidFill>
                <a:srgbClr val="0F243E"/>
              </a:solidFill>
              <a:latin typeface="Malgun Gothic"/>
              <a:ea typeface="Malgun Gothic"/>
              <a:cs typeface="Malgun Gothic"/>
              <a:sym typeface="Malgun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1" name="Shape 421"/>
        <p:cNvGrpSpPr/>
        <p:nvPr/>
      </p:nvGrpSpPr>
      <p:grpSpPr>
        <a:xfrm>
          <a:off x="0" y="0"/>
          <a:ext cx="0" cy="0"/>
          <a:chOff x="0" y="0"/>
          <a:chExt cx="0" cy="0"/>
        </a:xfrm>
      </p:grpSpPr>
      <p:sp>
        <p:nvSpPr>
          <p:cNvPr id="422" name="Google Shape;422;p40"/>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423" name="Google Shape;423;p40"/>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2. 여가의 학문적 접근</a:t>
            </a:r>
            <a:endParaRPr/>
          </a:p>
        </p:txBody>
      </p:sp>
      <p:sp>
        <p:nvSpPr>
          <p:cNvPr id="424" name="Google Shape;424;p40"/>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심리적 접근</a:t>
            </a:r>
            <a:endParaRPr/>
          </a:p>
        </p:txBody>
      </p:sp>
      <p:pic>
        <p:nvPicPr>
          <p:cNvPr descr="http://inews.ewha.ac.kr/news/photo/201503/19097_5563_3445.jpg" id="425" name="Google Shape;425;p40"/>
          <p:cNvPicPr preferRelativeResize="0"/>
          <p:nvPr/>
        </p:nvPicPr>
        <p:blipFill rotWithShape="1">
          <a:blip r:embed="rId3">
            <a:alphaModFix/>
          </a:blip>
          <a:srcRect b="0" l="1176" r="1249" t="3043"/>
          <a:stretch/>
        </p:blipFill>
        <p:spPr>
          <a:xfrm>
            <a:off x="1588" y="9178"/>
            <a:ext cx="9142412" cy="524552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9" name="Shape 429"/>
        <p:cNvGrpSpPr/>
        <p:nvPr/>
      </p:nvGrpSpPr>
      <p:grpSpPr>
        <a:xfrm>
          <a:off x="0" y="0"/>
          <a:ext cx="0" cy="0"/>
          <a:chOff x="0" y="0"/>
          <a:chExt cx="0" cy="0"/>
        </a:xfrm>
      </p:grpSpPr>
      <p:sp>
        <p:nvSpPr>
          <p:cNvPr id="430" name="Google Shape;430;p41"/>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431" name="Google Shape;431;p4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432" name="Google Shape;432;p41"/>
          <p:cNvSpPr/>
          <p:nvPr/>
        </p:nvSpPr>
        <p:spPr>
          <a:xfrm>
            <a:off x="107504" y="699542"/>
            <a:ext cx="57199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생물학적 접근</a:t>
            </a:r>
            <a:endParaRPr/>
          </a:p>
        </p:txBody>
      </p:sp>
      <p:sp>
        <p:nvSpPr>
          <p:cNvPr id="433" name="Google Shape;433;p41"/>
          <p:cNvSpPr/>
          <p:nvPr/>
        </p:nvSpPr>
        <p:spPr>
          <a:xfrm>
            <a:off x="251519" y="1268122"/>
            <a:ext cx="5689353" cy="1879692"/>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434" name="Google Shape;434;p41"/>
          <p:cNvSpPr/>
          <p:nvPr/>
        </p:nvSpPr>
        <p:spPr>
          <a:xfrm>
            <a:off x="349101" y="1361027"/>
            <a:ext cx="5663059" cy="146501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여가를 살아있는 유기체 활동의 변화와 관련하여 접근</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살아있는 유기체는 활동과 휴식의 연속임</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재충전의 관점에서 여가 접근</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8" name="Shape 438"/>
        <p:cNvGrpSpPr/>
        <p:nvPr/>
      </p:nvGrpSpPr>
      <p:grpSpPr>
        <a:xfrm>
          <a:off x="0" y="0"/>
          <a:ext cx="0" cy="0"/>
          <a:chOff x="0" y="0"/>
          <a:chExt cx="0" cy="0"/>
        </a:xfrm>
      </p:grpSpPr>
      <p:sp>
        <p:nvSpPr>
          <p:cNvPr id="439" name="Google Shape;439;p4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pic>
        <p:nvPicPr>
          <p:cNvPr descr="관련 이미지" id="440" name="Google Shape;440;p42"/>
          <p:cNvPicPr preferRelativeResize="0"/>
          <p:nvPr/>
        </p:nvPicPr>
        <p:blipFill rotWithShape="1">
          <a:blip r:embed="rId3">
            <a:alphaModFix/>
          </a:blip>
          <a:srcRect b="0" l="0" r="0" t="0"/>
          <a:stretch/>
        </p:blipFill>
        <p:spPr>
          <a:xfrm>
            <a:off x="251521" y="771550"/>
            <a:ext cx="7920879" cy="4320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4" name="Shape 444"/>
        <p:cNvGrpSpPr/>
        <p:nvPr/>
      </p:nvGrpSpPr>
      <p:grpSpPr>
        <a:xfrm>
          <a:off x="0" y="0"/>
          <a:ext cx="0" cy="0"/>
          <a:chOff x="0" y="0"/>
          <a:chExt cx="0" cy="0"/>
        </a:xfrm>
      </p:grpSpPr>
      <p:sp>
        <p:nvSpPr>
          <p:cNvPr id="445" name="Google Shape;445;p43"/>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446" name="Google Shape;446;p43"/>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447" name="Google Shape;447;p43"/>
          <p:cNvSpPr/>
          <p:nvPr/>
        </p:nvSpPr>
        <p:spPr>
          <a:xfrm>
            <a:off x="107504" y="699542"/>
            <a:ext cx="57199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3) 철학적 접근</a:t>
            </a:r>
            <a:endParaRPr/>
          </a:p>
        </p:txBody>
      </p:sp>
      <p:sp>
        <p:nvSpPr>
          <p:cNvPr id="448" name="Google Shape;448;p43"/>
          <p:cNvSpPr/>
          <p:nvPr/>
        </p:nvSpPr>
        <p:spPr>
          <a:xfrm>
            <a:off x="251519" y="1275606"/>
            <a:ext cx="5689353" cy="1944216"/>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449" name="Google Shape;449;p43"/>
          <p:cNvSpPr/>
          <p:nvPr/>
        </p:nvSpPr>
        <p:spPr>
          <a:xfrm>
            <a:off x="349101" y="1368512"/>
            <a:ext cx="5663059" cy="176971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여가의 가치, 윤리, 도덕등 철학적 관점으로 접근</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여가의 본질이나 핵심에 중심을 두는 것이 철학적 접근법</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고대 그리스의 아리스토텔레스의 여가 분석</a:t>
            </a:r>
            <a:br>
              <a:rPr b="1" lang="ko-KR" sz="1800">
                <a:solidFill>
                  <a:srgbClr val="0F243E"/>
                </a:solidFill>
                <a:latin typeface="Malgun Gothic"/>
                <a:ea typeface="Malgun Gothic"/>
                <a:cs typeface="Malgun Gothic"/>
                <a:sym typeface="Malgun Gothic"/>
              </a:rPr>
            </a:br>
            <a:r>
              <a:rPr b="1" lang="ko-KR" sz="1800">
                <a:solidFill>
                  <a:srgbClr val="0F243E"/>
                </a:solidFill>
                <a:latin typeface="Malgun Gothic"/>
                <a:ea typeface="Malgun Gothic"/>
                <a:cs typeface="Malgun Gothic"/>
                <a:sym typeface="Malgun Gothic"/>
              </a:rPr>
              <a:t>  – 여가는 교육이다 </a:t>
            </a:r>
            <a:endParaRPr/>
          </a:p>
        </p:txBody>
      </p:sp>
      <p:pic>
        <p:nvPicPr>
          <p:cNvPr descr="철학에 대한 이미지 검색결과" id="450" name="Google Shape;450;p43"/>
          <p:cNvPicPr preferRelativeResize="0"/>
          <p:nvPr/>
        </p:nvPicPr>
        <p:blipFill rotWithShape="1">
          <a:blip r:embed="rId3">
            <a:alphaModFix/>
          </a:blip>
          <a:srcRect b="0" l="0" r="0" t="0"/>
          <a:stretch/>
        </p:blipFill>
        <p:spPr>
          <a:xfrm>
            <a:off x="3424239" y="2972668"/>
            <a:ext cx="2403177" cy="201622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4" name="Shape 454"/>
        <p:cNvGrpSpPr/>
        <p:nvPr/>
      </p:nvGrpSpPr>
      <p:grpSpPr>
        <a:xfrm>
          <a:off x="0" y="0"/>
          <a:ext cx="0" cy="0"/>
          <a:chOff x="0" y="0"/>
          <a:chExt cx="0" cy="0"/>
        </a:xfrm>
      </p:grpSpPr>
      <p:sp>
        <p:nvSpPr>
          <p:cNvPr id="455" name="Google Shape;455;p44"/>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456" name="Google Shape;456;p44"/>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457" name="Google Shape;457;p44"/>
          <p:cNvSpPr/>
          <p:nvPr/>
        </p:nvSpPr>
        <p:spPr>
          <a:xfrm>
            <a:off x="107504" y="699542"/>
            <a:ext cx="57199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4) 사회학적 접근 1-1</a:t>
            </a:r>
            <a:endParaRPr/>
          </a:p>
        </p:txBody>
      </p:sp>
      <p:sp>
        <p:nvSpPr>
          <p:cNvPr id="458" name="Google Shape;458;p44"/>
          <p:cNvSpPr txBox="1"/>
          <p:nvPr/>
        </p:nvSpPr>
        <p:spPr>
          <a:xfrm>
            <a:off x="179512" y="1276181"/>
            <a:ext cx="8712968" cy="333937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20000"/>
              </a:lnSpc>
              <a:spcBef>
                <a:spcPts val="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사회학은 두 사람 이상의 인간관계를 연구하는 학문</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상호작용하며 살아가는 인간들의 사회적 삶을 연구하는 것</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변화무쌍하게 움직이는 사회 속에서 살아가는 사람들의 행위를 연구하는 것임 </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예) 사람이 사람을 만날 때 사람들이 무리를 짓거나 집단을 형성할 때 일어나는 것은 무엇인가? 사람들이 서로 협동하거나 거래할 때 또한 경쟁하거나 싸우거나 지배할 때 일어나는 것과 다른 사람들을 설득하거나 모방할 때 혹은 문화를 발전 시키거나 파괴할 때 일어나는 것은 무엇인가?에 대한 연구를 함</a:t>
            </a:r>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242424"/>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2" name="Shape 462"/>
        <p:cNvGrpSpPr/>
        <p:nvPr/>
      </p:nvGrpSpPr>
      <p:grpSpPr>
        <a:xfrm>
          <a:off x="0" y="0"/>
          <a:ext cx="0" cy="0"/>
          <a:chOff x="0" y="0"/>
          <a:chExt cx="0" cy="0"/>
        </a:xfrm>
      </p:grpSpPr>
      <p:sp>
        <p:nvSpPr>
          <p:cNvPr id="463" name="Google Shape;463;p45"/>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사회학에서의 이벤트</a:t>
            </a:r>
            <a:endParaRPr/>
          </a:p>
        </p:txBody>
      </p:sp>
      <p:sp>
        <p:nvSpPr>
          <p:cNvPr id="464" name="Google Shape;464;p45"/>
          <p:cNvSpPr txBox="1"/>
          <p:nvPr/>
        </p:nvSpPr>
        <p:spPr>
          <a:xfrm>
            <a:off x="179512" y="627534"/>
            <a:ext cx="8568952" cy="346864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Noto Sans Symbols"/>
              <a:buChar char="❖"/>
            </a:pPr>
            <a:r>
              <a:rPr b="1" lang="ko-KR" sz="2000">
                <a:solidFill>
                  <a:srgbClr val="FF0000"/>
                </a:solidFill>
                <a:latin typeface="Arial"/>
                <a:ea typeface="Arial"/>
                <a:cs typeface="Arial"/>
                <a:sym typeface="Arial"/>
              </a:rPr>
              <a:t>사회학적 상상력과 특징</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사회학적 상상력이란 사회가 전반적으로 어떻게 돌아가고 어찌어찌 될 것이라는 전망을 제시하는 것임</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사회학의 특징은 다음과 같음</a:t>
            </a:r>
            <a:endParaRPr/>
          </a:p>
          <a:p>
            <a:pPr indent="0" lvl="0" marL="0" marR="0" rtl="0" algn="l">
              <a:lnSpc>
                <a:spcPct val="120000"/>
              </a:lnSpc>
              <a:spcBef>
                <a:spcPts val="1200"/>
              </a:spcBef>
              <a:spcAft>
                <a:spcPts val="0"/>
              </a:spcAft>
              <a:buClr>
                <a:srgbClr val="242424"/>
              </a:buClr>
              <a:buSzPts val="1800"/>
              <a:buFont typeface="Noto Sans Symbols"/>
              <a:buNone/>
            </a:pPr>
            <a:r>
              <a:rPr b="1" lang="ko-KR" sz="1800">
                <a:solidFill>
                  <a:srgbClr val="242424"/>
                </a:solidFill>
                <a:latin typeface="Arial"/>
                <a:ea typeface="Arial"/>
                <a:cs typeface="Arial"/>
                <a:sym typeface="Arial"/>
              </a:rPr>
              <a:t>① 사회학은 우리의 삶에 대해 많은 실제적 함축을 담고 있다.</a:t>
            </a:r>
            <a:endParaRPr b="1" sz="1800">
              <a:solidFill>
                <a:srgbClr val="242424"/>
              </a:solidFill>
              <a:latin typeface="Arial"/>
              <a:ea typeface="Arial"/>
              <a:cs typeface="Arial"/>
              <a:sym typeface="Arial"/>
            </a:endParaRPr>
          </a:p>
          <a:p>
            <a:pPr indent="0" lvl="0" marL="0" marR="0" rtl="0" algn="l">
              <a:lnSpc>
                <a:spcPct val="120000"/>
              </a:lnSpc>
              <a:spcBef>
                <a:spcPts val="1200"/>
              </a:spcBef>
              <a:spcAft>
                <a:spcPts val="0"/>
              </a:spcAft>
              <a:buClr>
                <a:srgbClr val="242424"/>
              </a:buClr>
              <a:buSzPts val="1800"/>
              <a:buFont typeface="Noto Sans Symbols"/>
              <a:buNone/>
            </a:pPr>
            <a:r>
              <a:rPr b="1" lang="ko-KR" sz="1800">
                <a:solidFill>
                  <a:srgbClr val="242424"/>
                </a:solidFill>
                <a:latin typeface="Arial"/>
                <a:ea typeface="Arial"/>
                <a:cs typeface="Arial"/>
                <a:sym typeface="Arial"/>
              </a:rPr>
              <a:t>② 사회학적 연구를 통해 다양한 문화적 관점에서 사회를 바라볼 수 있게 한다.</a:t>
            </a:r>
            <a:endParaRPr b="1" sz="1800">
              <a:solidFill>
                <a:srgbClr val="242424"/>
              </a:solidFill>
              <a:latin typeface="Arial"/>
              <a:ea typeface="Arial"/>
              <a:cs typeface="Arial"/>
              <a:sym typeface="Arial"/>
            </a:endParaRPr>
          </a:p>
          <a:p>
            <a:pPr indent="0" lvl="0" marL="0" marR="0" rtl="0" algn="l">
              <a:lnSpc>
                <a:spcPct val="120000"/>
              </a:lnSpc>
              <a:spcBef>
                <a:spcPts val="1200"/>
              </a:spcBef>
              <a:spcAft>
                <a:spcPts val="0"/>
              </a:spcAft>
              <a:buClr>
                <a:srgbClr val="242424"/>
              </a:buClr>
              <a:buSzPts val="1800"/>
              <a:buFont typeface="Noto Sans Symbols"/>
              <a:buNone/>
            </a:pPr>
            <a:r>
              <a:rPr b="1" lang="ko-KR" sz="1800">
                <a:solidFill>
                  <a:srgbClr val="242424"/>
                </a:solidFill>
                <a:latin typeface="Arial"/>
                <a:ea typeface="Arial"/>
                <a:cs typeface="Arial"/>
                <a:sym typeface="Arial"/>
              </a:rPr>
              <a:t>③ 사회학은 인간들로 하여금 자신의 삶에 영향을 미치는 요소들을 스스로 좌우할 수 있는 기회를 제공한다.</a:t>
            </a:r>
            <a:endParaRPr b="1" sz="1800">
              <a:solidFill>
                <a:srgbClr val="242424"/>
              </a:solidFill>
              <a:latin typeface="Arial"/>
              <a:ea typeface="Arial"/>
              <a:cs typeface="Arial"/>
              <a:sym typeface="Arial"/>
            </a:endParaRPr>
          </a:p>
        </p:txBody>
      </p:sp>
      <p:sp>
        <p:nvSpPr>
          <p:cNvPr descr="고성능 원했나요? HP 일체형 데스크탑 EliteOne 800 G6 발표! | 1boon" id="465" name="Google Shape;465;p45"/>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9" name="Shape 469"/>
        <p:cNvGrpSpPr/>
        <p:nvPr/>
      </p:nvGrpSpPr>
      <p:grpSpPr>
        <a:xfrm>
          <a:off x="0" y="0"/>
          <a:ext cx="0" cy="0"/>
          <a:chOff x="0" y="0"/>
          <a:chExt cx="0" cy="0"/>
        </a:xfrm>
      </p:grpSpPr>
      <p:sp>
        <p:nvSpPr>
          <p:cNvPr id="470" name="Google Shape;470;p46"/>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사회학에서의 이벤트</a:t>
            </a:r>
            <a:endParaRPr/>
          </a:p>
        </p:txBody>
      </p:sp>
      <p:sp>
        <p:nvSpPr>
          <p:cNvPr id="471" name="Google Shape;471;p46"/>
          <p:cNvSpPr txBox="1"/>
          <p:nvPr/>
        </p:nvSpPr>
        <p:spPr>
          <a:xfrm>
            <a:off x="179512" y="627534"/>
            <a:ext cx="8568952" cy="331475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Noto Sans Symbols"/>
              <a:buChar char="❖"/>
            </a:pPr>
            <a:r>
              <a:rPr b="1" lang="ko-KR" sz="2000">
                <a:solidFill>
                  <a:srgbClr val="FF0000"/>
                </a:solidFill>
                <a:latin typeface="Arial"/>
                <a:ea typeface="Arial"/>
                <a:cs typeface="Arial"/>
                <a:sym typeface="Arial"/>
              </a:rPr>
              <a:t>사회학적 상상력과 특징</a:t>
            </a:r>
            <a:endParaRPr b="1" sz="1800">
              <a:solidFill>
                <a:srgbClr val="242424"/>
              </a:solidFill>
              <a:latin typeface="Arial"/>
              <a:ea typeface="Arial"/>
              <a:cs typeface="Arial"/>
              <a:sym typeface="Arial"/>
            </a:endParaRPr>
          </a:p>
          <a:p>
            <a:pPr indent="0" lvl="0" marL="0" marR="0" rtl="0" algn="l">
              <a:lnSpc>
                <a:spcPct val="120000"/>
              </a:lnSpc>
              <a:spcBef>
                <a:spcPts val="1200"/>
              </a:spcBef>
              <a:spcAft>
                <a:spcPts val="0"/>
              </a:spcAft>
              <a:buClr>
                <a:srgbClr val="242424"/>
              </a:buClr>
              <a:buSzPts val="1800"/>
              <a:buFont typeface="Noto Sans Symbols"/>
              <a:buNone/>
            </a:pPr>
            <a:r>
              <a:rPr b="1" lang="ko-KR" sz="1800">
                <a:solidFill>
                  <a:srgbClr val="242424"/>
                </a:solidFill>
                <a:latin typeface="Arial"/>
                <a:ea typeface="Arial"/>
                <a:cs typeface="Arial"/>
                <a:sym typeface="Arial"/>
              </a:rPr>
              <a:t>④ 사회학을 배운다는 것은 우리로 하여금 고도의 통찰력을 제시한다.</a:t>
            </a:r>
            <a:endParaRPr b="1" sz="1800">
              <a:solidFill>
                <a:srgbClr val="242424"/>
              </a:solidFill>
              <a:latin typeface="Arial"/>
              <a:ea typeface="Arial"/>
              <a:cs typeface="Arial"/>
              <a:sym typeface="Arial"/>
            </a:endParaRPr>
          </a:p>
          <a:p>
            <a:pPr indent="0" lvl="0" marL="0" marR="0" rtl="0" algn="l">
              <a:lnSpc>
                <a:spcPct val="120000"/>
              </a:lnSpc>
              <a:spcBef>
                <a:spcPts val="1200"/>
              </a:spcBef>
              <a:spcAft>
                <a:spcPts val="0"/>
              </a:spcAft>
              <a:buClr>
                <a:srgbClr val="242424"/>
              </a:buClr>
              <a:buSzPts val="1800"/>
              <a:buFont typeface="Noto Sans Symbols"/>
              <a:buNone/>
            </a:pPr>
            <a:r>
              <a:rPr b="1" lang="ko-KR" sz="1800">
                <a:solidFill>
                  <a:srgbClr val="242424"/>
                </a:solidFill>
                <a:latin typeface="Arial"/>
                <a:ea typeface="Arial"/>
                <a:cs typeface="Arial"/>
                <a:sym typeface="Arial"/>
              </a:rPr>
              <a:t>⑤ 사회학을 배운다는 것은 우리로 하여금 포용력과 상상력을 갖게 한다.</a:t>
            </a:r>
            <a:endParaRPr b="1" sz="1800">
              <a:solidFill>
                <a:srgbClr val="242424"/>
              </a:solidFill>
              <a:latin typeface="Arial"/>
              <a:ea typeface="Arial"/>
              <a:cs typeface="Arial"/>
              <a:sym typeface="Arial"/>
            </a:endParaRPr>
          </a:p>
          <a:p>
            <a:pPr indent="0" lvl="0" marL="0" marR="0" rtl="0" algn="l">
              <a:lnSpc>
                <a:spcPct val="120000"/>
              </a:lnSpc>
              <a:spcBef>
                <a:spcPts val="1200"/>
              </a:spcBef>
              <a:spcAft>
                <a:spcPts val="0"/>
              </a:spcAft>
              <a:buClr>
                <a:srgbClr val="242424"/>
              </a:buClr>
              <a:buSzPts val="1800"/>
              <a:buFont typeface="Noto Sans Symbols"/>
              <a:buNone/>
            </a:pPr>
            <a:r>
              <a:rPr b="1" lang="ko-KR" sz="1800">
                <a:solidFill>
                  <a:srgbClr val="242424"/>
                </a:solidFill>
                <a:latin typeface="Arial"/>
                <a:ea typeface="Arial"/>
                <a:cs typeface="Arial"/>
                <a:sym typeface="Arial"/>
              </a:rPr>
              <a:t>⑥ 사회학적 연구는 독단에 도전하게 한다 </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 결론적으로 사회학적 연구와 사고는 사회에 만연하는 사회문제를 체계적으로 연구하고 분석하기 위해서 그리고 예방하고 치유하게 해주는데 기여하며 사회학은 현재 존재하는 불평등 도처에 만연하는 사회정의의 부재 수백만의 고통 받는 사람들에 대하여 결코 무관심하지 않는다</a:t>
            </a:r>
            <a:endParaRPr/>
          </a:p>
        </p:txBody>
      </p:sp>
      <p:sp>
        <p:nvSpPr>
          <p:cNvPr descr="고성능 원했나요? HP 일체형 데스크탑 EliteOne 800 G6 발표! | 1boon" id="472" name="Google Shape;472;p46"/>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6" name="Shape 476"/>
        <p:cNvGrpSpPr/>
        <p:nvPr/>
      </p:nvGrpSpPr>
      <p:grpSpPr>
        <a:xfrm>
          <a:off x="0" y="0"/>
          <a:ext cx="0" cy="0"/>
          <a:chOff x="0" y="0"/>
          <a:chExt cx="0" cy="0"/>
        </a:xfrm>
      </p:grpSpPr>
      <p:sp>
        <p:nvSpPr>
          <p:cNvPr id="477" name="Google Shape;477;p47"/>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사회학에서의 이벤트</a:t>
            </a:r>
            <a:endParaRPr/>
          </a:p>
        </p:txBody>
      </p:sp>
      <p:sp>
        <p:nvSpPr>
          <p:cNvPr id="478" name="Google Shape;478;p47"/>
          <p:cNvSpPr txBox="1"/>
          <p:nvPr/>
        </p:nvSpPr>
        <p:spPr>
          <a:xfrm>
            <a:off x="179512" y="627534"/>
            <a:ext cx="8640960" cy="364715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Noto Sans Symbols"/>
              <a:buChar char="❖"/>
            </a:pPr>
            <a:r>
              <a:rPr b="1" lang="ko-KR" sz="2000">
                <a:solidFill>
                  <a:srgbClr val="FF0000"/>
                </a:solidFill>
                <a:latin typeface="Arial"/>
                <a:ea typeface="Arial"/>
                <a:cs typeface="Arial"/>
                <a:sym typeface="Arial"/>
              </a:rPr>
              <a:t>사회학적 상상력과 특징</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또한 사회학을 배운다는 것은 사회를 열린 마음으로 보려고 애쓰면서 편견에서 벗어나 객관적으로 보게 한다 </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이것은 인간들의 삶의 질 향상을 위해서 노력하는 학문이며 현실과 밀접히 관련된 현실 지향적 학문이라 볼 수 있다</a:t>
            </a:r>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그리고 사회학은 일상생활이 요구하는 해답과 해결된 것을 즉각 제공하기보다는 전문적이고 깊이 있는 연구를 통해 보다 신빙성 있는 지식을 중 장기적으로 제공한다</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현실이 요구하는 해답을 즉시 마련하기 위하여 노력하기는 하나 깊이 있는 연구를 위해 좀 더 시간을 두고 보다 신빙성 있고 합리적이며 유익한 대안을 제시하는 학문이라 총칭 할 수 있다.</a:t>
            </a:r>
            <a:endParaRPr/>
          </a:p>
        </p:txBody>
      </p:sp>
      <p:sp>
        <p:nvSpPr>
          <p:cNvPr descr="고성능 원했나요? HP 일체형 데스크탑 EliteOne 800 G6 발표! | 1boon" id="479" name="Google Shape;479;p47"/>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3" name="Shape 483"/>
        <p:cNvGrpSpPr/>
        <p:nvPr/>
      </p:nvGrpSpPr>
      <p:grpSpPr>
        <a:xfrm>
          <a:off x="0" y="0"/>
          <a:ext cx="0" cy="0"/>
          <a:chOff x="0" y="0"/>
          <a:chExt cx="0" cy="0"/>
        </a:xfrm>
      </p:grpSpPr>
      <p:sp>
        <p:nvSpPr>
          <p:cNvPr id="484" name="Google Shape;484;p48"/>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사회학에서의 이벤트</a:t>
            </a:r>
            <a:endParaRPr/>
          </a:p>
        </p:txBody>
      </p:sp>
      <p:sp>
        <p:nvSpPr>
          <p:cNvPr id="485" name="Google Shape;485;p48"/>
          <p:cNvSpPr txBox="1"/>
          <p:nvPr/>
        </p:nvSpPr>
        <p:spPr>
          <a:xfrm>
            <a:off x="179512" y="627534"/>
            <a:ext cx="7992888" cy="119109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Noto Sans Symbols"/>
              <a:buChar char="❖"/>
            </a:pPr>
            <a:r>
              <a:rPr b="1" lang="ko-KR" sz="2000">
                <a:solidFill>
                  <a:srgbClr val="FF0000"/>
                </a:solidFill>
                <a:latin typeface="Arial"/>
                <a:ea typeface="Arial"/>
                <a:cs typeface="Arial"/>
                <a:sym typeface="Arial"/>
              </a:rPr>
              <a:t>사회학적 상상력과 특징</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또한 사회학의 명제 두가지는 사회보다는 인간 개개인을 더 중요시하는 사회명목론과 개개인 인간보다는 사회를 더 중요시하는 사회실재론으로 나눌 수 있다.</a:t>
            </a:r>
            <a:endParaRPr b="1" sz="1800">
              <a:solidFill>
                <a:srgbClr val="242424"/>
              </a:solidFill>
              <a:latin typeface="Arial"/>
              <a:ea typeface="Arial"/>
              <a:cs typeface="Arial"/>
              <a:sym typeface="Arial"/>
            </a:endParaRPr>
          </a:p>
        </p:txBody>
      </p:sp>
      <p:sp>
        <p:nvSpPr>
          <p:cNvPr descr="고성능 원했나요? HP 일체형 데스크탑 EliteOne 800 G6 발표! | 1boon" id="486" name="Google Shape;486;p48"/>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descr="사회구조 의미와 특징 : 네이버 블로그" id="487" name="Google Shape;487;p48"/>
          <p:cNvPicPr preferRelativeResize="0"/>
          <p:nvPr/>
        </p:nvPicPr>
        <p:blipFill rotWithShape="1">
          <a:blip r:embed="rId3">
            <a:alphaModFix/>
          </a:blip>
          <a:srcRect b="0" l="0" r="0" t="0"/>
          <a:stretch/>
        </p:blipFill>
        <p:spPr>
          <a:xfrm>
            <a:off x="3131840" y="2355726"/>
            <a:ext cx="2991671" cy="2232248"/>
          </a:xfrm>
          <a:prstGeom prst="rect">
            <a:avLst/>
          </a:prstGeom>
          <a:noFill/>
          <a:ln>
            <a:noFill/>
          </a:ln>
        </p:spPr>
      </p:pic>
      <p:pic>
        <p:nvPicPr>
          <p:cNvPr descr="사회문화 이용재 * 사회명목론, 사회실재론 : 네이버 블로그" id="488" name="Google Shape;488;p48"/>
          <p:cNvPicPr preferRelativeResize="0"/>
          <p:nvPr/>
        </p:nvPicPr>
        <p:blipFill rotWithShape="1">
          <a:blip r:embed="rId4">
            <a:alphaModFix/>
          </a:blip>
          <a:srcRect b="0" l="0" r="0" t="0"/>
          <a:stretch/>
        </p:blipFill>
        <p:spPr>
          <a:xfrm>
            <a:off x="473075" y="2844340"/>
            <a:ext cx="2590800" cy="154305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2" name="Shape 492"/>
        <p:cNvGrpSpPr/>
        <p:nvPr/>
      </p:nvGrpSpPr>
      <p:grpSpPr>
        <a:xfrm>
          <a:off x="0" y="0"/>
          <a:ext cx="0" cy="0"/>
          <a:chOff x="0" y="0"/>
          <a:chExt cx="0" cy="0"/>
        </a:xfrm>
      </p:grpSpPr>
      <p:sp>
        <p:nvSpPr>
          <p:cNvPr id="493" name="Google Shape;493;p49"/>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사회학에서의 이벤트</a:t>
            </a:r>
            <a:endParaRPr/>
          </a:p>
        </p:txBody>
      </p:sp>
      <p:sp>
        <p:nvSpPr>
          <p:cNvPr id="494" name="Google Shape;494;p49"/>
          <p:cNvSpPr txBox="1"/>
          <p:nvPr/>
        </p:nvSpPr>
        <p:spPr>
          <a:xfrm>
            <a:off x="179512" y="627534"/>
            <a:ext cx="8496944" cy="34286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Noto Sans Symbols"/>
              <a:buChar char="❖"/>
            </a:pPr>
            <a:r>
              <a:rPr b="1" lang="ko-KR" sz="2000">
                <a:solidFill>
                  <a:srgbClr val="FF0000"/>
                </a:solidFill>
                <a:latin typeface="Arial"/>
                <a:ea typeface="Arial"/>
                <a:cs typeface="Arial"/>
                <a:sym typeface="Arial"/>
              </a:rPr>
              <a:t>사회학의 주요 4가지 학문적 관점</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거시적 관점</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미시적 관점</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객관적 관점</a:t>
            </a:r>
            <a:endParaRPr b="1" sz="1800">
              <a:solidFill>
                <a:srgbClr val="242424"/>
              </a:solidFill>
              <a:latin typeface="Arial"/>
              <a:ea typeface="Arial"/>
              <a:cs typeface="Arial"/>
              <a:sym typeface="Arial"/>
            </a:endParaRPr>
          </a:p>
          <a:p>
            <a:pPr indent="-285750" lvl="0" marL="285750" marR="0" rtl="0" algn="l">
              <a:lnSpc>
                <a:spcPct val="10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주관적 관점</a:t>
            </a:r>
            <a:endParaRPr b="1" sz="1800">
              <a:solidFill>
                <a:srgbClr val="242424"/>
              </a:solidFill>
              <a:latin typeface="Arial"/>
              <a:ea typeface="Arial"/>
              <a:cs typeface="Arial"/>
              <a:sym typeface="Arial"/>
            </a:endParaRPr>
          </a:p>
          <a:p>
            <a:pPr indent="-285750" lvl="0" marL="285750" marR="0" rtl="0" algn="l">
              <a:lnSpc>
                <a:spcPct val="120000"/>
              </a:lnSpc>
              <a:spcBef>
                <a:spcPts val="1200"/>
              </a:spcBef>
              <a:spcAft>
                <a:spcPts val="0"/>
              </a:spcAft>
              <a:buClr>
                <a:srgbClr val="242424"/>
              </a:buClr>
              <a:buSzPts val="1800"/>
              <a:buFont typeface="Noto Sans Symbols"/>
              <a:buChar char="●"/>
            </a:pPr>
            <a:r>
              <a:rPr b="1" lang="ko-KR" sz="1800">
                <a:solidFill>
                  <a:srgbClr val="242424"/>
                </a:solidFill>
                <a:latin typeface="Arial"/>
                <a:ea typeface="Arial"/>
                <a:cs typeface="Arial"/>
                <a:sym typeface="Arial"/>
              </a:rPr>
              <a:t>관점에 따라 이벤트를 구조 기능론, 갈등론, 교환이론, 상징적 상호작용론으로 나누어 볼 수 있다</a:t>
            </a:r>
            <a:endParaRPr b="1" sz="1800">
              <a:solidFill>
                <a:srgbClr val="242424"/>
              </a:solidFill>
              <a:latin typeface="Arial"/>
              <a:ea typeface="Arial"/>
              <a:cs typeface="Arial"/>
              <a:sym typeface="Arial"/>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242424"/>
              </a:solidFill>
              <a:latin typeface="Arial"/>
              <a:ea typeface="Arial"/>
              <a:cs typeface="Arial"/>
              <a:sym typeface="Arial"/>
            </a:endParaRPr>
          </a:p>
        </p:txBody>
      </p:sp>
      <p:sp>
        <p:nvSpPr>
          <p:cNvPr descr="고성능 원했나요? HP 일체형 데스크탑 EliteOne 800 G6 발표! | 1boon" id="495" name="Google Shape;495;p49"/>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9" name="Shape 499"/>
        <p:cNvGrpSpPr/>
        <p:nvPr/>
      </p:nvGrpSpPr>
      <p:grpSpPr>
        <a:xfrm>
          <a:off x="0" y="0"/>
          <a:ext cx="0" cy="0"/>
          <a:chOff x="0" y="0"/>
          <a:chExt cx="0" cy="0"/>
        </a:xfrm>
      </p:grpSpPr>
      <p:sp>
        <p:nvSpPr>
          <p:cNvPr id="500" name="Google Shape;500;p50"/>
          <p:cNvSpPr txBox="1"/>
          <p:nvPr>
            <p:ph type="title"/>
          </p:nvPr>
        </p:nvSpPr>
        <p:spPr>
          <a:xfrm>
            <a:off x="141411" y="83845"/>
            <a:ext cx="8247013" cy="38338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CEEC8"/>
              </a:buClr>
              <a:buSzPts val="2500"/>
              <a:buFont typeface="Arial"/>
              <a:buNone/>
            </a:pPr>
            <a:r>
              <a:rPr lang="ko-KR"/>
              <a:t>사회학에서의 이벤트</a:t>
            </a:r>
            <a:endParaRPr/>
          </a:p>
        </p:txBody>
      </p:sp>
      <p:sp>
        <p:nvSpPr>
          <p:cNvPr id="501" name="Google Shape;501;p50"/>
          <p:cNvSpPr txBox="1"/>
          <p:nvPr/>
        </p:nvSpPr>
        <p:spPr>
          <a:xfrm>
            <a:off x="179512" y="627534"/>
            <a:ext cx="6120680" cy="88639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FF0000"/>
              </a:buClr>
              <a:buSzPts val="2000"/>
              <a:buFont typeface="Noto Sans Symbols"/>
              <a:buChar char="❖"/>
            </a:pPr>
            <a:r>
              <a:rPr b="1" lang="ko-KR" sz="2000">
                <a:solidFill>
                  <a:srgbClr val="FF0000"/>
                </a:solidFill>
                <a:latin typeface="Arial"/>
                <a:ea typeface="Arial"/>
                <a:cs typeface="Arial"/>
                <a:sym typeface="Arial"/>
              </a:rPr>
              <a:t>사회학의 주요 4가지 학문적 관점</a:t>
            </a:r>
            <a:endParaRPr b="1" sz="1800">
              <a:solidFill>
                <a:srgbClr val="242424"/>
              </a:solidFill>
              <a:latin typeface="Arial"/>
              <a:ea typeface="Arial"/>
              <a:cs typeface="Arial"/>
              <a:sym typeface="Arial"/>
            </a:endParaRPr>
          </a:p>
          <a:p>
            <a:pPr indent="-171450" lvl="0" marL="285750" marR="0" rtl="0" algn="l">
              <a:lnSpc>
                <a:spcPct val="120000"/>
              </a:lnSpc>
              <a:spcBef>
                <a:spcPts val="1200"/>
              </a:spcBef>
              <a:spcAft>
                <a:spcPts val="0"/>
              </a:spcAft>
              <a:buClr>
                <a:srgbClr val="242424"/>
              </a:buClr>
              <a:buSzPts val="1800"/>
              <a:buFont typeface="Noto Sans Symbols"/>
              <a:buNone/>
            </a:pPr>
            <a:r>
              <a:t/>
            </a:r>
            <a:endParaRPr b="1" sz="1800">
              <a:solidFill>
                <a:srgbClr val="242424"/>
              </a:solidFill>
              <a:latin typeface="Arial"/>
              <a:ea typeface="Arial"/>
              <a:cs typeface="Arial"/>
              <a:sym typeface="Arial"/>
            </a:endParaRPr>
          </a:p>
        </p:txBody>
      </p:sp>
      <p:sp>
        <p:nvSpPr>
          <p:cNvPr descr="고성능 원했나요? HP 일체형 데스크탑 EliteOne 800 G6 발표! | 1boon" id="502" name="Google Shape;502;p50"/>
          <p:cNvSpPr/>
          <p:nvPr/>
        </p:nvSpPr>
        <p:spPr>
          <a:xfrm>
            <a:off x="1682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503" name="Google Shape;503;p50"/>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ko-KR" sz="1000" u="none" cap="none" strike="noStrike">
                <a:solidFill>
                  <a:srgbClr val="000000"/>
                </a:solidFill>
                <a:latin typeface="Arial"/>
                <a:ea typeface="Arial"/>
                <a:cs typeface="Arial"/>
                <a:sym typeface="Arial"/>
              </a:rPr>
              <a:t>  </a:t>
            </a:r>
            <a:endParaRPr b="0" i="0" sz="600" u="none" cap="none" strike="noStrike">
              <a:solidFill>
                <a:schemeClr val="dk1"/>
              </a:solidFill>
              <a:latin typeface="Gulim"/>
              <a:ea typeface="Gulim"/>
              <a:cs typeface="Gulim"/>
              <a:sym typeface="Gulim"/>
            </a:endParaRPr>
          </a:p>
          <a:p>
            <a:pPr indent="0" lvl="0" marL="0" marR="0" rtl="0" algn="l">
              <a:lnSpc>
                <a:spcPct val="100000"/>
              </a:lnSpc>
              <a:spcBef>
                <a:spcPts val="0"/>
              </a:spcBef>
              <a:spcAft>
                <a:spcPts val="0"/>
              </a:spcAft>
              <a:buClr>
                <a:schemeClr val="dk1"/>
              </a:buClr>
              <a:buSzPts val="1800"/>
              <a:buFont typeface="Gulim"/>
              <a:buNone/>
            </a:pPr>
            <a:r>
              <a:t/>
            </a:r>
            <a:endParaRPr b="0" i="0" sz="1800" u="none" cap="none" strike="noStrike">
              <a:solidFill>
                <a:schemeClr val="dk1"/>
              </a:solidFill>
              <a:latin typeface="Gulim"/>
              <a:ea typeface="Gulim"/>
              <a:cs typeface="Gulim"/>
              <a:sym typeface="Gulim"/>
            </a:endParaRPr>
          </a:p>
        </p:txBody>
      </p:sp>
      <p:sp>
        <p:nvSpPr>
          <p:cNvPr id="504" name="Google Shape;504;p50"/>
          <p:cNvSpPr/>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pic>
        <p:nvPicPr>
          <p:cNvPr descr="DRW000057700c04" id="505" name="Google Shape;505;p50"/>
          <p:cNvPicPr preferRelativeResize="0"/>
          <p:nvPr/>
        </p:nvPicPr>
        <p:blipFill rotWithShape="1">
          <a:blip r:embed="rId3">
            <a:alphaModFix/>
          </a:blip>
          <a:srcRect b="0" l="0" r="0" t="0"/>
          <a:stretch/>
        </p:blipFill>
        <p:spPr>
          <a:xfrm>
            <a:off x="407092" y="1275606"/>
            <a:ext cx="5400516" cy="338437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1"/>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11" name="Google Shape;511;p5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레크리에이션과 여가의 학문적 접근</a:t>
            </a:r>
            <a:endParaRPr/>
          </a:p>
        </p:txBody>
      </p:sp>
      <p:sp>
        <p:nvSpPr>
          <p:cNvPr id="512" name="Google Shape;512;p51"/>
          <p:cNvSpPr/>
          <p:nvPr/>
        </p:nvSpPr>
        <p:spPr>
          <a:xfrm>
            <a:off x="107504" y="699542"/>
            <a:ext cx="5719912" cy="46166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4) 사회학적 접근 정리</a:t>
            </a:r>
            <a:endParaRPr b="1" sz="2000">
              <a:solidFill>
                <a:srgbClr val="08054B"/>
              </a:solidFill>
              <a:latin typeface="Malgun Gothic"/>
              <a:ea typeface="Malgun Gothic"/>
              <a:cs typeface="Malgun Gothic"/>
              <a:sym typeface="Malgun Gothic"/>
            </a:endParaRPr>
          </a:p>
        </p:txBody>
      </p:sp>
      <p:sp>
        <p:nvSpPr>
          <p:cNvPr id="513" name="Google Shape;513;p51"/>
          <p:cNvSpPr/>
          <p:nvPr/>
        </p:nvSpPr>
        <p:spPr>
          <a:xfrm>
            <a:off x="251519" y="1275606"/>
            <a:ext cx="5689353" cy="1663668"/>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514" name="Google Shape;514;p51"/>
          <p:cNvSpPr/>
          <p:nvPr/>
        </p:nvSpPr>
        <p:spPr>
          <a:xfrm>
            <a:off x="349101" y="1368511"/>
            <a:ext cx="5663059" cy="184665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사회학적 관점에서 사회의 발전 측면에서 여가에 대한 연구</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문명의 발달과 여가의 변천 관계를 연구</a:t>
            </a:r>
            <a:endParaRPr/>
          </a:p>
          <a:p>
            <a:pPr indent="-285750" lvl="0" marL="285750" marR="0" rtl="0" algn="l">
              <a:lnSpc>
                <a:spcPct val="110000"/>
              </a:lnSpc>
              <a:spcBef>
                <a:spcPts val="600"/>
              </a:spcBef>
              <a:spcAft>
                <a:spcPts val="0"/>
              </a:spcAft>
              <a:buClr>
                <a:srgbClr val="C00000"/>
              </a:buClr>
              <a:buSzPts val="1800"/>
              <a:buFont typeface="Arial"/>
              <a:buChar char="•"/>
            </a:pPr>
            <a:r>
              <a:rPr b="1" lang="ko-KR" sz="1800">
                <a:solidFill>
                  <a:srgbClr val="0F243E"/>
                </a:solidFill>
                <a:latin typeface="Malgun Gothic"/>
                <a:ea typeface="Malgun Gothic"/>
                <a:cs typeface="Malgun Gothic"/>
                <a:sym typeface="Malgun Gothic"/>
              </a:rPr>
              <a:t>사회발전과 여가의 중요성에 대한 인식에서 시작</a:t>
            </a:r>
            <a:endParaRPr/>
          </a:p>
          <a:p>
            <a:pPr indent="-171450" lvl="0" marL="285750" marR="0" rtl="0" algn="l">
              <a:lnSpc>
                <a:spcPct val="110000"/>
              </a:lnSpc>
              <a:spcBef>
                <a:spcPts val="600"/>
              </a:spcBef>
              <a:spcAft>
                <a:spcPts val="0"/>
              </a:spcAft>
              <a:buClr>
                <a:srgbClr val="C00000"/>
              </a:buClr>
              <a:buSzPts val="1800"/>
              <a:buFont typeface="Arial"/>
              <a:buNone/>
            </a:pPr>
            <a:r>
              <a:t/>
            </a:r>
            <a:endParaRPr b="1" sz="1800">
              <a:solidFill>
                <a:srgbClr val="0F243E"/>
              </a:solidFill>
              <a:latin typeface="Malgun Gothic"/>
              <a:ea typeface="Malgun Gothic"/>
              <a:cs typeface="Malgun Gothic"/>
              <a:sym typeface="Malgun Gothic"/>
            </a:endParaRPr>
          </a:p>
        </p:txBody>
      </p:sp>
      <p:graphicFrame>
        <p:nvGraphicFramePr>
          <p:cNvPr id="515" name="Google Shape;515;p51"/>
          <p:cNvGraphicFramePr/>
          <p:nvPr/>
        </p:nvGraphicFramePr>
        <p:xfrm>
          <a:off x="611560" y="3137310"/>
          <a:ext cx="3000000" cy="3000000"/>
        </p:xfrm>
        <a:graphic>
          <a:graphicData uri="http://schemas.openxmlformats.org/drawingml/2006/table">
            <a:tbl>
              <a:tblPr bandRow="1" firstRow="1">
                <a:noFill/>
                <a:tableStyleId>{76889C15-DFBA-4BD0-9E9D-E118DC14D922}</a:tableStyleId>
              </a:tblPr>
              <a:tblGrid>
                <a:gridCol w="2520275"/>
                <a:gridCol w="2520275"/>
              </a:tblGrid>
              <a:tr h="227400">
                <a:tc>
                  <a:txBody>
                    <a:bodyPr/>
                    <a:lstStyle/>
                    <a:p>
                      <a:pPr indent="0" lvl="0" marL="0" marR="0" rtl="0" algn="ctr">
                        <a:spcBef>
                          <a:spcPts val="0"/>
                        </a:spcBef>
                        <a:spcAft>
                          <a:spcPts val="0"/>
                        </a:spcAft>
                        <a:buNone/>
                      </a:pPr>
                      <a:r>
                        <a:rPr b="1" lang="ko-KR" sz="1800" u="none" cap="none" strike="noStrike">
                          <a:solidFill>
                            <a:schemeClr val="lt1"/>
                          </a:solidFill>
                          <a:latin typeface="Malgun Gothic"/>
                          <a:ea typeface="Malgun Gothic"/>
                          <a:cs typeface="Malgun Gothic"/>
                          <a:sym typeface="Malgun Gothic"/>
                        </a:rPr>
                        <a:t>과거</a:t>
                      </a:r>
                      <a:endParaRPr/>
                    </a:p>
                  </a:txBody>
                  <a:tcPr marT="45725" marB="45725" marR="91450" marL="91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rgbClr val="0F243E"/>
                      </a:solidFill>
                      <a:prstDash val="solid"/>
                      <a:round/>
                      <a:headEnd len="sm" w="sm" type="none"/>
                      <a:tailEnd len="sm" w="sm" type="none"/>
                    </a:lnT>
                    <a:lnB cap="flat" cmpd="sng" w="9525">
                      <a:solidFill>
                        <a:srgbClr val="BFBFBF"/>
                      </a:solidFill>
                      <a:prstDash val="solid"/>
                      <a:round/>
                      <a:headEnd len="sm" w="sm" type="none"/>
                      <a:tailEnd len="sm" w="sm" type="none"/>
                    </a:lnB>
                    <a:solidFill>
                      <a:srgbClr val="366092"/>
                    </a:solidFill>
                  </a:tcPr>
                </a:tc>
                <a:tc>
                  <a:txBody>
                    <a:bodyPr/>
                    <a:lstStyle/>
                    <a:p>
                      <a:pPr indent="0" lvl="0" marL="0" marR="0" rtl="0" algn="ctr">
                        <a:spcBef>
                          <a:spcPts val="0"/>
                        </a:spcBef>
                        <a:spcAft>
                          <a:spcPts val="0"/>
                        </a:spcAft>
                        <a:buNone/>
                      </a:pPr>
                      <a:r>
                        <a:rPr b="1" lang="ko-KR" sz="1800" u="none" cap="none" strike="noStrike">
                          <a:solidFill>
                            <a:schemeClr val="lt1"/>
                          </a:solidFill>
                          <a:latin typeface="Malgun Gothic"/>
                          <a:ea typeface="Malgun Gothic"/>
                          <a:cs typeface="Malgun Gothic"/>
                          <a:sym typeface="Malgun Gothic"/>
                        </a:rPr>
                        <a:t>현재</a:t>
                      </a:r>
                      <a:endParaRPr/>
                    </a:p>
                  </a:txBody>
                  <a:tcPr marT="45725" marB="45725" marR="91450" marL="91450" anchor="ctr">
                    <a:lnL cap="flat" cmpd="sng" w="9525">
                      <a:solidFill>
                        <a:srgbClr val="BFBFBF"/>
                      </a:solidFill>
                      <a:prstDash val="solid"/>
                      <a:round/>
                      <a:headEnd len="sm" w="sm" type="none"/>
                      <a:tailEnd len="sm" w="sm" type="none"/>
                    </a:lnL>
                    <a:lnT cap="flat" cmpd="sng" w="12700">
                      <a:solidFill>
                        <a:srgbClr val="0F243E"/>
                      </a:solidFill>
                      <a:prstDash val="solid"/>
                      <a:round/>
                      <a:headEnd len="sm" w="sm" type="none"/>
                      <a:tailEnd len="sm" w="sm" type="none"/>
                    </a:lnT>
                    <a:lnB cap="flat" cmpd="sng" w="9525">
                      <a:solidFill>
                        <a:srgbClr val="BFBFBF"/>
                      </a:solidFill>
                      <a:prstDash val="solid"/>
                      <a:round/>
                      <a:headEnd len="sm" w="sm" type="none"/>
                      <a:tailEnd len="sm" w="sm" type="none"/>
                    </a:lnB>
                    <a:solidFill>
                      <a:srgbClr val="366092"/>
                    </a:solidFill>
                  </a:tcPr>
                </a:tc>
              </a:tr>
              <a:tr h="397950">
                <a:tc>
                  <a:txBody>
                    <a:bodyPr/>
                    <a:lstStyle/>
                    <a:p>
                      <a:pPr indent="0" lvl="0" marL="0" marR="0" rtl="0" algn="ctr">
                        <a:spcBef>
                          <a:spcPts val="0"/>
                        </a:spcBef>
                        <a:spcAft>
                          <a:spcPts val="0"/>
                        </a:spcAft>
                        <a:buNone/>
                      </a:pPr>
                      <a:r>
                        <a:rPr lang="ko-KR" sz="1800" u="none" cap="none" strike="noStrike"/>
                        <a:t>생활의 부수적인 존재</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3F7FB"/>
                    </a:solidFill>
                  </a:tcPr>
                </a:tc>
                <a:tc>
                  <a:txBody>
                    <a:bodyPr/>
                    <a:lstStyle/>
                    <a:p>
                      <a:pPr indent="0" lvl="0" marL="0" marR="0" rtl="0" algn="ctr">
                        <a:spcBef>
                          <a:spcPts val="0"/>
                        </a:spcBef>
                        <a:spcAft>
                          <a:spcPts val="0"/>
                        </a:spcAft>
                        <a:buNone/>
                      </a:pPr>
                      <a:r>
                        <a:rPr lang="ko-KR" sz="1800" u="none" cap="none" strike="noStrike"/>
                        <a:t>자기계발, 창조적 활동</a:t>
                      </a:r>
                      <a:endParaRPr/>
                    </a:p>
                  </a:txBody>
                  <a:tcPr marT="45725" marB="45725" marR="91450" marL="91450">
                    <a:lnL cap="flat" cmpd="sng" w="9525">
                      <a:solidFill>
                        <a:srgbClr val="BFBFBF"/>
                      </a:solidFill>
                      <a:prstDash val="solid"/>
                      <a:round/>
                      <a:headEnd len="sm" w="sm" type="none"/>
                      <a:tailEnd len="sm" w="sm" type="none"/>
                    </a:lnL>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3F7FB"/>
                    </a:solidFill>
                  </a:tcPr>
                </a:tc>
              </a:tr>
              <a:tr h="227400">
                <a:tc>
                  <a:txBody>
                    <a:bodyPr/>
                    <a:lstStyle/>
                    <a:p>
                      <a:pPr indent="0" lvl="0" marL="0" marR="0" rtl="0" algn="ctr">
                        <a:spcBef>
                          <a:spcPts val="0"/>
                        </a:spcBef>
                        <a:spcAft>
                          <a:spcPts val="0"/>
                        </a:spcAft>
                        <a:buNone/>
                      </a:pPr>
                      <a:r>
                        <a:rPr lang="ko-KR" sz="1800" u="none" cap="none" strike="noStrike"/>
                        <a:t>소극적</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3F7FB"/>
                    </a:solidFill>
                  </a:tcPr>
                </a:tc>
                <a:tc>
                  <a:txBody>
                    <a:bodyPr/>
                    <a:lstStyle/>
                    <a:p>
                      <a:pPr indent="0" lvl="0" marL="0" marR="0" rtl="0" algn="ctr">
                        <a:spcBef>
                          <a:spcPts val="0"/>
                        </a:spcBef>
                        <a:spcAft>
                          <a:spcPts val="0"/>
                        </a:spcAft>
                        <a:buNone/>
                      </a:pPr>
                      <a:r>
                        <a:rPr lang="ko-KR" sz="1800" u="none" cap="none" strike="noStrike"/>
                        <a:t>적극적</a:t>
                      </a:r>
                      <a:endParaRPr/>
                    </a:p>
                  </a:txBody>
                  <a:tcPr marT="45725" marB="45725" marR="91450" marL="91450">
                    <a:lnL cap="flat" cmpd="sng" w="9525">
                      <a:solidFill>
                        <a:srgbClr val="BFBFBF"/>
                      </a:solidFill>
                      <a:prstDash val="solid"/>
                      <a:round/>
                      <a:headEnd len="sm" w="sm" type="none"/>
                      <a:tailEnd len="sm" w="sm" type="none"/>
                    </a:lnL>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3F7FB"/>
                    </a:solidFill>
                  </a:tcPr>
                </a:tc>
              </a:tr>
              <a:tr h="227400">
                <a:tc>
                  <a:txBody>
                    <a:bodyPr/>
                    <a:lstStyle/>
                    <a:p>
                      <a:pPr indent="0" lvl="0" marL="0" marR="0" rtl="0" algn="ctr">
                        <a:spcBef>
                          <a:spcPts val="0"/>
                        </a:spcBef>
                        <a:spcAft>
                          <a:spcPts val="0"/>
                        </a:spcAft>
                        <a:buNone/>
                      </a:pPr>
                      <a:r>
                        <a:rPr lang="ko-KR" sz="1800" u="none" cap="none" strike="noStrike"/>
                        <a:t>일중시</a:t>
                      </a:r>
                      <a:endParaRPr sz="1800" u="none" cap="none" strike="noStrike"/>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3F7FB"/>
                    </a:solidFill>
                  </a:tcPr>
                </a:tc>
                <a:tc>
                  <a:txBody>
                    <a:bodyPr/>
                    <a:lstStyle/>
                    <a:p>
                      <a:pPr indent="0" lvl="0" marL="0" marR="0" rtl="0" algn="ctr">
                        <a:spcBef>
                          <a:spcPts val="0"/>
                        </a:spcBef>
                        <a:spcAft>
                          <a:spcPts val="0"/>
                        </a:spcAft>
                        <a:buNone/>
                      </a:pPr>
                      <a:r>
                        <a:rPr lang="ko-KR" sz="1800" u="none" cap="none" strike="noStrike"/>
                        <a:t>여가중시</a:t>
                      </a:r>
                      <a:endParaRPr/>
                    </a:p>
                  </a:txBody>
                  <a:tcPr marT="45725" marB="45725" marR="91450" marL="91450">
                    <a:lnL cap="flat" cmpd="sng" w="9525">
                      <a:solidFill>
                        <a:srgbClr val="BFBFBF"/>
                      </a:solidFill>
                      <a:prstDash val="solid"/>
                      <a:round/>
                      <a:headEnd len="sm" w="sm" type="none"/>
                      <a:tailEnd len="sm" w="sm" type="none"/>
                    </a:lnL>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3F7FB"/>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9" name="Shape 519"/>
        <p:cNvGrpSpPr/>
        <p:nvPr/>
      </p:nvGrpSpPr>
      <p:grpSpPr>
        <a:xfrm>
          <a:off x="0" y="0"/>
          <a:ext cx="0" cy="0"/>
          <a:chOff x="0" y="0"/>
          <a:chExt cx="0" cy="0"/>
        </a:xfrm>
      </p:grpSpPr>
      <p:sp>
        <p:nvSpPr>
          <p:cNvPr id="520" name="Google Shape;520;p5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2. 여가의 학문적 접근  </a:t>
            </a:r>
            <a:r>
              <a:rPr lang="ko-KR" sz="1200"/>
              <a:t>(사회학적연구)</a:t>
            </a:r>
            <a:endParaRPr sz="1200"/>
          </a:p>
        </p:txBody>
      </p:sp>
      <p:pic>
        <p:nvPicPr>
          <p:cNvPr descr="이코노믹리뷰" id="521" name="Google Shape;521;p52"/>
          <p:cNvPicPr preferRelativeResize="0"/>
          <p:nvPr/>
        </p:nvPicPr>
        <p:blipFill rotWithShape="1">
          <a:blip r:embed="rId3">
            <a:alphaModFix/>
          </a:blip>
          <a:srcRect b="0" l="0" r="0" t="0"/>
          <a:stretch/>
        </p:blipFill>
        <p:spPr>
          <a:xfrm>
            <a:off x="107504" y="627535"/>
            <a:ext cx="5688632" cy="4191540"/>
          </a:xfrm>
          <a:prstGeom prst="rect">
            <a:avLst/>
          </a:prstGeom>
          <a:noFill/>
          <a:ln>
            <a:noFill/>
          </a:ln>
        </p:spPr>
      </p:pic>
      <p:sp>
        <p:nvSpPr>
          <p:cNvPr id="522" name="Google Shape;522;p52"/>
          <p:cNvSpPr/>
          <p:nvPr/>
        </p:nvSpPr>
        <p:spPr>
          <a:xfrm>
            <a:off x="107504" y="4803998"/>
            <a:ext cx="3342582"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050">
                <a:solidFill>
                  <a:schemeClr val="dk1"/>
                </a:solidFill>
                <a:latin typeface="Malgun Gothic"/>
                <a:ea typeface="Malgun Gothic"/>
                <a:cs typeface="Malgun Gothic"/>
                <a:sym typeface="Malgun Gothic"/>
              </a:rPr>
              <a:t>출처 : 2016 국민여가활동 조사(한국문화관광연구원)</a:t>
            </a:r>
            <a:endParaRPr sz="1050">
              <a:solidFill>
                <a:schemeClr val="dk1"/>
              </a:solidFill>
              <a:latin typeface="Malgun Gothic"/>
              <a:ea typeface="Malgun Gothic"/>
              <a:cs typeface="Malgun Gothic"/>
              <a:sym typeface="Malgun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7" name="Shape 527"/>
        <p:cNvGrpSpPr/>
        <p:nvPr/>
      </p:nvGrpSpPr>
      <p:grpSpPr>
        <a:xfrm>
          <a:off x="0" y="0"/>
          <a:ext cx="0" cy="0"/>
          <a:chOff x="0" y="0"/>
          <a:chExt cx="0" cy="0"/>
        </a:xfrm>
      </p:grpSpPr>
      <p:sp>
        <p:nvSpPr>
          <p:cNvPr id="528" name="Google Shape;528;p53"/>
          <p:cNvSpPr/>
          <p:nvPr/>
        </p:nvSpPr>
        <p:spPr>
          <a:xfrm>
            <a:off x="2604" y="957982"/>
            <a:ext cx="9144000" cy="864096"/>
          </a:xfrm>
          <a:prstGeom prst="roundRect">
            <a:avLst>
              <a:gd fmla="val 4777" name="adj"/>
            </a:avLst>
          </a:prstGeom>
          <a:solidFill>
            <a:schemeClr val="lt1">
              <a:alpha val="6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529" name="Google Shape;529;p53"/>
          <p:cNvSpPr/>
          <p:nvPr/>
        </p:nvSpPr>
        <p:spPr>
          <a:xfrm>
            <a:off x="2447256" y="1097682"/>
            <a:ext cx="547260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3200">
                <a:solidFill>
                  <a:srgbClr val="244061"/>
                </a:solidFill>
                <a:latin typeface="Malgun Gothic"/>
                <a:ea typeface="Malgun Gothic"/>
                <a:cs typeface="Malgun Gothic"/>
                <a:sym typeface="Malgun Gothic"/>
              </a:rPr>
              <a:t>여가의 역사적 관점</a:t>
            </a:r>
            <a:endParaRPr/>
          </a:p>
        </p:txBody>
      </p:sp>
      <p:sp>
        <p:nvSpPr>
          <p:cNvPr id="530" name="Google Shape;530;p53"/>
          <p:cNvSpPr/>
          <p:nvPr/>
        </p:nvSpPr>
        <p:spPr>
          <a:xfrm>
            <a:off x="935088" y="1085882"/>
            <a:ext cx="1503412" cy="615258"/>
          </a:xfrm>
          <a:prstGeom prst="roundRect">
            <a:avLst>
              <a:gd fmla="val 31422" name="adj"/>
            </a:avLst>
          </a:prstGeom>
          <a:solidFill>
            <a:srgbClr val="17365D"/>
          </a:solidFill>
          <a:ln>
            <a:noFill/>
          </a:ln>
        </p:spPr>
        <p:txBody>
          <a:bodyPr anchorCtr="1" anchor="ctr" bIns="0" lIns="91425" spcFirstLastPara="1" rIns="91425" wrap="square" tIns="0">
            <a:noAutofit/>
          </a:bodyPr>
          <a:lstStyle/>
          <a:p>
            <a:pPr indent="0" lvl="0" marL="0" marR="0" rtl="0" algn="ctr">
              <a:spcBef>
                <a:spcPts val="0"/>
              </a:spcBef>
              <a:spcAft>
                <a:spcPts val="0"/>
              </a:spcAft>
              <a:buNone/>
            </a:pPr>
            <a:r>
              <a:rPr b="1" lang="ko-KR" sz="2800">
                <a:solidFill>
                  <a:schemeClr val="lt1"/>
                </a:solidFill>
                <a:latin typeface="Malgun Gothic"/>
                <a:ea typeface="Malgun Gothic"/>
                <a:cs typeface="Malgun Gothic"/>
                <a:sym typeface="Malgun Gothic"/>
              </a:rPr>
              <a:t>Part 3</a:t>
            </a:r>
            <a:endParaRPr b="1" sz="2800">
              <a:solidFill>
                <a:schemeClr val="lt1"/>
              </a:solidFill>
              <a:latin typeface="Malgun Gothic"/>
              <a:ea typeface="Malgun Gothic"/>
              <a:cs typeface="Malgun Gothic"/>
              <a:sym typeface="Malgun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4" name="Shape 534"/>
        <p:cNvGrpSpPr/>
        <p:nvPr/>
      </p:nvGrpSpPr>
      <p:grpSpPr>
        <a:xfrm>
          <a:off x="0" y="0"/>
          <a:ext cx="0" cy="0"/>
          <a:chOff x="0" y="0"/>
          <a:chExt cx="0" cy="0"/>
        </a:xfrm>
      </p:grpSpPr>
      <p:sp>
        <p:nvSpPr>
          <p:cNvPr id="535" name="Google Shape;535;p54"/>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36" name="Google Shape;536;p54"/>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537" name="Google Shape;537;p54"/>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여가의 시작은?</a:t>
            </a:r>
            <a:endParaRPr/>
          </a:p>
        </p:txBody>
      </p:sp>
      <p:sp>
        <p:nvSpPr>
          <p:cNvPr id="538" name="Google Shape;538;p54"/>
          <p:cNvSpPr/>
          <p:nvPr/>
        </p:nvSpPr>
        <p:spPr>
          <a:xfrm>
            <a:off x="251519" y="1275606"/>
            <a:ext cx="5689353" cy="2808312"/>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539" name="Google Shape;539;p54"/>
          <p:cNvSpPr/>
          <p:nvPr/>
        </p:nvSpPr>
        <p:spPr>
          <a:xfrm>
            <a:off x="395537" y="1380223"/>
            <a:ext cx="5431879" cy="2456057"/>
          </a:xfrm>
          <a:prstGeom prst="rect">
            <a:avLst/>
          </a:prstGeom>
          <a:noFill/>
          <a:ln>
            <a:noFill/>
          </a:ln>
        </p:spPr>
        <p:txBody>
          <a:bodyPr anchorCtr="0" anchor="t" bIns="45700" lIns="91425" spcFirstLastPara="1" rIns="91425" wrap="square" tIns="45700">
            <a:spAutoFit/>
          </a:bodyPr>
          <a:lstStyle/>
          <a:p>
            <a:pPr indent="-271463" lvl="0" marL="271463" marR="0" rtl="0" algn="l">
              <a:lnSpc>
                <a:spcPct val="110000"/>
              </a:lnSpc>
              <a:spcBef>
                <a:spcPts val="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놀이는 문화보다 더 오랜 역사를 가진다.</a:t>
            </a:r>
            <a:endParaRPr b="1" sz="1800">
              <a:solidFill>
                <a:srgbClr val="401B5B"/>
              </a:solidFill>
              <a:latin typeface="Malgun Gothic"/>
              <a:ea typeface="Malgun Gothic"/>
              <a:cs typeface="Malgun Gothic"/>
              <a:sym typeface="Malgun Gothic"/>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그러나 여가나 놀이는 교육의 주된 관심영역이 될 수 없었다.</a:t>
            </a:r>
            <a:endParaRPr b="1" sz="1800">
              <a:solidFill>
                <a:srgbClr val="401B5B"/>
              </a:solidFill>
              <a:latin typeface="Malgun Gothic"/>
              <a:ea typeface="Malgun Gothic"/>
              <a:cs typeface="Malgun Gothic"/>
              <a:sym typeface="Malgun Gothic"/>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교육의 목적은 사회에 필요한 사람을 만드는 것이지 인생의 목표를 이루는 것이 아니기 때문이다.</a:t>
            </a:r>
            <a:endParaRPr b="1" sz="1800">
              <a:solidFill>
                <a:srgbClr val="401B5B"/>
              </a:solidFill>
              <a:latin typeface="Malgun Gothic"/>
              <a:ea typeface="Malgun Gothic"/>
              <a:cs typeface="Malgun Gothic"/>
              <a:sym typeface="Malgun Gothic"/>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고대의 여가는 현대적 의미와 달랐다.</a:t>
            </a:r>
            <a:endParaRPr b="1" sz="1800">
              <a:solidFill>
                <a:srgbClr val="401B5B"/>
              </a:solidFill>
              <a:latin typeface="Malgun Gothic"/>
              <a:ea typeface="Malgun Gothic"/>
              <a:cs typeface="Malgun Gothic"/>
              <a:sym typeface="Malgun Gothic"/>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3" name="Shape 543"/>
        <p:cNvGrpSpPr/>
        <p:nvPr/>
      </p:nvGrpSpPr>
      <p:grpSpPr>
        <a:xfrm>
          <a:off x="0" y="0"/>
          <a:ext cx="0" cy="0"/>
          <a:chOff x="0" y="0"/>
          <a:chExt cx="0" cy="0"/>
        </a:xfrm>
      </p:grpSpPr>
      <p:sp>
        <p:nvSpPr>
          <p:cNvPr id="544" name="Google Shape;544;p55"/>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45" name="Google Shape;545;p55"/>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546" name="Google Shape;546;p55"/>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여가의 시작은?</a:t>
            </a:r>
            <a:endParaRPr/>
          </a:p>
        </p:txBody>
      </p:sp>
      <p:sp>
        <p:nvSpPr>
          <p:cNvPr id="547" name="Google Shape;547;p55"/>
          <p:cNvSpPr/>
          <p:nvPr/>
        </p:nvSpPr>
        <p:spPr>
          <a:xfrm>
            <a:off x="251519" y="1275606"/>
            <a:ext cx="5689353" cy="2383748"/>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548" name="Google Shape;548;p55"/>
          <p:cNvSpPr/>
          <p:nvPr/>
        </p:nvSpPr>
        <p:spPr>
          <a:xfrm>
            <a:off x="395537" y="1380223"/>
            <a:ext cx="5431879" cy="2151358"/>
          </a:xfrm>
          <a:prstGeom prst="rect">
            <a:avLst/>
          </a:prstGeom>
          <a:noFill/>
          <a:ln>
            <a:noFill/>
          </a:ln>
        </p:spPr>
        <p:txBody>
          <a:bodyPr anchorCtr="0" anchor="t" bIns="45700" lIns="91425" spcFirstLastPara="1" rIns="91425" wrap="square" tIns="45700">
            <a:spAutoFit/>
          </a:bodyPr>
          <a:lstStyle/>
          <a:p>
            <a:pPr indent="-271463" lvl="0" marL="271463" marR="0" rtl="0" algn="l">
              <a:lnSpc>
                <a:spcPct val="110000"/>
              </a:lnSpc>
              <a:spcBef>
                <a:spcPts val="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인류의 역사와 여가  - 자신과 가족의 생존을 위한 활동에 중점이 되었던 고대시절      </a:t>
            </a:r>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문명의 발달로 노동하는 인류와 노는 인류로 분할되어짐</a:t>
            </a:r>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창조론적 여가 - 여가의 창조</a:t>
            </a:r>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역사상 가장 오래된 여가 기록</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2" name="Shape 552"/>
        <p:cNvGrpSpPr/>
        <p:nvPr/>
      </p:nvGrpSpPr>
      <p:grpSpPr>
        <a:xfrm>
          <a:off x="0" y="0"/>
          <a:ext cx="0" cy="0"/>
          <a:chOff x="0" y="0"/>
          <a:chExt cx="0" cy="0"/>
        </a:xfrm>
      </p:grpSpPr>
      <p:sp>
        <p:nvSpPr>
          <p:cNvPr id="553" name="Google Shape;553;p56"/>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54" name="Google Shape;554;p56"/>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555" name="Google Shape;555;p56"/>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1) 여가의 시작은?</a:t>
            </a:r>
            <a:endParaRPr/>
          </a:p>
        </p:txBody>
      </p:sp>
      <p:sp>
        <p:nvSpPr>
          <p:cNvPr id="556" name="Google Shape;556;p56"/>
          <p:cNvSpPr/>
          <p:nvPr/>
        </p:nvSpPr>
        <p:spPr>
          <a:xfrm>
            <a:off x="251519" y="1275606"/>
            <a:ext cx="5689353" cy="2476832"/>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557" name="Google Shape;557;p56"/>
          <p:cNvSpPr/>
          <p:nvPr/>
        </p:nvSpPr>
        <p:spPr>
          <a:xfrm>
            <a:off x="395537" y="1380223"/>
            <a:ext cx="5431879" cy="2228302"/>
          </a:xfrm>
          <a:prstGeom prst="rect">
            <a:avLst/>
          </a:prstGeom>
          <a:noFill/>
          <a:ln>
            <a:noFill/>
          </a:ln>
        </p:spPr>
        <p:txBody>
          <a:bodyPr anchorCtr="0" anchor="t" bIns="45700" lIns="91425" spcFirstLastPara="1" rIns="91425" wrap="square" tIns="45700">
            <a:spAutoFit/>
          </a:bodyPr>
          <a:lstStyle/>
          <a:p>
            <a:pPr indent="-271463" lvl="0" marL="271463" marR="0" rtl="0" algn="l">
              <a:lnSpc>
                <a:spcPct val="110000"/>
              </a:lnSpc>
              <a:spcBef>
                <a:spcPts val="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원시 사회의 여가기능은 쾌락적, 향락적, 회복적 기능을 가지고 있었다</a:t>
            </a:r>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공동체에서 안전과 결속을 강화하는 기능</a:t>
            </a:r>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자기표현을 지향하는 기능</a:t>
            </a:r>
            <a:endParaRPr/>
          </a:p>
          <a:p>
            <a:pPr indent="-271463" lvl="0" marL="271463" marR="0" rtl="0" algn="l">
              <a:lnSpc>
                <a:spcPct val="110000"/>
              </a:lnSpc>
              <a:spcBef>
                <a:spcPts val="600"/>
              </a:spcBef>
              <a:spcAft>
                <a:spcPts val="0"/>
              </a:spcAft>
              <a:buClr>
                <a:srgbClr val="0F243E"/>
              </a:buClr>
              <a:buSzPts val="1800"/>
              <a:buFont typeface="Noto Sans Symbols"/>
              <a:buChar char="▪"/>
            </a:pPr>
            <a:r>
              <a:rPr b="1" lang="ko-KR" sz="1800">
                <a:solidFill>
                  <a:srgbClr val="401B5B"/>
                </a:solidFill>
                <a:latin typeface="Malgun Gothic"/>
                <a:ea typeface="Malgun Gothic"/>
                <a:cs typeface="Malgun Gothic"/>
                <a:sym typeface="Malgun Gothic"/>
              </a:rPr>
              <a:t>어린이와  성인간의 학습과 </a:t>
            </a:r>
            <a:endParaRPr b="1" sz="1800">
              <a:solidFill>
                <a:srgbClr val="401B5B"/>
              </a:solidFill>
              <a:latin typeface="Malgun Gothic"/>
              <a:ea typeface="Malgun Gothic"/>
              <a:cs typeface="Malgun Gothic"/>
              <a:sym typeface="Malgun Gothic"/>
            </a:endParaRPr>
          </a:p>
          <a:p>
            <a:pPr indent="0" lvl="0" marL="0" marR="0" rtl="0" algn="l">
              <a:lnSpc>
                <a:spcPct val="110000"/>
              </a:lnSpc>
              <a:spcBef>
                <a:spcPts val="600"/>
              </a:spcBef>
              <a:spcAft>
                <a:spcPts val="0"/>
              </a:spcAft>
              <a:buNone/>
            </a:pPr>
            <a:r>
              <a:rPr b="1" lang="ko-KR" sz="1800">
                <a:solidFill>
                  <a:srgbClr val="401B5B"/>
                </a:solidFill>
                <a:latin typeface="Malgun Gothic"/>
                <a:ea typeface="Malgun Gothic"/>
                <a:cs typeface="Malgun Gothic"/>
                <a:sym typeface="Malgun Gothic"/>
              </a:rPr>
              <a:t>   관습을 전달하는 기능</a:t>
            </a:r>
            <a:endParaRPr/>
          </a:p>
        </p:txBody>
      </p:sp>
      <p:pic>
        <p:nvPicPr>
          <p:cNvPr descr="관련 이미지" id="558" name="Google Shape;558;p56"/>
          <p:cNvPicPr preferRelativeResize="0"/>
          <p:nvPr/>
        </p:nvPicPr>
        <p:blipFill rotWithShape="1">
          <a:blip r:embed="rId3">
            <a:alphaModFix/>
          </a:blip>
          <a:srcRect b="0" l="5421" r="5247" t="0"/>
          <a:stretch/>
        </p:blipFill>
        <p:spPr>
          <a:xfrm>
            <a:off x="6129631" y="771550"/>
            <a:ext cx="2727202" cy="3052896"/>
          </a:xfrm>
          <a:prstGeom prst="rect">
            <a:avLst/>
          </a:prstGeom>
          <a:noFill/>
          <a:ln cap="flat" cmpd="sng" w="9525">
            <a:solidFill>
              <a:srgbClr val="BFBFBF"/>
            </a:solidFill>
            <a:prstDash val="solid"/>
            <a:round/>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2" name="Shape 562"/>
        <p:cNvGrpSpPr/>
        <p:nvPr/>
      </p:nvGrpSpPr>
      <p:grpSpPr>
        <a:xfrm>
          <a:off x="0" y="0"/>
          <a:ext cx="0" cy="0"/>
          <a:chOff x="0" y="0"/>
          <a:chExt cx="0" cy="0"/>
        </a:xfrm>
      </p:grpSpPr>
      <p:sp>
        <p:nvSpPr>
          <p:cNvPr id="563" name="Google Shape;563;p57"/>
          <p:cNvSpPr txBox="1"/>
          <p:nvPr>
            <p:ph type="ctrTitle"/>
          </p:nvPr>
        </p:nvSpPr>
        <p:spPr>
          <a:xfrm>
            <a:off x="323528"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B0507"/>
              </a:buClr>
              <a:buSzPts val="2500"/>
              <a:buFont typeface="Malgun Gothic"/>
              <a:buNone/>
            </a:pPr>
            <a:r>
              <a:rPr lang="ko-KR"/>
              <a:t>기록된 여가를 찾아서 - 고대 그리스를 아시나요?</a:t>
            </a:r>
            <a:endParaRPr/>
          </a:p>
        </p:txBody>
      </p:sp>
      <p:pic>
        <p:nvPicPr>
          <p:cNvPr descr="고대 그리스시대 유럽지도에 대한 이미지 검색결과" id="564" name="Google Shape;564;p57"/>
          <p:cNvPicPr preferRelativeResize="0"/>
          <p:nvPr/>
        </p:nvPicPr>
        <p:blipFill rotWithShape="1">
          <a:blip r:embed="rId3">
            <a:alphaModFix/>
          </a:blip>
          <a:srcRect b="0" l="0" r="0" t="0"/>
          <a:stretch/>
        </p:blipFill>
        <p:spPr>
          <a:xfrm>
            <a:off x="251520" y="690339"/>
            <a:ext cx="7200800" cy="42576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8" name="Shape 568"/>
        <p:cNvGrpSpPr/>
        <p:nvPr/>
      </p:nvGrpSpPr>
      <p:grpSpPr>
        <a:xfrm>
          <a:off x="0" y="0"/>
          <a:ext cx="0" cy="0"/>
          <a:chOff x="0" y="0"/>
          <a:chExt cx="0" cy="0"/>
        </a:xfrm>
      </p:grpSpPr>
      <p:sp>
        <p:nvSpPr>
          <p:cNvPr id="569" name="Google Shape;569;p58"/>
          <p:cNvSpPr txBox="1"/>
          <p:nvPr>
            <p:ph type="ctrTitle"/>
          </p:nvPr>
        </p:nvSpPr>
        <p:spPr>
          <a:xfrm>
            <a:off x="323528"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B0507"/>
              </a:buClr>
              <a:buSzPts val="2500"/>
              <a:buFont typeface="Malgun Gothic"/>
              <a:buNone/>
            </a:pPr>
            <a:r>
              <a:rPr lang="ko-KR"/>
              <a:t> 고대 그리스를 아시나요?</a:t>
            </a:r>
            <a:endParaRPr/>
          </a:p>
        </p:txBody>
      </p:sp>
      <p:pic>
        <p:nvPicPr>
          <p:cNvPr descr="고대 그리스 지도에 대한 이미지 검색결과" id="570" name="Google Shape;570;p58"/>
          <p:cNvPicPr preferRelativeResize="0"/>
          <p:nvPr/>
        </p:nvPicPr>
        <p:blipFill rotWithShape="1">
          <a:blip r:embed="rId3">
            <a:alphaModFix/>
          </a:blip>
          <a:srcRect b="0" l="0" r="0" t="0"/>
          <a:stretch/>
        </p:blipFill>
        <p:spPr>
          <a:xfrm>
            <a:off x="251520" y="699542"/>
            <a:ext cx="5664000" cy="4248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4" name="Shape 574"/>
        <p:cNvGrpSpPr/>
        <p:nvPr/>
      </p:nvGrpSpPr>
      <p:grpSpPr>
        <a:xfrm>
          <a:off x="0" y="0"/>
          <a:ext cx="0" cy="0"/>
          <a:chOff x="0" y="0"/>
          <a:chExt cx="0" cy="0"/>
        </a:xfrm>
      </p:grpSpPr>
      <p:sp>
        <p:nvSpPr>
          <p:cNvPr id="575" name="Google Shape;575;p59"/>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76" name="Google Shape;576;p59"/>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577" name="Google Shape;577;p59"/>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578" name="Google Shape;578;p59"/>
          <p:cNvSpPr/>
          <p:nvPr/>
        </p:nvSpPr>
        <p:spPr>
          <a:xfrm>
            <a:off x="251519" y="1275607"/>
            <a:ext cx="5689353" cy="2304256"/>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579" name="Google Shape;579;p59"/>
          <p:cNvSpPr/>
          <p:nvPr/>
        </p:nvSpPr>
        <p:spPr>
          <a:xfrm>
            <a:off x="395537" y="1870541"/>
            <a:ext cx="5431879" cy="1465016"/>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고대사회의 여가는 의례행사 참석이었다</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고된 노동으로부터의 휴식과 사회제사적 활동에 참여하는 것이 고대 여가 활동의 특징이었다</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그리스의 대표적인 여가활동은 체전이었다</a:t>
            </a:r>
            <a:endParaRPr/>
          </a:p>
        </p:txBody>
      </p:sp>
      <p:sp>
        <p:nvSpPr>
          <p:cNvPr id="580" name="Google Shape;580;p59"/>
          <p:cNvSpPr txBox="1"/>
          <p:nvPr/>
        </p:nvSpPr>
        <p:spPr>
          <a:xfrm>
            <a:off x="435300" y="1428217"/>
            <a:ext cx="2840556"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lnSpc>
                <a:spcPct val="110000"/>
              </a:lnSpc>
              <a:spcBef>
                <a:spcPts val="0"/>
              </a:spcBef>
              <a:spcAft>
                <a:spcPts val="0"/>
              </a:spcAft>
              <a:buNone/>
            </a:pPr>
            <a:r>
              <a:rPr b="1" lang="ko-KR" sz="1800">
                <a:solidFill>
                  <a:srgbClr val="D7D7D7"/>
                </a:solidFill>
                <a:latin typeface="Malgun Gothic"/>
                <a:ea typeface="Malgun Gothic"/>
                <a:cs typeface="Malgun Gothic"/>
                <a:sym typeface="Malgun Gothic"/>
              </a:rPr>
              <a:t>의례 행사로서의 여가</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4" name="Shape 584"/>
        <p:cNvGrpSpPr/>
        <p:nvPr/>
      </p:nvGrpSpPr>
      <p:grpSpPr>
        <a:xfrm>
          <a:off x="0" y="0"/>
          <a:ext cx="0" cy="0"/>
          <a:chOff x="0" y="0"/>
          <a:chExt cx="0" cy="0"/>
        </a:xfrm>
      </p:grpSpPr>
      <p:sp>
        <p:nvSpPr>
          <p:cNvPr id="585" name="Google Shape;585;p60"/>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86" name="Google Shape;586;p60"/>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587" name="Google Shape;587;p60"/>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588" name="Google Shape;588;p60"/>
          <p:cNvSpPr/>
          <p:nvPr/>
        </p:nvSpPr>
        <p:spPr>
          <a:xfrm>
            <a:off x="251519" y="1275606"/>
            <a:ext cx="5689353" cy="366039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589" name="Google Shape;589;p60"/>
          <p:cNvSpPr/>
          <p:nvPr/>
        </p:nvSpPr>
        <p:spPr>
          <a:xfrm>
            <a:off x="395537" y="1870541"/>
            <a:ext cx="5431879" cy="3065455"/>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기원전 800여년전부터 올림피아에서 4년마다 열림</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고대 올림픽 경기는 남자들만이 참가</a:t>
            </a:r>
            <a:br>
              <a:rPr lang="ko-KR" sz="1800">
                <a:solidFill>
                  <a:srgbClr val="401B5B"/>
                </a:solidFill>
                <a:latin typeface="Malgun Gothic"/>
                <a:ea typeface="Malgun Gothic"/>
                <a:cs typeface="Malgun Gothic"/>
                <a:sym typeface="Malgun Gothic"/>
              </a:rPr>
            </a:br>
            <a:r>
              <a:rPr lang="ko-KR" sz="1800">
                <a:solidFill>
                  <a:srgbClr val="401B5B"/>
                </a:solidFill>
                <a:latin typeface="Malgun Gothic"/>
                <a:ea typeface="Malgun Gothic"/>
                <a:cs typeface="Malgun Gothic"/>
                <a:sym typeface="Malgun Gothic"/>
              </a:rPr>
              <a:t>(여자는 참가뿐만 아니라 관전조차 금지되었다.)</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모든 선수들이 벌거벗은 채로 경기를 벌였다고 한다. </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경기 종목도 처음에는 단거리 달리기만 실시하다가 차츰 중거리·장거리를 포함시키고, 복싱·레슬링·원반던지기·창던지기·전차 경주 등이 더해졌다.</a:t>
            </a:r>
            <a:endParaRPr sz="1800">
              <a:solidFill>
                <a:srgbClr val="401B5B"/>
              </a:solidFill>
              <a:latin typeface="Malgun Gothic"/>
              <a:ea typeface="Malgun Gothic"/>
              <a:cs typeface="Malgun Gothic"/>
              <a:sym typeface="Malgun Gothic"/>
            </a:endParaRPr>
          </a:p>
        </p:txBody>
      </p:sp>
      <p:sp>
        <p:nvSpPr>
          <p:cNvPr id="590" name="Google Shape;590;p60"/>
          <p:cNvSpPr txBox="1"/>
          <p:nvPr/>
        </p:nvSpPr>
        <p:spPr>
          <a:xfrm>
            <a:off x="435301" y="1428217"/>
            <a:ext cx="1183434"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lnSpc>
                <a:spcPct val="110000"/>
              </a:lnSpc>
              <a:spcBef>
                <a:spcPts val="0"/>
              </a:spcBef>
              <a:spcAft>
                <a:spcPts val="0"/>
              </a:spcAft>
              <a:buNone/>
            </a:pPr>
            <a:r>
              <a:rPr b="1" lang="ko-KR" sz="1800">
                <a:solidFill>
                  <a:srgbClr val="D7D7D7"/>
                </a:solidFill>
                <a:latin typeface="Malgun Gothic"/>
                <a:ea typeface="Malgun Gothic"/>
                <a:cs typeface="Malgun Gothic"/>
                <a:sym typeface="Malgun Gothic"/>
              </a:rPr>
              <a:t>올림픽</a:t>
            </a:r>
            <a:endParaRPr/>
          </a:p>
        </p:txBody>
      </p:sp>
      <p:pic>
        <p:nvPicPr>
          <p:cNvPr descr="고대 그리스 올림픽에 대한 이미지 검색결과" id="591" name="Google Shape;591;p60"/>
          <p:cNvPicPr preferRelativeResize="0"/>
          <p:nvPr/>
        </p:nvPicPr>
        <p:blipFill rotWithShape="1">
          <a:blip r:embed="rId3">
            <a:alphaModFix/>
          </a:blip>
          <a:srcRect b="15862" l="0" r="7739" t="0"/>
          <a:stretch/>
        </p:blipFill>
        <p:spPr>
          <a:xfrm>
            <a:off x="6084168" y="1275606"/>
            <a:ext cx="2942108" cy="270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5" name="Shape 595"/>
        <p:cNvGrpSpPr/>
        <p:nvPr/>
      </p:nvGrpSpPr>
      <p:grpSpPr>
        <a:xfrm>
          <a:off x="0" y="0"/>
          <a:ext cx="0" cy="0"/>
          <a:chOff x="0" y="0"/>
          <a:chExt cx="0" cy="0"/>
        </a:xfrm>
      </p:grpSpPr>
      <p:sp>
        <p:nvSpPr>
          <p:cNvPr id="596" name="Google Shape;596;p61"/>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597" name="Google Shape;597;p6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598" name="Google Shape;598;p61"/>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599" name="Google Shape;599;p61"/>
          <p:cNvSpPr/>
          <p:nvPr/>
        </p:nvSpPr>
        <p:spPr>
          <a:xfrm>
            <a:off x="251519" y="1275606"/>
            <a:ext cx="5689353" cy="366039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00" name="Google Shape;600;p61"/>
          <p:cNvSpPr/>
          <p:nvPr/>
        </p:nvSpPr>
        <p:spPr>
          <a:xfrm>
            <a:off x="395537" y="1870541"/>
            <a:ext cx="5431879" cy="2837700"/>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올림피아 : 4년마다 7,8월에 제우스를 기념</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피티아 : 델포이 신전에서 아폴로 신을 기념하여 </a:t>
            </a:r>
            <a:br>
              <a:rPr lang="ko-KR" sz="1800">
                <a:solidFill>
                  <a:srgbClr val="401B5B"/>
                </a:solidFill>
                <a:latin typeface="Malgun Gothic"/>
                <a:ea typeface="Malgun Gothic"/>
                <a:cs typeface="Malgun Gothic"/>
                <a:sym typeface="Malgun Gothic"/>
              </a:rPr>
            </a:br>
            <a:r>
              <a:rPr lang="ko-KR" sz="1800">
                <a:solidFill>
                  <a:srgbClr val="401B5B"/>
                </a:solidFill>
                <a:latin typeface="Malgun Gothic"/>
                <a:ea typeface="Malgun Gothic"/>
                <a:cs typeface="Malgun Gothic"/>
                <a:sym typeface="Malgun Gothic"/>
              </a:rPr>
              <a:t>               4년마다 여름에 열림</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이스트미아 : 포세이돈 신전에서 2년마다  봄 또는                       </a:t>
            </a:r>
            <a:endParaRPr sz="1800">
              <a:solidFill>
                <a:srgbClr val="401B5B"/>
              </a:solidFill>
              <a:latin typeface="Malgun Gothic"/>
              <a:ea typeface="Malgun Gothic"/>
              <a:cs typeface="Malgun Gothic"/>
              <a:sym typeface="Malgun Gothic"/>
            </a:endParaRPr>
          </a:p>
          <a:p>
            <a:pPr indent="0" lvl="0" marL="0" marR="0" rtl="0" algn="l">
              <a:lnSpc>
                <a:spcPct val="110000"/>
              </a:lnSpc>
              <a:spcBef>
                <a:spcPts val="600"/>
              </a:spcBef>
              <a:spcAft>
                <a:spcPts val="0"/>
              </a:spcAft>
              <a:buNone/>
            </a:pPr>
            <a:r>
              <a:rPr lang="ko-KR" sz="1800">
                <a:solidFill>
                  <a:srgbClr val="401B5B"/>
                </a:solidFill>
                <a:latin typeface="Malgun Gothic"/>
                <a:ea typeface="Malgun Gothic"/>
                <a:cs typeface="Malgun Gothic"/>
                <a:sym typeface="Malgun Gothic"/>
              </a:rPr>
              <a:t>                  이른 여름에 열림</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네미아 : 펠로폰네소스 북동쪽지방에서 제우스를 </a:t>
            </a:r>
            <a:br>
              <a:rPr lang="ko-KR" sz="1800">
                <a:solidFill>
                  <a:srgbClr val="401B5B"/>
                </a:solidFill>
                <a:latin typeface="Malgun Gothic"/>
                <a:ea typeface="Malgun Gothic"/>
                <a:cs typeface="Malgun Gothic"/>
                <a:sym typeface="Malgun Gothic"/>
              </a:rPr>
            </a:br>
            <a:r>
              <a:rPr lang="ko-KR" sz="1800">
                <a:solidFill>
                  <a:srgbClr val="401B5B"/>
                </a:solidFill>
                <a:latin typeface="Malgun Gothic"/>
                <a:ea typeface="Malgun Gothic"/>
                <a:cs typeface="Malgun Gothic"/>
                <a:sym typeface="Malgun Gothic"/>
              </a:rPr>
              <a:t>               기념하여 2년마다 9월에 열림</a:t>
            </a:r>
            <a:br>
              <a:rPr lang="ko-KR" sz="1800">
                <a:solidFill>
                  <a:srgbClr val="401B5B"/>
                </a:solidFill>
                <a:latin typeface="Malgun Gothic"/>
                <a:ea typeface="Malgun Gothic"/>
                <a:cs typeface="Malgun Gothic"/>
                <a:sym typeface="Malgun Gothic"/>
              </a:rPr>
            </a:br>
            <a:r>
              <a:rPr lang="ko-KR" sz="1800">
                <a:solidFill>
                  <a:srgbClr val="401B5B"/>
                </a:solidFill>
                <a:latin typeface="Malgun Gothic"/>
                <a:ea typeface="Malgun Gothic"/>
                <a:cs typeface="Malgun Gothic"/>
                <a:sym typeface="Malgun Gothic"/>
              </a:rPr>
              <a:t>               (대부분 아르고스에서 열림)</a:t>
            </a:r>
            <a:endParaRPr/>
          </a:p>
        </p:txBody>
      </p:sp>
      <p:sp>
        <p:nvSpPr>
          <p:cNvPr id="601" name="Google Shape;601;p61"/>
          <p:cNvSpPr txBox="1"/>
          <p:nvPr/>
        </p:nvSpPr>
        <p:spPr>
          <a:xfrm>
            <a:off x="435300" y="1428217"/>
            <a:ext cx="2984571"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lnSpc>
                <a:spcPct val="110000"/>
              </a:lnSpc>
              <a:spcBef>
                <a:spcPts val="0"/>
              </a:spcBef>
              <a:spcAft>
                <a:spcPts val="0"/>
              </a:spcAft>
              <a:buNone/>
            </a:pPr>
            <a:r>
              <a:rPr b="1" lang="ko-KR" sz="1800">
                <a:solidFill>
                  <a:srgbClr val="D7D7D7"/>
                </a:solidFill>
                <a:latin typeface="Malgun Gothic"/>
                <a:ea typeface="Malgun Gothic"/>
                <a:cs typeface="Malgun Gothic"/>
                <a:sym typeface="Malgun Gothic"/>
              </a:rPr>
              <a:t>4대 범그리스 제전경기</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5" name="Shape 605"/>
        <p:cNvGrpSpPr/>
        <p:nvPr/>
      </p:nvGrpSpPr>
      <p:grpSpPr>
        <a:xfrm>
          <a:off x="0" y="0"/>
          <a:ext cx="0" cy="0"/>
          <a:chOff x="0" y="0"/>
          <a:chExt cx="0" cy="0"/>
        </a:xfrm>
      </p:grpSpPr>
      <p:sp>
        <p:nvSpPr>
          <p:cNvPr id="606" name="Google Shape;606;p62"/>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07" name="Google Shape;607;p6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08" name="Google Shape;608;p62"/>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609" name="Google Shape;609;p62"/>
          <p:cNvSpPr/>
          <p:nvPr/>
        </p:nvSpPr>
        <p:spPr>
          <a:xfrm>
            <a:off x="251519" y="1275605"/>
            <a:ext cx="5689353" cy="3355691"/>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10" name="Google Shape;610;p62"/>
          <p:cNvSpPr/>
          <p:nvPr/>
        </p:nvSpPr>
        <p:spPr>
          <a:xfrm>
            <a:off x="395537" y="1870541"/>
            <a:ext cx="5431879" cy="2609945"/>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고대 아테네의 국가 축일</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포세이돈과 아테나의 전쟁</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포세이돈-바닷물이 솟아나는 샘을 만들어서 도시를 부유하게 해 주겠다고 약속함</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아테나는 올리브 나무만 심어줌</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그리스인들은 그들의 신으로 아테나를 선택함</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고대 아테네가 세워지게 됨</a:t>
            </a:r>
            <a:endParaRPr/>
          </a:p>
        </p:txBody>
      </p:sp>
      <p:sp>
        <p:nvSpPr>
          <p:cNvPr id="611" name="Google Shape;611;p62"/>
          <p:cNvSpPr txBox="1"/>
          <p:nvPr/>
        </p:nvSpPr>
        <p:spPr>
          <a:xfrm>
            <a:off x="435301" y="1428217"/>
            <a:ext cx="2408507"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lnSpc>
                <a:spcPct val="110000"/>
              </a:lnSpc>
              <a:spcBef>
                <a:spcPts val="0"/>
              </a:spcBef>
              <a:spcAft>
                <a:spcPts val="0"/>
              </a:spcAft>
              <a:buNone/>
            </a:pPr>
            <a:r>
              <a:rPr b="1" lang="ko-KR" sz="1800">
                <a:solidFill>
                  <a:srgbClr val="D7D7D7"/>
                </a:solidFill>
                <a:latin typeface="Malgun Gothic"/>
                <a:ea typeface="Malgun Gothic"/>
                <a:cs typeface="Malgun Gothic"/>
                <a:sym typeface="Malgun Gothic"/>
              </a:rPr>
              <a:t>판아테나이아 축제</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5" name="Shape 615"/>
        <p:cNvGrpSpPr/>
        <p:nvPr/>
      </p:nvGrpSpPr>
      <p:grpSpPr>
        <a:xfrm>
          <a:off x="0" y="0"/>
          <a:ext cx="0" cy="0"/>
          <a:chOff x="0" y="0"/>
          <a:chExt cx="0" cy="0"/>
        </a:xfrm>
      </p:grpSpPr>
      <p:sp>
        <p:nvSpPr>
          <p:cNvPr id="616" name="Google Shape;616;p63"/>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17" name="Google Shape;617;p63"/>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18" name="Google Shape;618;p63"/>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619" name="Google Shape;619;p63"/>
          <p:cNvSpPr/>
          <p:nvPr/>
        </p:nvSpPr>
        <p:spPr>
          <a:xfrm>
            <a:off x="251519" y="1275605"/>
            <a:ext cx="5689353" cy="3355691"/>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20" name="Google Shape;620;p63"/>
          <p:cNvSpPr/>
          <p:nvPr/>
        </p:nvSpPr>
        <p:spPr>
          <a:xfrm>
            <a:off x="395537" y="1870541"/>
            <a:ext cx="5431879" cy="2760756"/>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4년마다 행해지는 대 판아테나이아 축제</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매년 7월경에 해당하는 헤카톰이온에 아테네에서 아테나여신의 탄생을 기리기 위해 거행되는 소 판아테나이아 축제</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아테네의 국가 축일이기도 하여 여성, 그리스인이 아닌 외국인, 심지어 노예까지도 참가 할 수 있었음</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운동경기 이외에도 음악 경연이나 호메로스 서사시 암송 대회등이 개최됨</a:t>
            </a:r>
            <a:endParaRPr/>
          </a:p>
        </p:txBody>
      </p:sp>
      <p:sp>
        <p:nvSpPr>
          <p:cNvPr id="621" name="Google Shape;621;p63"/>
          <p:cNvSpPr txBox="1"/>
          <p:nvPr/>
        </p:nvSpPr>
        <p:spPr>
          <a:xfrm>
            <a:off x="435301" y="1428217"/>
            <a:ext cx="2408507"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lnSpc>
                <a:spcPct val="110000"/>
              </a:lnSpc>
              <a:spcBef>
                <a:spcPts val="0"/>
              </a:spcBef>
              <a:spcAft>
                <a:spcPts val="0"/>
              </a:spcAft>
              <a:buNone/>
            </a:pPr>
            <a:r>
              <a:rPr b="1" lang="ko-KR" sz="1800">
                <a:solidFill>
                  <a:srgbClr val="D7D7D7"/>
                </a:solidFill>
                <a:latin typeface="Malgun Gothic"/>
                <a:ea typeface="Malgun Gothic"/>
                <a:cs typeface="Malgun Gothic"/>
                <a:sym typeface="Malgun Gothic"/>
              </a:rPr>
              <a:t>판아테나이아 축제</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5" name="Shape 625"/>
        <p:cNvGrpSpPr/>
        <p:nvPr/>
      </p:nvGrpSpPr>
      <p:grpSpPr>
        <a:xfrm>
          <a:off x="0" y="0"/>
          <a:ext cx="0" cy="0"/>
          <a:chOff x="0" y="0"/>
          <a:chExt cx="0" cy="0"/>
        </a:xfrm>
      </p:grpSpPr>
      <p:sp>
        <p:nvSpPr>
          <p:cNvPr id="626" name="Google Shape;626;p64"/>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27" name="Google Shape;627;p64"/>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28" name="Google Shape;628;p64"/>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629" name="Google Shape;629;p64"/>
          <p:cNvSpPr/>
          <p:nvPr/>
        </p:nvSpPr>
        <p:spPr>
          <a:xfrm>
            <a:off x="251519" y="1203598"/>
            <a:ext cx="5689353" cy="3867894"/>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30" name="Google Shape;630;p64"/>
          <p:cNvSpPr/>
          <p:nvPr/>
        </p:nvSpPr>
        <p:spPr>
          <a:xfrm>
            <a:off x="395537" y="1798533"/>
            <a:ext cx="5431879" cy="3296287"/>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디오니소스 = 로마신화의 바커스</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고대 그리스 여인들이 섬기는 신</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고대 그리스 여인들의 힘든 삶 속의 여가 기회 제공</a:t>
            </a:r>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1년에 4번 열림</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연극 공연이 주요 내용</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인간의 오만함으로 신성에 맞서고 그 결과 인간의 파멸의 길을 걷게 된다는 비극적 내용의 연극이 주제</a:t>
            </a:r>
            <a:endParaRPr sz="1800">
              <a:solidFill>
                <a:srgbClr val="401B5B"/>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lang="ko-KR" sz="1800">
                <a:solidFill>
                  <a:srgbClr val="401B5B"/>
                </a:solidFill>
                <a:latin typeface="Malgun Gothic"/>
                <a:ea typeface="Malgun Gothic"/>
                <a:cs typeface="Malgun Gothic"/>
                <a:sym typeface="Malgun Gothic"/>
              </a:rPr>
              <a:t>디오니소스 축제기간만 제한적으로 공연</a:t>
            </a:r>
            <a:endParaRPr/>
          </a:p>
        </p:txBody>
      </p:sp>
      <p:sp>
        <p:nvSpPr>
          <p:cNvPr id="631" name="Google Shape;631;p64"/>
          <p:cNvSpPr txBox="1"/>
          <p:nvPr/>
        </p:nvSpPr>
        <p:spPr>
          <a:xfrm>
            <a:off x="435301" y="1356209"/>
            <a:ext cx="2120475"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spcBef>
                <a:spcPts val="0"/>
              </a:spcBef>
              <a:spcAft>
                <a:spcPts val="0"/>
              </a:spcAft>
              <a:buNone/>
            </a:pPr>
            <a:r>
              <a:rPr b="1" lang="ko-KR" sz="1800">
                <a:solidFill>
                  <a:srgbClr val="D7D7D7"/>
                </a:solidFill>
                <a:latin typeface="Malgun Gothic"/>
                <a:ea typeface="Malgun Gothic"/>
                <a:cs typeface="Malgun Gothic"/>
                <a:sym typeface="Malgun Gothic"/>
              </a:rPr>
              <a:t>디오니소스 축제</a:t>
            </a:r>
            <a:endParaRPr/>
          </a:p>
        </p:txBody>
      </p:sp>
      <p:pic>
        <p:nvPicPr>
          <p:cNvPr descr="관련 이미지" id="632" name="Google Shape;632;p64"/>
          <p:cNvPicPr preferRelativeResize="0"/>
          <p:nvPr/>
        </p:nvPicPr>
        <p:blipFill rotWithShape="1">
          <a:blip r:embed="rId3">
            <a:alphaModFix/>
          </a:blip>
          <a:srcRect b="0" l="0" r="0" t="0"/>
          <a:stretch/>
        </p:blipFill>
        <p:spPr>
          <a:xfrm>
            <a:off x="4139952" y="507164"/>
            <a:ext cx="2625065" cy="169808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6" name="Shape 636"/>
        <p:cNvGrpSpPr/>
        <p:nvPr/>
      </p:nvGrpSpPr>
      <p:grpSpPr>
        <a:xfrm>
          <a:off x="0" y="0"/>
          <a:ext cx="0" cy="0"/>
          <a:chOff x="0" y="0"/>
          <a:chExt cx="0" cy="0"/>
        </a:xfrm>
      </p:grpSpPr>
      <p:sp>
        <p:nvSpPr>
          <p:cNvPr id="637" name="Google Shape;637;p65"/>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38" name="Google Shape;638;p65"/>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39" name="Google Shape;639;p65"/>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640" name="Google Shape;640;p65"/>
          <p:cNvSpPr/>
          <p:nvPr/>
        </p:nvSpPr>
        <p:spPr>
          <a:xfrm>
            <a:off x="251519" y="1275606"/>
            <a:ext cx="5689353" cy="370800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41" name="Google Shape;641;p65"/>
          <p:cNvSpPr txBox="1"/>
          <p:nvPr/>
        </p:nvSpPr>
        <p:spPr>
          <a:xfrm>
            <a:off x="435301" y="1428217"/>
            <a:ext cx="2984571" cy="396000"/>
          </a:xfrm>
          <a:prstGeom prst="rect">
            <a:avLst/>
          </a:prstGeom>
          <a:solidFill>
            <a:srgbClr val="3F3151"/>
          </a:solidFill>
          <a:ln>
            <a:noFill/>
          </a:ln>
        </p:spPr>
        <p:txBody>
          <a:bodyPr anchorCtr="0" anchor="ctr" bIns="87550" lIns="175100" spcFirstLastPara="1" rIns="175100" wrap="square" tIns="87550">
            <a:noAutofit/>
          </a:bodyPr>
          <a:lstStyle/>
          <a:p>
            <a:pPr indent="0" lvl="0" marL="0" marR="0" rtl="0" algn="ctr">
              <a:spcBef>
                <a:spcPts val="0"/>
              </a:spcBef>
              <a:spcAft>
                <a:spcPts val="0"/>
              </a:spcAft>
              <a:buNone/>
            </a:pPr>
            <a:r>
              <a:rPr b="1" lang="ko-KR" sz="1800">
                <a:solidFill>
                  <a:srgbClr val="D7D7D7"/>
                </a:solidFill>
                <a:latin typeface="Malgun Gothic"/>
                <a:ea typeface="Malgun Gothic"/>
                <a:cs typeface="Malgun Gothic"/>
                <a:sym typeface="Malgun Gothic"/>
              </a:rPr>
              <a:t>고대 그리스의 원형극장</a:t>
            </a:r>
            <a:endParaRPr/>
          </a:p>
        </p:txBody>
      </p:sp>
      <p:pic>
        <p:nvPicPr>
          <p:cNvPr descr="고대그리스 원형극장에 대한 이미지 검색결과" id="642" name="Google Shape;642;p65"/>
          <p:cNvPicPr preferRelativeResize="0"/>
          <p:nvPr/>
        </p:nvPicPr>
        <p:blipFill rotWithShape="1">
          <a:blip r:embed="rId3">
            <a:alphaModFix/>
          </a:blip>
          <a:srcRect b="0" l="0" r="0" t="0"/>
          <a:stretch/>
        </p:blipFill>
        <p:spPr>
          <a:xfrm>
            <a:off x="430470" y="1896225"/>
            <a:ext cx="5251330" cy="29520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6" name="Shape 646"/>
        <p:cNvGrpSpPr/>
        <p:nvPr/>
      </p:nvGrpSpPr>
      <p:grpSpPr>
        <a:xfrm>
          <a:off x="0" y="0"/>
          <a:ext cx="0" cy="0"/>
          <a:chOff x="0" y="0"/>
          <a:chExt cx="0" cy="0"/>
        </a:xfrm>
      </p:grpSpPr>
      <p:sp>
        <p:nvSpPr>
          <p:cNvPr id="647" name="Google Shape;647;p66"/>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48" name="Google Shape;648;p66"/>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49" name="Google Shape;649;p66"/>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650" name="Google Shape;650;p66"/>
          <p:cNvSpPr/>
          <p:nvPr/>
        </p:nvSpPr>
        <p:spPr>
          <a:xfrm>
            <a:off x="251519" y="1735107"/>
            <a:ext cx="5689353" cy="263684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dk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51" name="Google Shape;651;p66"/>
          <p:cNvSpPr/>
          <p:nvPr/>
        </p:nvSpPr>
        <p:spPr>
          <a:xfrm>
            <a:off x="395536" y="1793434"/>
            <a:ext cx="5545335" cy="2394502"/>
          </a:xfrm>
          <a:prstGeom prst="rect">
            <a:avLst/>
          </a:prstGeom>
          <a:noFill/>
          <a:ln>
            <a:noFill/>
          </a:ln>
        </p:spPr>
        <p:txBody>
          <a:bodyPr anchorCtr="0" anchor="t" bIns="45700" lIns="91425" spcFirstLastPara="1" rIns="91425" wrap="square" tIns="45700">
            <a:spAutoFit/>
          </a:bodyPr>
          <a:lstStyle/>
          <a:p>
            <a:pPr indent="-185738" lvl="0" marL="185738" marR="0" rtl="0" algn="l">
              <a:lnSpc>
                <a:spcPct val="12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마음, 몸, 정신의 수양  - 문명의 발달        </a:t>
            </a:r>
            <a:endParaRPr/>
          </a:p>
          <a:p>
            <a:pPr indent="-185738" lvl="0" marL="185738" marR="0" rtl="0" algn="l">
              <a:lnSpc>
                <a:spcPct val="12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아테네인 – 저술, 예술, 운동에 노력</a:t>
            </a:r>
            <a:endParaRPr/>
          </a:p>
          <a:p>
            <a:pPr indent="-185738" lvl="0" marL="185738" marR="0" rtl="0" algn="l">
              <a:lnSpc>
                <a:spcPct val="12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그리스의 노예제도가 여가에 영향을 줌</a:t>
            </a:r>
            <a:endParaRPr/>
          </a:p>
          <a:p>
            <a:pPr indent="-185738" lvl="0" marL="185738" marR="0" rtl="0" algn="l">
              <a:lnSpc>
                <a:spcPct val="12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철학자들과 여가의식</a:t>
            </a:r>
            <a:endParaRPr/>
          </a:p>
          <a:p>
            <a:pPr indent="-185738" lvl="0" marL="185738" marR="0" rtl="0" algn="l">
              <a:lnSpc>
                <a:spcPct val="12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아리스토텔레스의 여가철학 – 일과 여가의 균형을 주장</a:t>
            </a:r>
            <a:endParaRPr/>
          </a:p>
        </p:txBody>
      </p:sp>
      <p:sp>
        <p:nvSpPr>
          <p:cNvPr id="652" name="Google Shape;652;p66"/>
          <p:cNvSpPr/>
          <p:nvPr/>
        </p:nvSpPr>
        <p:spPr>
          <a:xfrm>
            <a:off x="250824" y="1275606"/>
            <a:ext cx="4393183" cy="396000"/>
          </a:xfrm>
          <a:prstGeom prst="round1Rect">
            <a:avLst>
              <a:gd fmla="val 18254" name="adj"/>
            </a:avLst>
          </a:prstGeom>
          <a:solidFill>
            <a:srgbClr val="5F497A"/>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전인적 수양과 문명의 발달 연계 1-1</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6" name="Shape 656"/>
        <p:cNvGrpSpPr/>
        <p:nvPr/>
      </p:nvGrpSpPr>
      <p:grpSpPr>
        <a:xfrm>
          <a:off x="0" y="0"/>
          <a:ext cx="0" cy="0"/>
          <a:chOff x="0" y="0"/>
          <a:chExt cx="0" cy="0"/>
        </a:xfrm>
      </p:grpSpPr>
      <p:sp>
        <p:nvSpPr>
          <p:cNvPr id="657" name="Google Shape;657;p67"/>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58" name="Google Shape;658;p67"/>
          <p:cNvSpPr/>
          <p:nvPr/>
        </p:nvSpPr>
        <p:spPr>
          <a:xfrm>
            <a:off x="250824" y="1344037"/>
            <a:ext cx="4393183" cy="396000"/>
          </a:xfrm>
          <a:prstGeom prst="round1Rect">
            <a:avLst>
              <a:gd fmla="val 18254" name="adj"/>
            </a:avLst>
          </a:prstGeom>
          <a:solidFill>
            <a:srgbClr val="5F497A"/>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전인적 수양과 문명의 발달 연계 1-2</a:t>
            </a:r>
            <a:endParaRPr/>
          </a:p>
        </p:txBody>
      </p:sp>
      <p:sp>
        <p:nvSpPr>
          <p:cNvPr id="659" name="Google Shape;659;p67"/>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60" name="Google Shape;660;p67"/>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2) 고대 그리스 여가</a:t>
            </a:r>
            <a:endParaRPr/>
          </a:p>
        </p:txBody>
      </p:sp>
      <p:sp>
        <p:nvSpPr>
          <p:cNvPr id="661" name="Google Shape;661;p67"/>
          <p:cNvSpPr/>
          <p:nvPr/>
        </p:nvSpPr>
        <p:spPr>
          <a:xfrm>
            <a:off x="251519" y="1735107"/>
            <a:ext cx="5689353" cy="2924875"/>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62" name="Google Shape;662;p67"/>
          <p:cNvSpPr/>
          <p:nvPr/>
        </p:nvSpPr>
        <p:spPr>
          <a:xfrm>
            <a:off x="395536" y="1812781"/>
            <a:ext cx="5545335" cy="2686889"/>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여가 레크리에이션은 일과는 분리된 자유로운 시간이며 여가 게급은 올바르고 현명한 정부를 만들기 위해 지지되는 가장 고귀한 인간활동이다 .</a:t>
            </a:r>
            <a:br>
              <a:rPr b="1" lang="ko-KR" sz="1800">
                <a:solidFill>
                  <a:srgbClr val="0F243E"/>
                </a:solidFill>
                <a:latin typeface="Malgun Gothic"/>
                <a:ea typeface="Malgun Gothic"/>
                <a:cs typeface="Malgun Gothic"/>
                <a:sym typeface="Malgun Gothic"/>
              </a:rPr>
            </a:br>
            <a:r>
              <a:rPr b="1" lang="ko-KR" sz="1800">
                <a:solidFill>
                  <a:srgbClr val="002060"/>
                </a:solidFill>
                <a:latin typeface="Malgun Gothic"/>
                <a:ea typeface="Malgun Gothic"/>
                <a:cs typeface="Malgun Gothic"/>
                <a:sym typeface="Malgun Gothic"/>
              </a:rPr>
              <a:t>                                             </a:t>
            </a:r>
            <a:r>
              <a:rPr b="1" lang="ko-KR" sz="1800">
                <a:solidFill>
                  <a:srgbClr val="0070C0"/>
                </a:solidFill>
                <a:latin typeface="Malgun Gothic"/>
                <a:ea typeface="Malgun Gothic"/>
                <a:cs typeface="Malgun Gothic"/>
                <a:sym typeface="Malgun Gothic"/>
              </a:rPr>
              <a:t>– 아리스토텔레스 </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시민계급부터 귀족계급에 제한되어진 여가</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지배하는 사회로 노동을 기피하고 여가를 중시함</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그러나 여가의 향락화로 국가 멸망</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66" name="Shape 666"/>
        <p:cNvGrpSpPr/>
        <p:nvPr/>
      </p:nvGrpSpPr>
      <p:grpSpPr>
        <a:xfrm>
          <a:off x="0" y="0"/>
          <a:ext cx="0" cy="0"/>
          <a:chOff x="0" y="0"/>
          <a:chExt cx="0" cy="0"/>
        </a:xfrm>
      </p:grpSpPr>
      <p:sp>
        <p:nvSpPr>
          <p:cNvPr id="667" name="Google Shape;667;p68"/>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68" name="Google Shape;668;p68"/>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69" name="Google Shape;669;p68"/>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3) 고대 로마의 여가 </a:t>
            </a:r>
            <a:endParaRPr/>
          </a:p>
        </p:txBody>
      </p:sp>
      <p:sp>
        <p:nvSpPr>
          <p:cNvPr id="670" name="Google Shape;670;p68"/>
          <p:cNvSpPr/>
          <p:nvPr/>
        </p:nvSpPr>
        <p:spPr>
          <a:xfrm>
            <a:off x="251519" y="1735107"/>
            <a:ext cx="5689353" cy="2276803"/>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71" name="Google Shape;671;p68"/>
          <p:cNvSpPr/>
          <p:nvPr/>
        </p:nvSpPr>
        <p:spPr>
          <a:xfrm>
            <a:off x="395536" y="1813629"/>
            <a:ext cx="5545335" cy="2151358"/>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초기 로마의 교육과 여가적 환경은 로마발달의 기초가 됨</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정치적 목적을 실현하는 수단으로 여가 활용</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시민의 불만을 해소시켜 주는 정치적 수단으로 여러가지 유흥시설 제공함</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공공여가가 발달</a:t>
            </a:r>
            <a:endParaRPr/>
          </a:p>
        </p:txBody>
      </p:sp>
      <p:sp>
        <p:nvSpPr>
          <p:cNvPr id="672" name="Google Shape;672;p68"/>
          <p:cNvSpPr/>
          <p:nvPr/>
        </p:nvSpPr>
        <p:spPr>
          <a:xfrm>
            <a:off x="250824" y="1344037"/>
            <a:ext cx="4753224" cy="396000"/>
          </a:xfrm>
          <a:prstGeom prst="round1Rect">
            <a:avLst>
              <a:gd fmla="val 18254" name="adj"/>
            </a:avLst>
          </a:prstGeom>
          <a:solidFill>
            <a:srgbClr val="76923C"/>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국가의 원동력에서 패망의 원인으로 1-1</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6" name="Shape 676"/>
        <p:cNvGrpSpPr/>
        <p:nvPr/>
      </p:nvGrpSpPr>
      <p:grpSpPr>
        <a:xfrm>
          <a:off x="0" y="0"/>
          <a:ext cx="0" cy="0"/>
          <a:chOff x="0" y="0"/>
          <a:chExt cx="0" cy="0"/>
        </a:xfrm>
      </p:grpSpPr>
      <p:sp>
        <p:nvSpPr>
          <p:cNvPr id="677" name="Google Shape;677;p69"/>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78" name="Google Shape;678;p69"/>
          <p:cNvSpPr/>
          <p:nvPr/>
        </p:nvSpPr>
        <p:spPr>
          <a:xfrm>
            <a:off x="251519" y="1275606"/>
            <a:ext cx="5689353" cy="370800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79" name="Google Shape;679;p69"/>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80" name="Google Shape;680;p69"/>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3) 고대 로마의 여가 </a:t>
            </a:r>
            <a:endParaRPr/>
          </a:p>
        </p:txBody>
      </p:sp>
      <p:pic>
        <p:nvPicPr>
          <p:cNvPr descr="로마의워터파크.jpg" id="681" name="Google Shape;681;p69"/>
          <p:cNvPicPr preferRelativeResize="0"/>
          <p:nvPr/>
        </p:nvPicPr>
        <p:blipFill rotWithShape="1">
          <a:blip r:embed="rId3">
            <a:alphaModFix/>
          </a:blip>
          <a:srcRect b="0" l="0" r="0" t="0"/>
          <a:stretch/>
        </p:blipFill>
        <p:spPr>
          <a:xfrm>
            <a:off x="689969" y="1440870"/>
            <a:ext cx="4810810" cy="3204000"/>
          </a:xfrm>
          <a:prstGeom prst="rect">
            <a:avLst/>
          </a:prstGeom>
          <a:noFill/>
          <a:ln>
            <a:noFill/>
          </a:ln>
        </p:spPr>
      </p:pic>
      <p:sp>
        <p:nvSpPr>
          <p:cNvPr id="682" name="Google Shape;682;p69"/>
          <p:cNvSpPr/>
          <p:nvPr/>
        </p:nvSpPr>
        <p:spPr>
          <a:xfrm>
            <a:off x="240256" y="4618693"/>
            <a:ext cx="5587160" cy="309252"/>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lang="ko-KR" sz="1400">
                <a:solidFill>
                  <a:srgbClr val="242424"/>
                </a:solidFill>
                <a:latin typeface="Malgun Gothic"/>
                <a:ea typeface="Malgun Gothic"/>
                <a:cs typeface="Malgun Gothic"/>
                <a:sym typeface="Malgun Gothic"/>
              </a:rPr>
              <a:t>&lt;그림3&gt; 고대로마의 워터파크</a:t>
            </a:r>
            <a:endParaRPr sz="1400">
              <a:solidFill>
                <a:srgbClr val="242424"/>
              </a:solidFill>
              <a:latin typeface="Malgun Gothic"/>
              <a:ea typeface="Malgun Gothic"/>
              <a:cs typeface="Malgun Gothic"/>
              <a:sym typeface="Malgun Gothic"/>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6" name="Shape 686"/>
        <p:cNvGrpSpPr/>
        <p:nvPr/>
      </p:nvGrpSpPr>
      <p:grpSpPr>
        <a:xfrm>
          <a:off x="0" y="0"/>
          <a:ext cx="0" cy="0"/>
          <a:chOff x="0" y="0"/>
          <a:chExt cx="0" cy="0"/>
        </a:xfrm>
      </p:grpSpPr>
      <p:sp>
        <p:nvSpPr>
          <p:cNvPr id="687" name="Google Shape;687;p70"/>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88" name="Google Shape;688;p70"/>
          <p:cNvSpPr/>
          <p:nvPr/>
        </p:nvSpPr>
        <p:spPr>
          <a:xfrm>
            <a:off x="251519" y="1275606"/>
            <a:ext cx="5689353" cy="3428931"/>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689" name="Google Shape;689;p70"/>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90" name="Google Shape;690;p70"/>
          <p:cNvSpPr/>
          <p:nvPr/>
        </p:nvSpPr>
        <p:spPr>
          <a:xfrm>
            <a:off x="107504" y="699542"/>
            <a:ext cx="5184576"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3) 고대 로마의 여가 </a:t>
            </a:r>
            <a:endParaRPr/>
          </a:p>
        </p:txBody>
      </p:sp>
      <p:pic>
        <p:nvPicPr>
          <p:cNvPr descr="로마원형경기장에 대한 이미지 검색결과" id="691" name="Google Shape;691;p70"/>
          <p:cNvPicPr preferRelativeResize="0"/>
          <p:nvPr/>
        </p:nvPicPr>
        <p:blipFill rotWithShape="1">
          <a:blip r:embed="rId3">
            <a:alphaModFix/>
          </a:blip>
          <a:srcRect b="0" l="0" r="0" t="0"/>
          <a:stretch/>
        </p:blipFill>
        <p:spPr>
          <a:xfrm>
            <a:off x="348208" y="1415093"/>
            <a:ext cx="5519334" cy="30960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95" name="Shape 695"/>
        <p:cNvGrpSpPr/>
        <p:nvPr/>
      </p:nvGrpSpPr>
      <p:grpSpPr>
        <a:xfrm>
          <a:off x="0" y="0"/>
          <a:ext cx="0" cy="0"/>
          <a:chOff x="0" y="0"/>
          <a:chExt cx="0" cy="0"/>
        </a:xfrm>
      </p:grpSpPr>
      <p:sp>
        <p:nvSpPr>
          <p:cNvPr id="696" name="Google Shape;696;p71"/>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697" name="Google Shape;697;p7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698" name="Google Shape;698;p71"/>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3) 고대 로마의 여가 </a:t>
            </a:r>
            <a:endParaRPr/>
          </a:p>
        </p:txBody>
      </p:sp>
      <p:sp>
        <p:nvSpPr>
          <p:cNvPr id="699" name="Google Shape;699;p71"/>
          <p:cNvSpPr/>
          <p:nvPr/>
        </p:nvSpPr>
        <p:spPr>
          <a:xfrm>
            <a:off x="251519" y="1747464"/>
            <a:ext cx="5689353" cy="3056534"/>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00" name="Google Shape;700;p71"/>
          <p:cNvSpPr/>
          <p:nvPr/>
        </p:nvSpPr>
        <p:spPr>
          <a:xfrm>
            <a:off x="395536" y="1825986"/>
            <a:ext cx="5545335" cy="2893869"/>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시민중심의 여가  -  목욕탕등</a:t>
            </a:r>
            <a:endParaRPr b="1" sz="1800">
              <a:solidFill>
                <a:srgbClr val="0F243E"/>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직접 참여하는 여가분위기 조성중기 이후 향락적 퇴폐적 여가로 변질</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사치와 나태로 부패 조장</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격투기등 관람중심의 경기장과 목욕탕등은 육체의 무기력을 만드는 결과를 초래</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소비적이고 퇴폐적인 놀이문화로 발전</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여가의 타락이 로마 멸망의 원인 중 하나</a:t>
            </a:r>
            <a:endParaRPr/>
          </a:p>
        </p:txBody>
      </p:sp>
      <p:sp>
        <p:nvSpPr>
          <p:cNvPr id="701" name="Google Shape;701;p71"/>
          <p:cNvSpPr/>
          <p:nvPr/>
        </p:nvSpPr>
        <p:spPr>
          <a:xfrm>
            <a:off x="250824" y="1356394"/>
            <a:ext cx="4681216" cy="396000"/>
          </a:xfrm>
          <a:prstGeom prst="round1Rect">
            <a:avLst>
              <a:gd fmla="val 18254" name="adj"/>
            </a:avLst>
          </a:prstGeom>
          <a:solidFill>
            <a:srgbClr val="76923C"/>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국가의 원동력에서 패망의 원인으로 1-2</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5" name="Shape 705"/>
        <p:cNvGrpSpPr/>
        <p:nvPr/>
      </p:nvGrpSpPr>
      <p:grpSpPr>
        <a:xfrm>
          <a:off x="0" y="0"/>
          <a:ext cx="0" cy="0"/>
          <a:chOff x="0" y="0"/>
          <a:chExt cx="0" cy="0"/>
        </a:xfrm>
      </p:grpSpPr>
      <p:sp>
        <p:nvSpPr>
          <p:cNvPr id="706" name="Google Shape;706;p72"/>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07" name="Google Shape;707;p7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08" name="Google Shape;708;p72"/>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4) 중세시대의 여가</a:t>
            </a:r>
            <a:endParaRPr/>
          </a:p>
        </p:txBody>
      </p:sp>
      <p:sp>
        <p:nvSpPr>
          <p:cNvPr id="709" name="Google Shape;709;p72"/>
          <p:cNvSpPr/>
          <p:nvPr/>
        </p:nvSpPr>
        <p:spPr>
          <a:xfrm>
            <a:off x="251519" y="1747464"/>
            <a:ext cx="5689353" cy="248047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10" name="Google Shape;710;p72"/>
          <p:cNvSpPr/>
          <p:nvPr/>
        </p:nvSpPr>
        <p:spPr>
          <a:xfrm>
            <a:off x="395536" y="1825986"/>
            <a:ext cx="5545335" cy="2284472"/>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퇴폐적 로마말기의 반발</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기독교문화의 지배시기</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근면한 노동과 명상을 중요시 여김</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주된 여가활동 - 기도와 명상</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성직자들의 여가반대</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향락적인 여가 레크리에이션활동 통제</a:t>
            </a:r>
            <a:endParaRPr/>
          </a:p>
        </p:txBody>
      </p:sp>
      <p:sp>
        <p:nvSpPr>
          <p:cNvPr id="711" name="Google Shape;711;p72"/>
          <p:cNvSpPr/>
          <p:nvPr/>
        </p:nvSpPr>
        <p:spPr>
          <a:xfrm>
            <a:off x="250824" y="1356394"/>
            <a:ext cx="2304952" cy="396000"/>
          </a:xfrm>
          <a:prstGeom prst="round1Rect">
            <a:avLst>
              <a:gd fmla="val 18254" name="adj"/>
            </a:avLst>
          </a:prstGeom>
          <a:solidFill>
            <a:srgbClr val="953734"/>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여가의 암흑기</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5" name="Shape 715"/>
        <p:cNvGrpSpPr/>
        <p:nvPr/>
      </p:nvGrpSpPr>
      <p:grpSpPr>
        <a:xfrm>
          <a:off x="0" y="0"/>
          <a:ext cx="0" cy="0"/>
          <a:chOff x="0" y="0"/>
          <a:chExt cx="0" cy="0"/>
        </a:xfrm>
      </p:grpSpPr>
      <p:sp>
        <p:nvSpPr>
          <p:cNvPr id="716" name="Google Shape;716;p73"/>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17" name="Google Shape;717;p73"/>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18" name="Google Shape;718;p73"/>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4) 중세시대의 여가</a:t>
            </a:r>
            <a:endParaRPr/>
          </a:p>
        </p:txBody>
      </p:sp>
      <p:sp>
        <p:nvSpPr>
          <p:cNvPr id="719" name="Google Shape;719;p73"/>
          <p:cNvSpPr/>
          <p:nvPr/>
        </p:nvSpPr>
        <p:spPr>
          <a:xfrm>
            <a:off x="251519" y="1747464"/>
            <a:ext cx="5689353" cy="2624486"/>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20" name="Google Shape;720;p73"/>
          <p:cNvSpPr/>
          <p:nvPr/>
        </p:nvSpPr>
        <p:spPr>
          <a:xfrm>
            <a:off x="395537" y="1825986"/>
            <a:ext cx="5328592" cy="2435282"/>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지배계층은 축제, 연회, 수렵, 여행, 도박, 가면무도회, 매사냥등의 여가를 즐김</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농민들은 농한기를 이용한 음식, 술, 노래, 춤, 복싱등과 같은 일상생활에 있어서 연회와 축하행사를 가지며 교회가 인정하는 공휴일을 이용</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마틴루터의 종교개혁과 여가</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현대볼링의 창시자 마틴루터</a:t>
            </a:r>
            <a:endParaRPr b="1" sz="1800">
              <a:solidFill>
                <a:srgbClr val="0F243E"/>
              </a:solidFill>
              <a:latin typeface="Malgun Gothic"/>
              <a:ea typeface="Malgun Gothic"/>
              <a:cs typeface="Malgun Gothic"/>
              <a:sym typeface="Malgun Gothic"/>
            </a:endParaRPr>
          </a:p>
        </p:txBody>
      </p:sp>
      <p:pic>
        <p:nvPicPr>
          <p:cNvPr descr="마틴루터.jpg" id="721" name="Google Shape;721;p73"/>
          <p:cNvPicPr preferRelativeResize="0"/>
          <p:nvPr/>
        </p:nvPicPr>
        <p:blipFill rotWithShape="1">
          <a:blip r:embed="rId3">
            <a:alphaModFix/>
          </a:blip>
          <a:srcRect b="0" l="0" r="0" t="0"/>
          <a:stretch/>
        </p:blipFill>
        <p:spPr>
          <a:xfrm>
            <a:off x="6036874" y="1784188"/>
            <a:ext cx="3050333" cy="2443746"/>
          </a:xfrm>
          <a:prstGeom prst="rect">
            <a:avLst/>
          </a:prstGeom>
          <a:noFill/>
          <a:ln>
            <a:noFill/>
          </a:ln>
        </p:spPr>
      </p:pic>
      <p:sp>
        <p:nvSpPr>
          <p:cNvPr id="722" name="Google Shape;722;p73"/>
          <p:cNvSpPr/>
          <p:nvPr/>
        </p:nvSpPr>
        <p:spPr>
          <a:xfrm>
            <a:off x="250824" y="1356394"/>
            <a:ext cx="2304952" cy="396000"/>
          </a:xfrm>
          <a:prstGeom prst="round1Rect">
            <a:avLst>
              <a:gd fmla="val 18254" name="adj"/>
            </a:avLst>
          </a:prstGeom>
          <a:solidFill>
            <a:srgbClr val="953734"/>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여가의 암흑기</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6" name="Shape 726"/>
        <p:cNvGrpSpPr/>
        <p:nvPr/>
      </p:nvGrpSpPr>
      <p:grpSpPr>
        <a:xfrm>
          <a:off x="0" y="0"/>
          <a:ext cx="0" cy="0"/>
          <a:chOff x="0" y="0"/>
          <a:chExt cx="0" cy="0"/>
        </a:xfrm>
      </p:grpSpPr>
      <p:sp>
        <p:nvSpPr>
          <p:cNvPr id="727" name="Google Shape;727;p74"/>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28" name="Google Shape;728;p74"/>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29" name="Google Shape;729;p74"/>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5) 르네상스 시대의 여가</a:t>
            </a:r>
            <a:endParaRPr/>
          </a:p>
        </p:txBody>
      </p:sp>
      <p:sp>
        <p:nvSpPr>
          <p:cNvPr id="730" name="Google Shape;730;p74"/>
          <p:cNvSpPr/>
          <p:nvPr/>
        </p:nvSpPr>
        <p:spPr>
          <a:xfrm>
            <a:off x="251519" y="1749598"/>
            <a:ext cx="5689353" cy="327600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31" name="Google Shape;731;p74"/>
          <p:cNvSpPr/>
          <p:nvPr/>
        </p:nvSpPr>
        <p:spPr>
          <a:xfrm>
            <a:off x="395536" y="1825986"/>
            <a:ext cx="5545335" cy="1160318"/>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과학과 예술의 발달기</a:t>
            </a:r>
            <a:endParaRPr b="1" sz="1800">
              <a:solidFill>
                <a:srgbClr val="0F243E"/>
              </a:solidFill>
              <a:latin typeface="Malgun Gothic"/>
              <a:ea typeface="Malgun Gothic"/>
              <a:cs typeface="Malgun Gothic"/>
              <a:sym typeface="Malgun Gothic"/>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지적인 활동과 창조적 힘이 활발한 시기</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엄격한 도덕규칙을 경멸한 시기</a:t>
            </a:r>
            <a:endParaRPr/>
          </a:p>
        </p:txBody>
      </p:sp>
      <p:sp>
        <p:nvSpPr>
          <p:cNvPr id="732" name="Google Shape;732;p74"/>
          <p:cNvSpPr/>
          <p:nvPr/>
        </p:nvSpPr>
        <p:spPr>
          <a:xfrm>
            <a:off x="395536" y="4499749"/>
            <a:ext cx="5545335" cy="376257"/>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그러나 여가는 귀족의 전유물</a:t>
            </a:r>
            <a:endParaRPr/>
          </a:p>
        </p:txBody>
      </p:sp>
      <p:sp>
        <p:nvSpPr>
          <p:cNvPr id="733" name="Google Shape;733;p74"/>
          <p:cNvSpPr/>
          <p:nvPr/>
        </p:nvSpPr>
        <p:spPr>
          <a:xfrm>
            <a:off x="633440" y="3012299"/>
            <a:ext cx="2088000" cy="371192"/>
          </a:xfrm>
          <a:prstGeom prst="rect">
            <a:avLst/>
          </a:prstGeom>
          <a:solidFill>
            <a:srgbClr val="B7CCE4"/>
          </a:solid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ko-KR" sz="1800">
                <a:solidFill>
                  <a:srgbClr val="242424"/>
                </a:solidFill>
                <a:latin typeface="Malgun Gothic"/>
                <a:ea typeface="Malgun Gothic"/>
                <a:cs typeface="Malgun Gothic"/>
                <a:sym typeface="Malgun Gothic"/>
              </a:rPr>
              <a:t>남성의 여가활동 </a:t>
            </a:r>
            <a:endParaRPr/>
          </a:p>
        </p:txBody>
      </p:sp>
      <p:sp>
        <p:nvSpPr>
          <p:cNvPr id="734" name="Google Shape;734;p74"/>
          <p:cNvSpPr/>
          <p:nvPr/>
        </p:nvSpPr>
        <p:spPr>
          <a:xfrm>
            <a:off x="611560" y="3380210"/>
            <a:ext cx="2088000" cy="1008000"/>
          </a:xfrm>
          <a:prstGeom prst="rect">
            <a:avLst/>
          </a:prstGeom>
          <a:noFill/>
          <a:ln cap="flat" cmpd="sng" w="9525">
            <a:solidFill>
              <a:srgbClr val="538CD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ko-KR" sz="1800">
                <a:solidFill>
                  <a:srgbClr val="242424"/>
                </a:solidFill>
                <a:latin typeface="Malgun Gothic"/>
                <a:ea typeface="Malgun Gothic"/>
                <a:cs typeface="Malgun Gothic"/>
                <a:sym typeface="Malgun Gothic"/>
              </a:rPr>
              <a:t>펜싱, 도박, 투우, 체스, 사냥, 복싱, 보트 등</a:t>
            </a:r>
            <a:endParaRPr b="1" sz="1800">
              <a:solidFill>
                <a:srgbClr val="242424"/>
              </a:solidFill>
              <a:latin typeface="Malgun Gothic"/>
              <a:ea typeface="Malgun Gothic"/>
              <a:cs typeface="Malgun Gothic"/>
              <a:sym typeface="Malgun Gothic"/>
            </a:endParaRPr>
          </a:p>
        </p:txBody>
      </p:sp>
      <p:sp>
        <p:nvSpPr>
          <p:cNvPr id="735" name="Google Shape;735;p74"/>
          <p:cNvSpPr/>
          <p:nvPr/>
        </p:nvSpPr>
        <p:spPr>
          <a:xfrm>
            <a:off x="2626432" y="3569140"/>
            <a:ext cx="361392" cy="861170"/>
          </a:xfrm>
          <a:custGeom>
            <a:rect b="b" l="l" r="r" t="t"/>
            <a:pathLst>
              <a:path extrusionOk="0" h="710" w="277">
                <a:moveTo>
                  <a:pt x="141" y="154"/>
                </a:moveTo>
                <a:lnTo>
                  <a:pt x="141" y="154"/>
                </a:lnTo>
                <a:lnTo>
                  <a:pt x="155" y="153"/>
                </a:lnTo>
                <a:lnTo>
                  <a:pt x="168" y="147"/>
                </a:lnTo>
                <a:lnTo>
                  <a:pt x="182" y="141"/>
                </a:lnTo>
                <a:lnTo>
                  <a:pt x="193" y="131"/>
                </a:lnTo>
                <a:lnTo>
                  <a:pt x="202" y="119"/>
                </a:lnTo>
                <a:lnTo>
                  <a:pt x="210" y="107"/>
                </a:lnTo>
                <a:lnTo>
                  <a:pt x="212" y="93"/>
                </a:lnTo>
                <a:lnTo>
                  <a:pt x="215" y="76"/>
                </a:lnTo>
                <a:lnTo>
                  <a:pt x="215" y="76"/>
                </a:lnTo>
                <a:lnTo>
                  <a:pt x="212" y="60"/>
                </a:lnTo>
                <a:lnTo>
                  <a:pt x="210" y="47"/>
                </a:lnTo>
                <a:lnTo>
                  <a:pt x="202" y="34"/>
                </a:lnTo>
                <a:lnTo>
                  <a:pt x="193" y="22"/>
                </a:lnTo>
                <a:lnTo>
                  <a:pt x="182" y="13"/>
                </a:lnTo>
                <a:lnTo>
                  <a:pt x="168" y="6"/>
                </a:lnTo>
                <a:lnTo>
                  <a:pt x="155" y="2"/>
                </a:lnTo>
                <a:lnTo>
                  <a:pt x="141" y="0"/>
                </a:lnTo>
                <a:lnTo>
                  <a:pt x="141" y="0"/>
                </a:lnTo>
                <a:lnTo>
                  <a:pt x="124" y="2"/>
                </a:lnTo>
                <a:lnTo>
                  <a:pt x="111" y="6"/>
                </a:lnTo>
                <a:lnTo>
                  <a:pt x="98" y="13"/>
                </a:lnTo>
                <a:lnTo>
                  <a:pt x="88" y="22"/>
                </a:lnTo>
                <a:lnTo>
                  <a:pt x="79" y="34"/>
                </a:lnTo>
                <a:lnTo>
                  <a:pt x="71" y="47"/>
                </a:lnTo>
                <a:lnTo>
                  <a:pt x="67" y="60"/>
                </a:lnTo>
                <a:lnTo>
                  <a:pt x="66" y="76"/>
                </a:lnTo>
                <a:lnTo>
                  <a:pt x="66" y="76"/>
                </a:lnTo>
                <a:lnTo>
                  <a:pt x="67" y="93"/>
                </a:lnTo>
                <a:lnTo>
                  <a:pt x="71" y="107"/>
                </a:lnTo>
                <a:lnTo>
                  <a:pt x="79" y="119"/>
                </a:lnTo>
                <a:lnTo>
                  <a:pt x="88" y="131"/>
                </a:lnTo>
                <a:lnTo>
                  <a:pt x="98" y="141"/>
                </a:lnTo>
                <a:lnTo>
                  <a:pt x="111" y="147"/>
                </a:lnTo>
                <a:lnTo>
                  <a:pt x="124" y="153"/>
                </a:lnTo>
                <a:lnTo>
                  <a:pt x="141" y="154"/>
                </a:lnTo>
                <a:lnTo>
                  <a:pt x="141" y="154"/>
                </a:lnTo>
                <a:close/>
                <a:moveTo>
                  <a:pt x="277" y="426"/>
                </a:moveTo>
                <a:lnTo>
                  <a:pt x="265" y="336"/>
                </a:lnTo>
                <a:lnTo>
                  <a:pt x="265" y="336"/>
                </a:lnTo>
                <a:lnTo>
                  <a:pt x="264" y="328"/>
                </a:lnTo>
                <a:lnTo>
                  <a:pt x="248" y="216"/>
                </a:lnTo>
                <a:lnTo>
                  <a:pt x="248" y="216"/>
                </a:lnTo>
                <a:lnTo>
                  <a:pt x="246" y="213"/>
                </a:lnTo>
                <a:lnTo>
                  <a:pt x="246" y="206"/>
                </a:lnTo>
                <a:lnTo>
                  <a:pt x="246" y="206"/>
                </a:lnTo>
                <a:lnTo>
                  <a:pt x="243" y="203"/>
                </a:lnTo>
                <a:lnTo>
                  <a:pt x="243" y="203"/>
                </a:lnTo>
                <a:lnTo>
                  <a:pt x="240" y="197"/>
                </a:lnTo>
                <a:lnTo>
                  <a:pt x="236" y="191"/>
                </a:lnTo>
                <a:lnTo>
                  <a:pt x="226" y="182"/>
                </a:lnTo>
                <a:lnTo>
                  <a:pt x="214" y="175"/>
                </a:lnTo>
                <a:lnTo>
                  <a:pt x="201" y="169"/>
                </a:lnTo>
                <a:lnTo>
                  <a:pt x="185" y="165"/>
                </a:lnTo>
                <a:lnTo>
                  <a:pt x="170" y="162"/>
                </a:lnTo>
                <a:lnTo>
                  <a:pt x="155" y="160"/>
                </a:lnTo>
                <a:lnTo>
                  <a:pt x="141" y="160"/>
                </a:lnTo>
                <a:lnTo>
                  <a:pt x="141" y="160"/>
                </a:lnTo>
                <a:lnTo>
                  <a:pt x="124" y="160"/>
                </a:lnTo>
                <a:lnTo>
                  <a:pt x="107" y="162"/>
                </a:lnTo>
                <a:lnTo>
                  <a:pt x="89" y="165"/>
                </a:lnTo>
                <a:lnTo>
                  <a:pt x="71" y="169"/>
                </a:lnTo>
                <a:lnTo>
                  <a:pt x="57" y="175"/>
                </a:lnTo>
                <a:lnTo>
                  <a:pt x="44" y="182"/>
                </a:lnTo>
                <a:lnTo>
                  <a:pt x="39" y="188"/>
                </a:lnTo>
                <a:lnTo>
                  <a:pt x="35" y="192"/>
                </a:lnTo>
                <a:lnTo>
                  <a:pt x="32" y="198"/>
                </a:lnTo>
                <a:lnTo>
                  <a:pt x="29" y="206"/>
                </a:lnTo>
                <a:lnTo>
                  <a:pt x="29" y="206"/>
                </a:lnTo>
                <a:lnTo>
                  <a:pt x="29" y="207"/>
                </a:lnTo>
                <a:lnTo>
                  <a:pt x="11" y="331"/>
                </a:lnTo>
                <a:lnTo>
                  <a:pt x="11" y="331"/>
                </a:lnTo>
                <a:lnTo>
                  <a:pt x="10" y="338"/>
                </a:lnTo>
                <a:lnTo>
                  <a:pt x="0" y="428"/>
                </a:lnTo>
                <a:lnTo>
                  <a:pt x="0" y="428"/>
                </a:lnTo>
                <a:lnTo>
                  <a:pt x="0" y="438"/>
                </a:lnTo>
                <a:lnTo>
                  <a:pt x="2" y="447"/>
                </a:lnTo>
                <a:lnTo>
                  <a:pt x="4" y="451"/>
                </a:lnTo>
                <a:lnTo>
                  <a:pt x="8" y="454"/>
                </a:lnTo>
                <a:lnTo>
                  <a:pt x="11" y="455"/>
                </a:lnTo>
                <a:lnTo>
                  <a:pt x="16" y="455"/>
                </a:lnTo>
                <a:lnTo>
                  <a:pt x="16" y="455"/>
                </a:lnTo>
                <a:lnTo>
                  <a:pt x="20" y="455"/>
                </a:lnTo>
                <a:lnTo>
                  <a:pt x="24" y="454"/>
                </a:lnTo>
                <a:lnTo>
                  <a:pt x="29" y="451"/>
                </a:lnTo>
                <a:lnTo>
                  <a:pt x="32" y="447"/>
                </a:lnTo>
                <a:lnTo>
                  <a:pt x="38" y="438"/>
                </a:lnTo>
                <a:lnTo>
                  <a:pt x="41" y="430"/>
                </a:lnTo>
                <a:lnTo>
                  <a:pt x="57" y="360"/>
                </a:lnTo>
                <a:lnTo>
                  <a:pt x="57" y="360"/>
                </a:lnTo>
                <a:lnTo>
                  <a:pt x="60" y="364"/>
                </a:lnTo>
                <a:lnTo>
                  <a:pt x="79" y="677"/>
                </a:lnTo>
                <a:lnTo>
                  <a:pt x="80" y="686"/>
                </a:lnTo>
                <a:lnTo>
                  <a:pt x="80" y="686"/>
                </a:lnTo>
                <a:lnTo>
                  <a:pt x="80" y="686"/>
                </a:lnTo>
                <a:lnTo>
                  <a:pt x="82" y="693"/>
                </a:lnTo>
                <a:lnTo>
                  <a:pt x="85" y="701"/>
                </a:lnTo>
                <a:lnTo>
                  <a:pt x="86" y="704"/>
                </a:lnTo>
                <a:lnTo>
                  <a:pt x="89" y="707"/>
                </a:lnTo>
                <a:lnTo>
                  <a:pt x="94" y="708"/>
                </a:lnTo>
                <a:lnTo>
                  <a:pt x="98" y="710"/>
                </a:lnTo>
                <a:lnTo>
                  <a:pt x="98" y="710"/>
                </a:lnTo>
                <a:lnTo>
                  <a:pt x="104" y="710"/>
                </a:lnTo>
                <a:lnTo>
                  <a:pt x="108" y="710"/>
                </a:lnTo>
                <a:lnTo>
                  <a:pt x="108" y="710"/>
                </a:lnTo>
                <a:lnTo>
                  <a:pt x="116" y="707"/>
                </a:lnTo>
                <a:lnTo>
                  <a:pt x="120" y="702"/>
                </a:lnTo>
                <a:lnTo>
                  <a:pt x="124" y="695"/>
                </a:lnTo>
                <a:lnTo>
                  <a:pt x="126" y="688"/>
                </a:lnTo>
                <a:lnTo>
                  <a:pt x="126" y="688"/>
                </a:lnTo>
                <a:lnTo>
                  <a:pt x="127" y="683"/>
                </a:lnTo>
                <a:lnTo>
                  <a:pt x="127" y="683"/>
                </a:lnTo>
                <a:lnTo>
                  <a:pt x="129" y="667"/>
                </a:lnTo>
                <a:lnTo>
                  <a:pt x="129" y="667"/>
                </a:lnTo>
                <a:lnTo>
                  <a:pt x="130" y="640"/>
                </a:lnTo>
                <a:lnTo>
                  <a:pt x="130" y="640"/>
                </a:lnTo>
                <a:lnTo>
                  <a:pt x="132" y="607"/>
                </a:lnTo>
                <a:lnTo>
                  <a:pt x="132" y="607"/>
                </a:lnTo>
                <a:lnTo>
                  <a:pt x="133" y="569"/>
                </a:lnTo>
                <a:lnTo>
                  <a:pt x="133" y="569"/>
                </a:lnTo>
                <a:lnTo>
                  <a:pt x="135" y="529"/>
                </a:lnTo>
                <a:lnTo>
                  <a:pt x="135" y="529"/>
                </a:lnTo>
                <a:lnTo>
                  <a:pt x="138" y="488"/>
                </a:lnTo>
                <a:lnTo>
                  <a:pt x="138" y="488"/>
                </a:lnTo>
                <a:lnTo>
                  <a:pt x="139" y="451"/>
                </a:lnTo>
                <a:lnTo>
                  <a:pt x="139" y="451"/>
                </a:lnTo>
                <a:lnTo>
                  <a:pt x="141" y="436"/>
                </a:lnTo>
                <a:lnTo>
                  <a:pt x="141" y="436"/>
                </a:lnTo>
                <a:lnTo>
                  <a:pt x="141" y="451"/>
                </a:lnTo>
                <a:lnTo>
                  <a:pt x="141" y="451"/>
                </a:lnTo>
                <a:lnTo>
                  <a:pt x="142" y="488"/>
                </a:lnTo>
                <a:lnTo>
                  <a:pt x="142" y="488"/>
                </a:lnTo>
                <a:lnTo>
                  <a:pt x="145" y="529"/>
                </a:lnTo>
                <a:lnTo>
                  <a:pt x="145" y="529"/>
                </a:lnTo>
                <a:lnTo>
                  <a:pt x="146" y="569"/>
                </a:lnTo>
                <a:lnTo>
                  <a:pt x="146" y="569"/>
                </a:lnTo>
                <a:lnTo>
                  <a:pt x="148" y="607"/>
                </a:lnTo>
                <a:lnTo>
                  <a:pt x="148" y="607"/>
                </a:lnTo>
                <a:lnTo>
                  <a:pt x="149" y="640"/>
                </a:lnTo>
                <a:lnTo>
                  <a:pt x="149" y="640"/>
                </a:lnTo>
                <a:lnTo>
                  <a:pt x="151" y="667"/>
                </a:lnTo>
                <a:lnTo>
                  <a:pt x="151" y="667"/>
                </a:lnTo>
                <a:lnTo>
                  <a:pt x="152" y="682"/>
                </a:lnTo>
                <a:lnTo>
                  <a:pt x="152" y="682"/>
                </a:lnTo>
                <a:lnTo>
                  <a:pt x="154" y="688"/>
                </a:lnTo>
                <a:lnTo>
                  <a:pt x="154" y="688"/>
                </a:lnTo>
                <a:lnTo>
                  <a:pt x="155" y="695"/>
                </a:lnTo>
                <a:lnTo>
                  <a:pt x="160" y="702"/>
                </a:lnTo>
                <a:lnTo>
                  <a:pt x="164" y="707"/>
                </a:lnTo>
                <a:lnTo>
                  <a:pt x="171" y="710"/>
                </a:lnTo>
                <a:lnTo>
                  <a:pt x="171" y="710"/>
                </a:lnTo>
                <a:lnTo>
                  <a:pt x="176" y="710"/>
                </a:lnTo>
                <a:lnTo>
                  <a:pt x="180" y="710"/>
                </a:lnTo>
                <a:lnTo>
                  <a:pt x="180" y="710"/>
                </a:lnTo>
                <a:lnTo>
                  <a:pt x="186" y="708"/>
                </a:lnTo>
                <a:lnTo>
                  <a:pt x="190" y="707"/>
                </a:lnTo>
                <a:lnTo>
                  <a:pt x="193" y="704"/>
                </a:lnTo>
                <a:lnTo>
                  <a:pt x="195" y="701"/>
                </a:lnTo>
                <a:lnTo>
                  <a:pt x="198" y="693"/>
                </a:lnTo>
                <a:lnTo>
                  <a:pt x="199" y="686"/>
                </a:lnTo>
                <a:lnTo>
                  <a:pt x="199" y="686"/>
                </a:lnTo>
                <a:lnTo>
                  <a:pt x="201" y="677"/>
                </a:lnTo>
                <a:lnTo>
                  <a:pt x="220" y="366"/>
                </a:lnTo>
                <a:lnTo>
                  <a:pt x="236" y="429"/>
                </a:lnTo>
                <a:lnTo>
                  <a:pt x="236" y="429"/>
                </a:lnTo>
                <a:lnTo>
                  <a:pt x="239" y="438"/>
                </a:lnTo>
                <a:lnTo>
                  <a:pt x="243" y="447"/>
                </a:lnTo>
                <a:lnTo>
                  <a:pt x="248" y="450"/>
                </a:lnTo>
                <a:lnTo>
                  <a:pt x="251" y="452"/>
                </a:lnTo>
                <a:lnTo>
                  <a:pt x="255" y="454"/>
                </a:lnTo>
                <a:lnTo>
                  <a:pt x="261" y="454"/>
                </a:lnTo>
                <a:lnTo>
                  <a:pt x="261" y="454"/>
                </a:lnTo>
                <a:lnTo>
                  <a:pt x="265" y="454"/>
                </a:lnTo>
                <a:lnTo>
                  <a:pt x="268" y="451"/>
                </a:lnTo>
                <a:lnTo>
                  <a:pt x="271" y="448"/>
                </a:lnTo>
                <a:lnTo>
                  <a:pt x="274" y="445"/>
                </a:lnTo>
                <a:lnTo>
                  <a:pt x="277" y="435"/>
                </a:lnTo>
                <a:lnTo>
                  <a:pt x="277" y="426"/>
                </a:lnTo>
                <a:lnTo>
                  <a:pt x="277" y="426"/>
                </a:lnTo>
                <a:close/>
              </a:path>
            </a:pathLst>
          </a:custGeom>
          <a:solidFill>
            <a:srgbClr val="36609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36" name="Google Shape;736;p74"/>
          <p:cNvSpPr/>
          <p:nvPr/>
        </p:nvSpPr>
        <p:spPr>
          <a:xfrm>
            <a:off x="3414095" y="2992895"/>
            <a:ext cx="2088000" cy="371192"/>
          </a:xfrm>
          <a:prstGeom prst="rect">
            <a:avLst/>
          </a:prstGeom>
          <a:solidFill>
            <a:srgbClr val="E5B8B7"/>
          </a:solid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ko-KR" sz="1800">
                <a:solidFill>
                  <a:srgbClr val="242424"/>
                </a:solidFill>
                <a:latin typeface="Malgun Gothic"/>
                <a:ea typeface="Malgun Gothic"/>
                <a:cs typeface="Malgun Gothic"/>
                <a:sym typeface="Malgun Gothic"/>
              </a:rPr>
              <a:t>여성의 여가활동</a:t>
            </a:r>
            <a:endParaRPr/>
          </a:p>
        </p:txBody>
      </p:sp>
      <p:sp>
        <p:nvSpPr>
          <p:cNvPr id="737" name="Google Shape;737;p74"/>
          <p:cNvSpPr/>
          <p:nvPr/>
        </p:nvSpPr>
        <p:spPr>
          <a:xfrm>
            <a:off x="3420104" y="3400458"/>
            <a:ext cx="2088000" cy="1006429"/>
          </a:xfrm>
          <a:prstGeom prst="rect">
            <a:avLst/>
          </a:prstGeom>
          <a:noFill/>
          <a:ln cap="flat" cmpd="sng" w="9525">
            <a:solidFill>
              <a:srgbClr val="D9959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None/>
            </a:pPr>
            <a:r>
              <a:rPr b="1" lang="ko-KR" sz="1800">
                <a:solidFill>
                  <a:srgbClr val="242424"/>
                </a:solidFill>
                <a:latin typeface="Malgun Gothic"/>
                <a:ea typeface="Malgun Gothic"/>
                <a:cs typeface="Malgun Gothic"/>
                <a:sym typeface="Malgun Gothic"/>
              </a:rPr>
              <a:t>부친이나남편의 여가활동에 함께 참여 및 음악회 참여</a:t>
            </a:r>
            <a:endParaRPr/>
          </a:p>
        </p:txBody>
      </p:sp>
      <p:grpSp>
        <p:nvGrpSpPr>
          <p:cNvPr id="738" name="Google Shape;738;p74"/>
          <p:cNvGrpSpPr/>
          <p:nvPr/>
        </p:nvGrpSpPr>
        <p:grpSpPr>
          <a:xfrm flipH="1">
            <a:off x="3121387" y="3542665"/>
            <a:ext cx="370493" cy="882857"/>
            <a:chOff x="-841848" y="4149080"/>
            <a:chExt cx="661320" cy="1575875"/>
          </a:xfrm>
        </p:grpSpPr>
        <p:sp>
          <p:nvSpPr>
            <p:cNvPr id="739" name="Google Shape;739;p74"/>
            <p:cNvSpPr/>
            <p:nvPr/>
          </p:nvSpPr>
          <p:spPr>
            <a:xfrm flipH="1">
              <a:off x="-841848" y="4149080"/>
              <a:ext cx="661320" cy="1575875"/>
            </a:xfrm>
            <a:custGeom>
              <a:rect b="b" l="l" r="r" t="t"/>
              <a:pathLst>
                <a:path extrusionOk="0" h="710" w="277">
                  <a:moveTo>
                    <a:pt x="141" y="154"/>
                  </a:moveTo>
                  <a:lnTo>
                    <a:pt x="141" y="154"/>
                  </a:lnTo>
                  <a:lnTo>
                    <a:pt x="155" y="153"/>
                  </a:lnTo>
                  <a:lnTo>
                    <a:pt x="168" y="147"/>
                  </a:lnTo>
                  <a:lnTo>
                    <a:pt x="182" y="141"/>
                  </a:lnTo>
                  <a:lnTo>
                    <a:pt x="193" y="131"/>
                  </a:lnTo>
                  <a:lnTo>
                    <a:pt x="202" y="119"/>
                  </a:lnTo>
                  <a:lnTo>
                    <a:pt x="210" y="107"/>
                  </a:lnTo>
                  <a:lnTo>
                    <a:pt x="212" y="93"/>
                  </a:lnTo>
                  <a:lnTo>
                    <a:pt x="215" y="76"/>
                  </a:lnTo>
                  <a:lnTo>
                    <a:pt x="215" y="76"/>
                  </a:lnTo>
                  <a:lnTo>
                    <a:pt x="212" y="60"/>
                  </a:lnTo>
                  <a:lnTo>
                    <a:pt x="210" y="47"/>
                  </a:lnTo>
                  <a:lnTo>
                    <a:pt x="202" y="34"/>
                  </a:lnTo>
                  <a:lnTo>
                    <a:pt x="193" y="22"/>
                  </a:lnTo>
                  <a:lnTo>
                    <a:pt x="182" y="13"/>
                  </a:lnTo>
                  <a:lnTo>
                    <a:pt x="168" y="6"/>
                  </a:lnTo>
                  <a:lnTo>
                    <a:pt x="155" y="2"/>
                  </a:lnTo>
                  <a:lnTo>
                    <a:pt x="141" y="0"/>
                  </a:lnTo>
                  <a:lnTo>
                    <a:pt x="141" y="0"/>
                  </a:lnTo>
                  <a:lnTo>
                    <a:pt x="124" y="2"/>
                  </a:lnTo>
                  <a:lnTo>
                    <a:pt x="111" y="6"/>
                  </a:lnTo>
                  <a:lnTo>
                    <a:pt x="98" y="13"/>
                  </a:lnTo>
                  <a:lnTo>
                    <a:pt x="88" y="22"/>
                  </a:lnTo>
                  <a:lnTo>
                    <a:pt x="79" y="34"/>
                  </a:lnTo>
                  <a:lnTo>
                    <a:pt x="71" y="47"/>
                  </a:lnTo>
                  <a:lnTo>
                    <a:pt x="67" y="60"/>
                  </a:lnTo>
                  <a:lnTo>
                    <a:pt x="66" y="76"/>
                  </a:lnTo>
                  <a:lnTo>
                    <a:pt x="66" y="76"/>
                  </a:lnTo>
                  <a:lnTo>
                    <a:pt x="67" y="93"/>
                  </a:lnTo>
                  <a:lnTo>
                    <a:pt x="71" y="107"/>
                  </a:lnTo>
                  <a:lnTo>
                    <a:pt x="79" y="119"/>
                  </a:lnTo>
                  <a:lnTo>
                    <a:pt x="88" y="131"/>
                  </a:lnTo>
                  <a:lnTo>
                    <a:pt x="98" y="141"/>
                  </a:lnTo>
                  <a:lnTo>
                    <a:pt x="111" y="147"/>
                  </a:lnTo>
                  <a:lnTo>
                    <a:pt x="124" y="153"/>
                  </a:lnTo>
                  <a:lnTo>
                    <a:pt x="141" y="154"/>
                  </a:lnTo>
                  <a:lnTo>
                    <a:pt x="141" y="154"/>
                  </a:lnTo>
                  <a:close/>
                  <a:moveTo>
                    <a:pt x="277" y="426"/>
                  </a:moveTo>
                  <a:lnTo>
                    <a:pt x="265" y="336"/>
                  </a:lnTo>
                  <a:lnTo>
                    <a:pt x="265" y="336"/>
                  </a:lnTo>
                  <a:lnTo>
                    <a:pt x="264" y="328"/>
                  </a:lnTo>
                  <a:lnTo>
                    <a:pt x="248" y="216"/>
                  </a:lnTo>
                  <a:lnTo>
                    <a:pt x="248" y="216"/>
                  </a:lnTo>
                  <a:lnTo>
                    <a:pt x="246" y="213"/>
                  </a:lnTo>
                  <a:lnTo>
                    <a:pt x="246" y="206"/>
                  </a:lnTo>
                  <a:lnTo>
                    <a:pt x="246" y="206"/>
                  </a:lnTo>
                  <a:lnTo>
                    <a:pt x="243" y="203"/>
                  </a:lnTo>
                  <a:lnTo>
                    <a:pt x="243" y="203"/>
                  </a:lnTo>
                  <a:lnTo>
                    <a:pt x="240" y="197"/>
                  </a:lnTo>
                  <a:lnTo>
                    <a:pt x="236" y="191"/>
                  </a:lnTo>
                  <a:lnTo>
                    <a:pt x="226" y="182"/>
                  </a:lnTo>
                  <a:lnTo>
                    <a:pt x="214" y="175"/>
                  </a:lnTo>
                  <a:lnTo>
                    <a:pt x="201" y="169"/>
                  </a:lnTo>
                  <a:lnTo>
                    <a:pt x="185" y="165"/>
                  </a:lnTo>
                  <a:lnTo>
                    <a:pt x="170" y="162"/>
                  </a:lnTo>
                  <a:lnTo>
                    <a:pt x="155" y="160"/>
                  </a:lnTo>
                  <a:lnTo>
                    <a:pt x="141" y="160"/>
                  </a:lnTo>
                  <a:lnTo>
                    <a:pt x="141" y="160"/>
                  </a:lnTo>
                  <a:lnTo>
                    <a:pt x="124" y="160"/>
                  </a:lnTo>
                  <a:lnTo>
                    <a:pt x="107" y="162"/>
                  </a:lnTo>
                  <a:lnTo>
                    <a:pt x="89" y="165"/>
                  </a:lnTo>
                  <a:lnTo>
                    <a:pt x="71" y="169"/>
                  </a:lnTo>
                  <a:lnTo>
                    <a:pt x="57" y="175"/>
                  </a:lnTo>
                  <a:lnTo>
                    <a:pt x="44" y="182"/>
                  </a:lnTo>
                  <a:lnTo>
                    <a:pt x="39" y="188"/>
                  </a:lnTo>
                  <a:lnTo>
                    <a:pt x="35" y="192"/>
                  </a:lnTo>
                  <a:lnTo>
                    <a:pt x="32" y="198"/>
                  </a:lnTo>
                  <a:lnTo>
                    <a:pt x="29" y="206"/>
                  </a:lnTo>
                  <a:lnTo>
                    <a:pt x="29" y="206"/>
                  </a:lnTo>
                  <a:lnTo>
                    <a:pt x="29" y="207"/>
                  </a:lnTo>
                  <a:lnTo>
                    <a:pt x="11" y="331"/>
                  </a:lnTo>
                  <a:lnTo>
                    <a:pt x="11" y="331"/>
                  </a:lnTo>
                  <a:lnTo>
                    <a:pt x="10" y="338"/>
                  </a:lnTo>
                  <a:lnTo>
                    <a:pt x="0" y="428"/>
                  </a:lnTo>
                  <a:lnTo>
                    <a:pt x="0" y="428"/>
                  </a:lnTo>
                  <a:lnTo>
                    <a:pt x="0" y="438"/>
                  </a:lnTo>
                  <a:lnTo>
                    <a:pt x="2" y="447"/>
                  </a:lnTo>
                  <a:lnTo>
                    <a:pt x="4" y="451"/>
                  </a:lnTo>
                  <a:lnTo>
                    <a:pt x="8" y="454"/>
                  </a:lnTo>
                  <a:lnTo>
                    <a:pt x="11" y="455"/>
                  </a:lnTo>
                  <a:lnTo>
                    <a:pt x="16" y="455"/>
                  </a:lnTo>
                  <a:lnTo>
                    <a:pt x="16" y="455"/>
                  </a:lnTo>
                  <a:lnTo>
                    <a:pt x="20" y="455"/>
                  </a:lnTo>
                  <a:lnTo>
                    <a:pt x="24" y="454"/>
                  </a:lnTo>
                  <a:lnTo>
                    <a:pt x="29" y="451"/>
                  </a:lnTo>
                  <a:lnTo>
                    <a:pt x="32" y="447"/>
                  </a:lnTo>
                  <a:lnTo>
                    <a:pt x="38" y="438"/>
                  </a:lnTo>
                  <a:lnTo>
                    <a:pt x="41" y="430"/>
                  </a:lnTo>
                  <a:lnTo>
                    <a:pt x="57" y="360"/>
                  </a:lnTo>
                  <a:lnTo>
                    <a:pt x="57" y="360"/>
                  </a:lnTo>
                  <a:lnTo>
                    <a:pt x="60" y="364"/>
                  </a:lnTo>
                  <a:lnTo>
                    <a:pt x="79" y="677"/>
                  </a:lnTo>
                  <a:lnTo>
                    <a:pt x="80" y="686"/>
                  </a:lnTo>
                  <a:lnTo>
                    <a:pt x="80" y="686"/>
                  </a:lnTo>
                  <a:lnTo>
                    <a:pt x="80" y="686"/>
                  </a:lnTo>
                  <a:lnTo>
                    <a:pt x="82" y="693"/>
                  </a:lnTo>
                  <a:lnTo>
                    <a:pt x="85" y="701"/>
                  </a:lnTo>
                  <a:lnTo>
                    <a:pt x="86" y="704"/>
                  </a:lnTo>
                  <a:lnTo>
                    <a:pt x="89" y="707"/>
                  </a:lnTo>
                  <a:lnTo>
                    <a:pt x="94" y="708"/>
                  </a:lnTo>
                  <a:lnTo>
                    <a:pt x="98" y="710"/>
                  </a:lnTo>
                  <a:lnTo>
                    <a:pt x="98" y="710"/>
                  </a:lnTo>
                  <a:lnTo>
                    <a:pt x="104" y="710"/>
                  </a:lnTo>
                  <a:lnTo>
                    <a:pt x="108" y="710"/>
                  </a:lnTo>
                  <a:lnTo>
                    <a:pt x="108" y="710"/>
                  </a:lnTo>
                  <a:lnTo>
                    <a:pt x="116" y="707"/>
                  </a:lnTo>
                  <a:lnTo>
                    <a:pt x="120" y="702"/>
                  </a:lnTo>
                  <a:lnTo>
                    <a:pt x="124" y="695"/>
                  </a:lnTo>
                  <a:lnTo>
                    <a:pt x="126" y="688"/>
                  </a:lnTo>
                  <a:lnTo>
                    <a:pt x="126" y="688"/>
                  </a:lnTo>
                  <a:lnTo>
                    <a:pt x="127" y="683"/>
                  </a:lnTo>
                  <a:lnTo>
                    <a:pt x="127" y="683"/>
                  </a:lnTo>
                  <a:lnTo>
                    <a:pt x="129" y="667"/>
                  </a:lnTo>
                  <a:lnTo>
                    <a:pt x="129" y="667"/>
                  </a:lnTo>
                  <a:lnTo>
                    <a:pt x="130" y="640"/>
                  </a:lnTo>
                  <a:lnTo>
                    <a:pt x="130" y="640"/>
                  </a:lnTo>
                  <a:lnTo>
                    <a:pt x="132" y="607"/>
                  </a:lnTo>
                  <a:lnTo>
                    <a:pt x="132" y="607"/>
                  </a:lnTo>
                  <a:lnTo>
                    <a:pt x="133" y="569"/>
                  </a:lnTo>
                  <a:lnTo>
                    <a:pt x="133" y="569"/>
                  </a:lnTo>
                  <a:lnTo>
                    <a:pt x="135" y="529"/>
                  </a:lnTo>
                  <a:lnTo>
                    <a:pt x="135" y="529"/>
                  </a:lnTo>
                  <a:lnTo>
                    <a:pt x="138" y="488"/>
                  </a:lnTo>
                  <a:lnTo>
                    <a:pt x="138" y="488"/>
                  </a:lnTo>
                  <a:lnTo>
                    <a:pt x="139" y="451"/>
                  </a:lnTo>
                  <a:lnTo>
                    <a:pt x="139" y="451"/>
                  </a:lnTo>
                  <a:lnTo>
                    <a:pt x="141" y="436"/>
                  </a:lnTo>
                  <a:lnTo>
                    <a:pt x="141" y="436"/>
                  </a:lnTo>
                  <a:lnTo>
                    <a:pt x="141" y="451"/>
                  </a:lnTo>
                  <a:lnTo>
                    <a:pt x="141" y="451"/>
                  </a:lnTo>
                  <a:lnTo>
                    <a:pt x="142" y="488"/>
                  </a:lnTo>
                  <a:lnTo>
                    <a:pt x="142" y="488"/>
                  </a:lnTo>
                  <a:lnTo>
                    <a:pt x="145" y="529"/>
                  </a:lnTo>
                  <a:lnTo>
                    <a:pt x="145" y="529"/>
                  </a:lnTo>
                  <a:lnTo>
                    <a:pt x="146" y="569"/>
                  </a:lnTo>
                  <a:lnTo>
                    <a:pt x="146" y="569"/>
                  </a:lnTo>
                  <a:lnTo>
                    <a:pt x="148" y="607"/>
                  </a:lnTo>
                  <a:lnTo>
                    <a:pt x="148" y="607"/>
                  </a:lnTo>
                  <a:lnTo>
                    <a:pt x="149" y="640"/>
                  </a:lnTo>
                  <a:lnTo>
                    <a:pt x="149" y="640"/>
                  </a:lnTo>
                  <a:lnTo>
                    <a:pt x="151" y="667"/>
                  </a:lnTo>
                  <a:lnTo>
                    <a:pt x="151" y="667"/>
                  </a:lnTo>
                  <a:lnTo>
                    <a:pt x="152" y="682"/>
                  </a:lnTo>
                  <a:lnTo>
                    <a:pt x="152" y="682"/>
                  </a:lnTo>
                  <a:lnTo>
                    <a:pt x="154" y="688"/>
                  </a:lnTo>
                  <a:lnTo>
                    <a:pt x="154" y="688"/>
                  </a:lnTo>
                  <a:lnTo>
                    <a:pt x="155" y="695"/>
                  </a:lnTo>
                  <a:lnTo>
                    <a:pt x="160" y="702"/>
                  </a:lnTo>
                  <a:lnTo>
                    <a:pt x="164" y="707"/>
                  </a:lnTo>
                  <a:lnTo>
                    <a:pt x="171" y="710"/>
                  </a:lnTo>
                  <a:lnTo>
                    <a:pt x="171" y="710"/>
                  </a:lnTo>
                  <a:lnTo>
                    <a:pt x="176" y="710"/>
                  </a:lnTo>
                  <a:lnTo>
                    <a:pt x="180" y="710"/>
                  </a:lnTo>
                  <a:lnTo>
                    <a:pt x="180" y="710"/>
                  </a:lnTo>
                  <a:lnTo>
                    <a:pt x="186" y="708"/>
                  </a:lnTo>
                  <a:lnTo>
                    <a:pt x="190" y="707"/>
                  </a:lnTo>
                  <a:lnTo>
                    <a:pt x="193" y="704"/>
                  </a:lnTo>
                  <a:lnTo>
                    <a:pt x="195" y="701"/>
                  </a:lnTo>
                  <a:lnTo>
                    <a:pt x="198" y="693"/>
                  </a:lnTo>
                  <a:lnTo>
                    <a:pt x="199" y="686"/>
                  </a:lnTo>
                  <a:lnTo>
                    <a:pt x="199" y="686"/>
                  </a:lnTo>
                  <a:lnTo>
                    <a:pt x="201" y="677"/>
                  </a:lnTo>
                  <a:lnTo>
                    <a:pt x="220" y="366"/>
                  </a:lnTo>
                  <a:lnTo>
                    <a:pt x="236" y="429"/>
                  </a:lnTo>
                  <a:lnTo>
                    <a:pt x="236" y="429"/>
                  </a:lnTo>
                  <a:lnTo>
                    <a:pt x="239" y="438"/>
                  </a:lnTo>
                  <a:lnTo>
                    <a:pt x="243" y="447"/>
                  </a:lnTo>
                  <a:lnTo>
                    <a:pt x="248" y="450"/>
                  </a:lnTo>
                  <a:lnTo>
                    <a:pt x="251" y="452"/>
                  </a:lnTo>
                  <a:lnTo>
                    <a:pt x="255" y="454"/>
                  </a:lnTo>
                  <a:lnTo>
                    <a:pt x="261" y="454"/>
                  </a:lnTo>
                  <a:lnTo>
                    <a:pt x="261" y="454"/>
                  </a:lnTo>
                  <a:lnTo>
                    <a:pt x="265" y="454"/>
                  </a:lnTo>
                  <a:lnTo>
                    <a:pt x="268" y="451"/>
                  </a:lnTo>
                  <a:lnTo>
                    <a:pt x="271" y="448"/>
                  </a:lnTo>
                  <a:lnTo>
                    <a:pt x="274" y="445"/>
                  </a:lnTo>
                  <a:lnTo>
                    <a:pt x="277" y="435"/>
                  </a:lnTo>
                  <a:lnTo>
                    <a:pt x="277" y="426"/>
                  </a:lnTo>
                  <a:lnTo>
                    <a:pt x="277" y="426"/>
                  </a:lnTo>
                  <a:close/>
                </a:path>
              </a:pathLst>
            </a:custGeom>
            <a:solidFill>
              <a:srgbClr val="9537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40" name="Google Shape;740;p74"/>
            <p:cNvSpPr/>
            <p:nvPr/>
          </p:nvSpPr>
          <p:spPr>
            <a:xfrm>
              <a:off x="-790421" y="4942716"/>
              <a:ext cx="558466" cy="398904"/>
            </a:xfrm>
            <a:prstGeom prst="trapezoid">
              <a:avLst>
                <a:gd fmla="val 25000" name="adj"/>
              </a:avLst>
            </a:prstGeom>
            <a:solidFill>
              <a:srgbClr val="9537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grpSp>
      <p:sp>
        <p:nvSpPr>
          <p:cNvPr id="741" name="Google Shape;741;p74"/>
          <p:cNvSpPr/>
          <p:nvPr/>
        </p:nvSpPr>
        <p:spPr>
          <a:xfrm>
            <a:off x="250823" y="1275606"/>
            <a:ext cx="3163271" cy="396000"/>
          </a:xfrm>
          <a:prstGeom prst="round1Rect">
            <a:avLst>
              <a:gd fmla="val 18254" name="adj"/>
            </a:avLst>
          </a:prstGeom>
          <a:solidFill>
            <a:srgbClr val="366092"/>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문화와 여가의 황금기</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5" name="Shape 745"/>
        <p:cNvGrpSpPr/>
        <p:nvPr/>
      </p:nvGrpSpPr>
      <p:grpSpPr>
        <a:xfrm>
          <a:off x="0" y="0"/>
          <a:ext cx="0" cy="0"/>
          <a:chOff x="0" y="0"/>
          <a:chExt cx="0" cy="0"/>
        </a:xfrm>
      </p:grpSpPr>
      <p:sp>
        <p:nvSpPr>
          <p:cNvPr id="746" name="Google Shape;746;p75"/>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47" name="Google Shape;747;p75"/>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48" name="Google Shape;748;p75"/>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6) 산업화 시대의 여가</a:t>
            </a:r>
            <a:endParaRPr/>
          </a:p>
        </p:txBody>
      </p:sp>
      <p:sp>
        <p:nvSpPr>
          <p:cNvPr id="749" name="Google Shape;749;p75"/>
          <p:cNvSpPr/>
          <p:nvPr/>
        </p:nvSpPr>
        <p:spPr>
          <a:xfrm>
            <a:off x="251519" y="1891480"/>
            <a:ext cx="5689353" cy="2192438"/>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50" name="Google Shape;750;p75"/>
          <p:cNvSpPr/>
          <p:nvPr/>
        </p:nvSpPr>
        <p:spPr>
          <a:xfrm>
            <a:off x="395536" y="1970002"/>
            <a:ext cx="5545335" cy="1923604"/>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산업화로인한 도시의 인구집중</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일 지향적인 문화 – 주당 평균 72시간</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사회계층간의 여가 격차 발생</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여가는 부유층과 귀족층의 전유물</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정부의 삶의 질에 대한 개입 시작</a:t>
            </a:r>
            <a:endParaRPr/>
          </a:p>
        </p:txBody>
      </p:sp>
      <p:sp>
        <p:nvSpPr>
          <p:cNvPr id="751" name="Google Shape;751;p75"/>
          <p:cNvSpPr/>
          <p:nvPr/>
        </p:nvSpPr>
        <p:spPr>
          <a:xfrm>
            <a:off x="250824" y="1356394"/>
            <a:ext cx="5690048" cy="396000"/>
          </a:xfrm>
          <a:prstGeom prst="round1Rect">
            <a:avLst>
              <a:gd fmla="val 18254" name="adj"/>
            </a:avLst>
          </a:prstGeom>
          <a:solidFill>
            <a:srgbClr val="E36C09"/>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인구의 집중과 산업혁명으로 인한 여가문제발생</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5" name="Shape 755"/>
        <p:cNvGrpSpPr/>
        <p:nvPr/>
      </p:nvGrpSpPr>
      <p:grpSpPr>
        <a:xfrm>
          <a:off x="0" y="0"/>
          <a:ext cx="0" cy="0"/>
          <a:chOff x="0" y="0"/>
          <a:chExt cx="0" cy="0"/>
        </a:xfrm>
      </p:grpSpPr>
      <p:sp>
        <p:nvSpPr>
          <p:cNvPr id="756" name="Google Shape;756;p76"/>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57" name="Google Shape;757;p76"/>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58" name="Google Shape;758;p76"/>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6) 산업화 시대의 여가</a:t>
            </a:r>
            <a:endParaRPr/>
          </a:p>
        </p:txBody>
      </p:sp>
      <p:sp>
        <p:nvSpPr>
          <p:cNvPr id="759" name="Google Shape;759;p76"/>
          <p:cNvSpPr/>
          <p:nvPr/>
        </p:nvSpPr>
        <p:spPr>
          <a:xfrm>
            <a:off x="235987" y="1275606"/>
            <a:ext cx="8712969" cy="370800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60" name="Google Shape;760;p76"/>
          <p:cNvSpPr txBox="1"/>
          <p:nvPr/>
        </p:nvSpPr>
        <p:spPr>
          <a:xfrm>
            <a:off x="363293" y="1386860"/>
            <a:ext cx="4078816" cy="396000"/>
          </a:xfrm>
          <a:prstGeom prst="rect">
            <a:avLst/>
          </a:prstGeom>
          <a:solidFill>
            <a:srgbClr val="F2F2F2"/>
          </a:solidFill>
          <a:ln>
            <a:noFill/>
          </a:ln>
        </p:spPr>
        <p:txBody>
          <a:bodyPr anchorCtr="0" anchor="ctr" bIns="87550" lIns="175100" spcFirstLastPara="1" rIns="175100" wrap="square" tIns="87550">
            <a:noAutofit/>
          </a:bodyPr>
          <a:lstStyle/>
          <a:p>
            <a:pPr indent="-285750" lvl="0" marL="285750" marR="0" rtl="0" algn="l">
              <a:lnSpc>
                <a:spcPct val="110000"/>
              </a:lnSpc>
              <a:spcBef>
                <a:spcPts val="0"/>
              </a:spcBef>
              <a:spcAft>
                <a:spcPts val="0"/>
              </a:spcAft>
              <a:buClr>
                <a:srgbClr val="C00000"/>
              </a:buClr>
              <a:buSzPts val="1800"/>
              <a:buFont typeface="Noto Sans Symbols"/>
              <a:buChar char="✔"/>
            </a:pPr>
            <a:r>
              <a:rPr b="1" lang="ko-KR" sz="1800">
                <a:solidFill>
                  <a:srgbClr val="0F243E"/>
                </a:solidFill>
                <a:latin typeface="Malgun Gothic"/>
                <a:ea typeface="Malgun Gothic"/>
                <a:cs typeface="Malgun Gothic"/>
                <a:sym typeface="Malgun Gothic"/>
              </a:rPr>
              <a:t>산업혁명으로 인한 여가본질이 변화</a:t>
            </a:r>
            <a:endParaRPr/>
          </a:p>
        </p:txBody>
      </p:sp>
      <p:sp>
        <p:nvSpPr>
          <p:cNvPr id="761" name="Google Shape;761;p76"/>
          <p:cNvSpPr/>
          <p:nvPr/>
        </p:nvSpPr>
        <p:spPr>
          <a:xfrm>
            <a:off x="467544" y="2416939"/>
            <a:ext cx="2520000" cy="2426305"/>
          </a:xfrm>
          <a:prstGeom prst="rect">
            <a:avLst/>
          </a:prstGeom>
          <a:gradFill>
            <a:gsLst>
              <a:gs pos="0">
                <a:srgbClr val="DAFEA4"/>
              </a:gs>
              <a:gs pos="35000">
                <a:srgbClr val="E3FEBF"/>
              </a:gs>
              <a:gs pos="100000">
                <a:srgbClr val="F4FEE6"/>
              </a:gs>
            </a:gsLst>
            <a:lin ang="16200000" scaled="0"/>
          </a:gradFill>
          <a:ln cap="flat" cmpd="sng" w="9525">
            <a:solidFill>
              <a:srgbClr val="97B853"/>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실외, 야외게임참여, </a:t>
            </a:r>
            <a:br>
              <a:rPr b="1" lang="ko-KR" sz="1800">
                <a:solidFill>
                  <a:srgbClr val="242424"/>
                </a:solidFill>
                <a:latin typeface="Malgun Gothic"/>
                <a:ea typeface="Malgun Gothic"/>
                <a:cs typeface="Malgun Gothic"/>
                <a:sym typeface="Malgun Gothic"/>
              </a:rPr>
            </a:br>
            <a:r>
              <a:rPr b="1" lang="ko-KR" sz="1800">
                <a:solidFill>
                  <a:srgbClr val="242424"/>
                </a:solidFill>
                <a:latin typeface="Malgun Gothic"/>
                <a:ea typeface="Malgun Gothic"/>
                <a:cs typeface="Malgun Gothic"/>
                <a:sym typeface="Malgun Gothic"/>
              </a:rPr>
              <a:t>자기의존적 경향,</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비상업적, 심리지향적,</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그룹중심적, 신체중심적,</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좁은 선택의 폭, 자발적,</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일반화된 활동,</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무계급, 지속적</a:t>
            </a:r>
            <a:endParaRPr b="1" sz="1800">
              <a:solidFill>
                <a:srgbClr val="242424"/>
              </a:solidFill>
              <a:latin typeface="Malgun Gothic"/>
              <a:ea typeface="Malgun Gothic"/>
              <a:cs typeface="Malgun Gothic"/>
              <a:sym typeface="Malgun Gothic"/>
            </a:endParaRPr>
          </a:p>
        </p:txBody>
      </p:sp>
      <p:sp>
        <p:nvSpPr>
          <p:cNvPr id="762" name="Google Shape;762;p76"/>
          <p:cNvSpPr txBox="1"/>
          <p:nvPr/>
        </p:nvSpPr>
        <p:spPr>
          <a:xfrm>
            <a:off x="467544" y="2000313"/>
            <a:ext cx="2520000" cy="369332"/>
          </a:xfrm>
          <a:prstGeom prst="rect">
            <a:avLst/>
          </a:prstGeom>
          <a:solidFill>
            <a:srgbClr val="4F6128"/>
          </a:solidFill>
          <a:ln cap="flat" cmpd="sng" w="9525">
            <a:solidFill>
              <a:srgbClr val="45A9C4"/>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800">
                <a:solidFill>
                  <a:schemeClr val="lt1"/>
                </a:solidFill>
                <a:latin typeface="Malgun Gothic"/>
                <a:ea typeface="Malgun Gothic"/>
                <a:cs typeface="Malgun Gothic"/>
                <a:sym typeface="Malgun Gothic"/>
              </a:rPr>
              <a:t>농촌</a:t>
            </a:r>
            <a:endParaRPr/>
          </a:p>
        </p:txBody>
      </p:sp>
      <p:sp>
        <p:nvSpPr>
          <p:cNvPr id="763" name="Google Shape;763;p76"/>
          <p:cNvSpPr/>
          <p:nvPr/>
        </p:nvSpPr>
        <p:spPr>
          <a:xfrm>
            <a:off x="3081711" y="3126035"/>
            <a:ext cx="1324395" cy="1008112"/>
          </a:xfrm>
          <a:prstGeom prst="leftRightArrow">
            <a:avLst>
              <a:gd fmla="val 50000" name="adj1"/>
              <a:gd fmla="val 50000" name="adj2"/>
            </a:avLst>
          </a:prstGeom>
          <a:solidFill>
            <a:schemeClr val="accent6"/>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764" name="Google Shape;764;p76"/>
          <p:cNvSpPr txBox="1"/>
          <p:nvPr/>
        </p:nvSpPr>
        <p:spPr>
          <a:xfrm>
            <a:off x="3236625" y="3445425"/>
            <a:ext cx="100811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800">
                <a:solidFill>
                  <a:schemeClr val="dk1"/>
                </a:solidFill>
                <a:latin typeface="Malgun Gothic"/>
                <a:ea typeface="Malgun Gothic"/>
                <a:cs typeface="Malgun Gothic"/>
                <a:sym typeface="Malgun Gothic"/>
              </a:rPr>
              <a:t>산업화</a:t>
            </a:r>
            <a:endParaRPr/>
          </a:p>
        </p:txBody>
      </p:sp>
      <p:sp>
        <p:nvSpPr>
          <p:cNvPr id="765" name="Google Shape;765;p76"/>
          <p:cNvSpPr/>
          <p:nvPr/>
        </p:nvSpPr>
        <p:spPr>
          <a:xfrm>
            <a:off x="4500272" y="2416939"/>
            <a:ext cx="2520000" cy="2426305"/>
          </a:xfrm>
          <a:prstGeom prst="rect">
            <a:avLst/>
          </a:prstGeom>
          <a:gradFill>
            <a:gsLst>
              <a:gs pos="0">
                <a:srgbClr val="C8B2E9"/>
              </a:gs>
              <a:gs pos="35000">
                <a:srgbClr val="D6CAED"/>
              </a:gs>
              <a:gs pos="100000">
                <a:srgbClr val="EFE8FA"/>
              </a:gs>
            </a:gsLst>
            <a:lin ang="16200000" scaled="0"/>
          </a:gra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실내, 옥내게임관람, </a:t>
            </a:r>
            <a:br>
              <a:rPr b="1" lang="ko-KR" sz="1800">
                <a:solidFill>
                  <a:srgbClr val="242424"/>
                </a:solidFill>
                <a:latin typeface="Malgun Gothic"/>
                <a:ea typeface="Malgun Gothic"/>
                <a:cs typeface="Malgun Gothic"/>
                <a:sym typeface="Malgun Gothic"/>
              </a:rPr>
            </a:br>
            <a:r>
              <a:rPr b="1" lang="ko-KR" sz="1800">
                <a:solidFill>
                  <a:srgbClr val="242424"/>
                </a:solidFill>
                <a:latin typeface="Malgun Gothic"/>
                <a:ea typeface="Malgun Gothic"/>
                <a:cs typeface="Malgun Gothic"/>
                <a:sym typeface="Malgun Gothic"/>
              </a:rPr>
              <a:t>엔터테이너 경향,</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상업적, 문화지향적,</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개인중심적, 정신중심적,</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넓은 선택의 폭, 조직적,</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전문화된 활동,</a:t>
            </a:r>
            <a:endParaRPr/>
          </a:p>
          <a:p>
            <a:pPr indent="0" lvl="0" marL="0" marR="0" rtl="0" algn="ctr">
              <a:lnSpc>
                <a:spcPct val="144444"/>
              </a:lnSpc>
              <a:spcBef>
                <a:spcPts val="0"/>
              </a:spcBef>
              <a:spcAft>
                <a:spcPts val="0"/>
              </a:spcAft>
              <a:buNone/>
            </a:pPr>
            <a:r>
              <a:rPr b="1" lang="ko-KR" sz="1800">
                <a:solidFill>
                  <a:srgbClr val="242424"/>
                </a:solidFill>
                <a:latin typeface="Malgun Gothic"/>
                <a:ea typeface="Malgun Gothic"/>
                <a:cs typeface="Malgun Gothic"/>
                <a:sym typeface="Malgun Gothic"/>
              </a:rPr>
              <a:t>유계급, 일시적</a:t>
            </a:r>
            <a:endParaRPr b="1" sz="1800">
              <a:solidFill>
                <a:srgbClr val="242424"/>
              </a:solidFill>
              <a:latin typeface="Malgun Gothic"/>
              <a:ea typeface="Malgun Gothic"/>
              <a:cs typeface="Malgun Gothic"/>
              <a:sym typeface="Malgun Gothic"/>
            </a:endParaRPr>
          </a:p>
        </p:txBody>
      </p:sp>
      <p:sp>
        <p:nvSpPr>
          <p:cNvPr id="766" name="Google Shape;766;p76"/>
          <p:cNvSpPr txBox="1"/>
          <p:nvPr/>
        </p:nvSpPr>
        <p:spPr>
          <a:xfrm>
            <a:off x="4510216" y="2025026"/>
            <a:ext cx="2520000" cy="369332"/>
          </a:xfrm>
          <a:prstGeom prst="rect">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800">
                <a:solidFill>
                  <a:schemeClr val="lt1"/>
                </a:solidFill>
                <a:latin typeface="Malgun Gothic"/>
                <a:ea typeface="Malgun Gothic"/>
                <a:cs typeface="Malgun Gothic"/>
                <a:sym typeface="Malgun Gothic"/>
              </a:rPr>
              <a:t>농촌</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0" name="Shape 770"/>
        <p:cNvGrpSpPr/>
        <p:nvPr/>
      </p:nvGrpSpPr>
      <p:grpSpPr>
        <a:xfrm>
          <a:off x="0" y="0"/>
          <a:ext cx="0" cy="0"/>
          <a:chOff x="0" y="0"/>
          <a:chExt cx="0" cy="0"/>
        </a:xfrm>
      </p:grpSpPr>
      <p:sp>
        <p:nvSpPr>
          <p:cNvPr id="771" name="Google Shape;771;p77"/>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72" name="Google Shape;772;p77"/>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73" name="Google Shape;773;p77"/>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6) 산업화 시대의 여가</a:t>
            </a:r>
            <a:endParaRPr/>
          </a:p>
        </p:txBody>
      </p:sp>
      <p:sp>
        <p:nvSpPr>
          <p:cNvPr id="774" name="Google Shape;774;p77"/>
          <p:cNvSpPr/>
          <p:nvPr/>
        </p:nvSpPr>
        <p:spPr>
          <a:xfrm>
            <a:off x="251519" y="1747464"/>
            <a:ext cx="5689353" cy="2120430"/>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75" name="Google Shape;775;p77"/>
          <p:cNvSpPr/>
          <p:nvPr/>
        </p:nvSpPr>
        <p:spPr>
          <a:xfrm>
            <a:off x="395536" y="1825986"/>
            <a:ext cx="5545335" cy="1846659"/>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교육과 평등사상의 확산</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유한계급의 문화적 독점이 무너짐</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대중문화욕구 충족을 위한 기업의 대량생산이 시작되어짐</a:t>
            </a:r>
            <a:endParaRPr/>
          </a:p>
          <a:p>
            <a:pPr indent="-185738" lvl="0" marL="185738" marR="0" rtl="0" algn="l">
              <a:lnSpc>
                <a:spcPct val="110000"/>
              </a:lnSpc>
              <a:spcBef>
                <a:spcPts val="6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여가의 대중화 – 대중매체를 통한 여가문화 형성</a:t>
            </a:r>
            <a:endParaRPr/>
          </a:p>
        </p:txBody>
      </p:sp>
      <p:sp>
        <p:nvSpPr>
          <p:cNvPr id="776" name="Google Shape;776;p77"/>
          <p:cNvSpPr/>
          <p:nvPr/>
        </p:nvSpPr>
        <p:spPr>
          <a:xfrm>
            <a:off x="250824" y="1356394"/>
            <a:ext cx="4753224" cy="396000"/>
          </a:xfrm>
          <a:prstGeom prst="round1Rect">
            <a:avLst>
              <a:gd fmla="val 18254" name="adj"/>
            </a:avLst>
          </a:prstGeom>
          <a:solidFill>
            <a:srgbClr val="00B050"/>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후기산업사회에서 여가는 변하기 시작함</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0" name="Shape 780"/>
        <p:cNvGrpSpPr/>
        <p:nvPr/>
      </p:nvGrpSpPr>
      <p:grpSpPr>
        <a:xfrm>
          <a:off x="0" y="0"/>
          <a:ext cx="0" cy="0"/>
          <a:chOff x="0" y="0"/>
          <a:chExt cx="0" cy="0"/>
        </a:xfrm>
      </p:grpSpPr>
      <p:sp>
        <p:nvSpPr>
          <p:cNvPr id="781" name="Google Shape;781;p78"/>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82" name="Google Shape;782;p78"/>
          <p:cNvSpPr/>
          <p:nvPr/>
        </p:nvSpPr>
        <p:spPr>
          <a:xfrm>
            <a:off x="251519" y="1275606"/>
            <a:ext cx="5689353" cy="350094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83" name="Google Shape;783;p78"/>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84" name="Google Shape;784;p78"/>
          <p:cNvSpPr/>
          <p:nvPr/>
        </p:nvSpPr>
        <p:spPr>
          <a:xfrm>
            <a:off x="395536" y="1320162"/>
            <a:ext cx="5400600" cy="1968930"/>
          </a:xfrm>
          <a:prstGeom prst="rect">
            <a:avLst/>
          </a:prstGeom>
          <a:noFill/>
          <a:ln>
            <a:noFill/>
          </a:ln>
        </p:spPr>
        <p:txBody>
          <a:bodyPr anchorCtr="0" anchor="t" bIns="87550" lIns="72000" spcFirstLastPara="1" rIns="72000" wrap="square" tIns="87550">
            <a:noAutofit/>
          </a:bodyPr>
          <a:lstStyle/>
          <a:p>
            <a:pPr indent="-271463" lvl="0" marL="271463" marR="0" rtl="0" algn="l">
              <a:lnSpc>
                <a:spcPct val="120000"/>
              </a:lnSpc>
              <a:spcBef>
                <a:spcPts val="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정보화와 서비스의 창조와 분배 강조</a:t>
            </a:r>
            <a:endParaRPr/>
          </a:p>
          <a:p>
            <a:pPr indent="-271463" lvl="0" marL="271463" marR="0" rtl="0" algn="l">
              <a:lnSpc>
                <a:spcPct val="120000"/>
              </a:lnSpc>
              <a:spcBef>
                <a:spcPts val="120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컴퓨터의 출현과 발달</a:t>
            </a:r>
            <a:endParaRPr/>
          </a:p>
          <a:p>
            <a:pPr indent="-271463" lvl="0" marL="271463" marR="0" rtl="0" algn="l">
              <a:lnSpc>
                <a:spcPct val="120000"/>
              </a:lnSpc>
              <a:spcBef>
                <a:spcPts val="120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인터넷의 발달</a:t>
            </a:r>
            <a:endParaRPr/>
          </a:p>
          <a:p>
            <a:pPr indent="-271463" lvl="0" marL="271463" marR="0" rtl="0" algn="l">
              <a:lnSpc>
                <a:spcPct val="120000"/>
              </a:lnSpc>
              <a:spcBef>
                <a:spcPts val="120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스마트 기기의 발달</a:t>
            </a:r>
            <a:endParaRPr/>
          </a:p>
          <a:p>
            <a:pPr indent="-271463" lvl="0" marL="271463" marR="0" rtl="0" algn="l">
              <a:lnSpc>
                <a:spcPct val="120000"/>
              </a:lnSpc>
              <a:spcBef>
                <a:spcPts val="120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남성 - 주당 35시간 이상의 여가 확보</a:t>
            </a:r>
            <a:endParaRPr/>
          </a:p>
          <a:p>
            <a:pPr indent="-271463" lvl="0" marL="271463" marR="0" rtl="0" algn="l">
              <a:lnSpc>
                <a:spcPct val="120000"/>
              </a:lnSpc>
              <a:spcBef>
                <a:spcPts val="120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여성 – 주당 28시간 이상의 여가 확보</a:t>
            </a:r>
            <a:endParaRPr/>
          </a:p>
          <a:p>
            <a:pPr indent="-271463" lvl="0" marL="271463" marR="0" rtl="0" algn="l">
              <a:lnSpc>
                <a:spcPct val="120000"/>
              </a:lnSpc>
              <a:spcBef>
                <a:spcPts val="1200"/>
              </a:spcBef>
              <a:spcAft>
                <a:spcPts val="0"/>
              </a:spcAft>
              <a:buClr>
                <a:srgbClr val="632423"/>
              </a:buClr>
              <a:buSzPts val="1800"/>
              <a:buFont typeface="Noto Sans Symbols"/>
              <a:buChar char="▪"/>
            </a:pPr>
            <a:r>
              <a:rPr b="1" lang="ko-KR" sz="1800">
                <a:solidFill>
                  <a:srgbClr val="002060"/>
                </a:solidFill>
                <a:latin typeface="Malgun Gothic"/>
                <a:ea typeface="Malgun Gothic"/>
                <a:cs typeface="Malgun Gothic"/>
                <a:sym typeface="Malgun Gothic"/>
              </a:rPr>
              <a:t>그러나 여가에 대한 상대적 박탈감을 가진 시대</a:t>
            </a:r>
            <a:endParaRPr/>
          </a:p>
        </p:txBody>
      </p:sp>
      <p:sp>
        <p:nvSpPr>
          <p:cNvPr id="785" name="Google Shape;785;p78"/>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7) 기술 또는 정보화 시대의 여가</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9" name="Shape 789"/>
        <p:cNvGrpSpPr/>
        <p:nvPr/>
      </p:nvGrpSpPr>
      <p:grpSpPr>
        <a:xfrm>
          <a:off x="0" y="0"/>
          <a:ext cx="0" cy="0"/>
          <a:chOff x="0" y="0"/>
          <a:chExt cx="0" cy="0"/>
        </a:xfrm>
      </p:grpSpPr>
      <p:sp>
        <p:nvSpPr>
          <p:cNvPr id="790" name="Google Shape;790;p79"/>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791" name="Google Shape;791;p79"/>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792" name="Google Shape;792;p79"/>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8) 미래의 여가</a:t>
            </a:r>
            <a:endParaRPr/>
          </a:p>
        </p:txBody>
      </p:sp>
      <p:sp>
        <p:nvSpPr>
          <p:cNvPr id="793" name="Google Shape;793;p79"/>
          <p:cNvSpPr/>
          <p:nvPr/>
        </p:nvSpPr>
        <p:spPr>
          <a:xfrm>
            <a:off x="251519" y="1819472"/>
            <a:ext cx="5689353" cy="2408462"/>
          </a:xfrm>
          <a:prstGeom prst="rect">
            <a:avLst/>
          </a:prstGeom>
          <a:solidFill>
            <a:schemeClr val="lt1"/>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sp>
        <p:nvSpPr>
          <p:cNvPr id="794" name="Google Shape;794;p79"/>
          <p:cNvSpPr/>
          <p:nvPr/>
        </p:nvSpPr>
        <p:spPr>
          <a:xfrm>
            <a:off x="395536" y="1897994"/>
            <a:ext cx="5545335" cy="2077492"/>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1차 산업혁명 – 증기기관 중심</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2차 산업혁명 – 전기 및 내연기관 중심</a:t>
            </a:r>
            <a:br>
              <a:rPr b="1" lang="ko-KR" sz="1800">
                <a:solidFill>
                  <a:srgbClr val="0F243E"/>
                </a:solidFill>
                <a:latin typeface="Malgun Gothic"/>
                <a:ea typeface="Malgun Gothic"/>
                <a:cs typeface="Malgun Gothic"/>
                <a:sym typeface="Malgun Gothic"/>
              </a:rPr>
            </a:br>
            <a:r>
              <a:rPr b="1" lang="ko-KR" sz="1800">
                <a:solidFill>
                  <a:srgbClr val="0F243E"/>
                </a:solidFill>
                <a:latin typeface="Malgun Gothic"/>
                <a:ea typeface="Malgun Gothic"/>
                <a:cs typeface="Malgun Gothic"/>
                <a:sym typeface="Malgun Gothic"/>
              </a:rPr>
              <a:t>(모터, 전화, 전구, 축음기)</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3차 산업혁명 – 디지털혁명 (인터넷 및정보통신기술)</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4차 산업혁명 – 초연결성, 초지능성 중심</a:t>
            </a:r>
            <a:endParaRPr/>
          </a:p>
        </p:txBody>
      </p:sp>
      <p:sp>
        <p:nvSpPr>
          <p:cNvPr id="795" name="Google Shape;795;p79"/>
          <p:cNvSpPr/>
          <p:nvPr/>
        </p:nvSpPr>
        <p:spPr>
          <a:xfrm>
            <a:off x="250824" y="1356394"/>
            <a:ext cx="3385072" cy="396000"/>
          </a:xfrm>
          <a:prstGeom prst="round1Rect">
            <a:avLst>
              <a:gd fmla="val 18254" name="adj"/>
            </a:avLst>
          </a:prstGeom>
          <a:solidFill>
            <a:srgbClr val="31859B"/>
          </a:solidFill>
          <a:ln>
            <a:noFill/>
          </a:ln>
        </p:spPr>
        <p:txBody>
          <a:bodyPr anchorCtr="0" anchor="ctr" bIns="45700" lIns="91425" spcFirstLastPara="1" rIns="91425" wrap="square" tIns="45700">
            <a:noAutofit/>
          </a:bodyPr>
          <a:lstStyle/>
          <a:p>
            <a:pPr indent="-285750" lvl="0" marL="285750" marR="0" rtl="0" algn="l">
              <a:spcBef>
                <a:spcPts val="0"/>
              </a:spcBef>
              <a:spcAft>
                <a:spcPts val="0"/>
              </a:spcAft>
              <a:buClr>
                <a:schemeClr val="lt1"/>
              </a:buClr>
              <a:buSzPts val="1800"/>
              <a:buFont typeface="Noto Sans Symbols"/>
              <a:buChar char="●"/>
            </a:pPr>
            <a:r>
              <a:rPr b="1" lang="ko-KR" sz="1800">
                <a:solidFill>
                  <a:schemeClr val="lt1"/>
                </a:solidFill>
                <a:latin typeface="Malgun Gothic"/>
                <a:ea typeface="Malgun Gothic"/>
                <a:cs typeface="Malgun Gothic"/>
                <a:sym typeface="Malgun Gothic"/>
              </a:rPr>
              <a:t>산업혁명의 역사와 여가</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9" name="Shape 799"/>
        <p:cNvGrpSpPr/>
        <p:nvPr/>
      </p:nvGrpSpPr>
      <p:grpSpPr>
        <a:xfrm>
          <a:off x="0" y="0"/>
          <a:ext cx="0" cy="0"/>
          <a:chOff x="0" y="0"/>
          <a:chExt cx="0" cy="0"/>
        </a:xfrm>
      </p:grpSpPr>
      <p:sp>
        <p:nvSpPr>
          <p:cNvPr id="800" name="Google Shape;800;p80"/>
          <p:cNvSpPr/>
          <p:nvPr/>
        </p:nvSpPr>
        <p:spPr>
          <a:xfrm>
            <a:off x="251519" y="1275606"/>
            <a:ext cx="5689353" cy="3644956"/>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01" name="Google Shape;801;p80"/>
          <p:cNvSpPr/>
          <p:nvPr/>
        </p:nvSpPr>
        <p:spPr>
          <a:xfrm>
            <a:off x="372904" y="1426036"/>
            <a:ext cx="5403029" cy="360000"/>
          </a:xfrm>
          <a:prstGeom prst="round1Rect">
            <a:avLst>
              <a:gd fmla="val 0" name="adj"/>
            </a:avLst>
          </a:prstGeom>
          <a:solidFill>
            <a:srgbClr val="CCC0D9"/>
          </a:solidFill>
          <a:ln>
            <a:noFill/>
          </a:ln>
        </p:spPr>
        <p:txBody>
          <a:bodyPr anchorCtr="0" anchor="ctr" bIns="45700" lIns="91425" spcFirstLastPara="1" rIns="91425" wrap="square" tIns="45700">
            <a:noAutofit/>
          </a:bodyPr>
          <a:lstStyle/>
          <a:p>
            <a:pPr indent="0" lvl="0" marL="266700" marR="0" rtl="0" algn="l">
              <a:spcBef>
                <a:spcPts val="0"/>
              </a:spcBef>
              <a:spcAft>
                <a:spcPts val="0"/>
              </a:spcAft>
              <a:buNone/>
            </a:pPr>
            <a:r>
              <a:rPr b="1" lang="ko-KR" sz="1800">
                <a:solidFill>
                  <a:srgbClr val="242424"/>
                </a:solidFill>
                <a:latin typeface="Malgun Gothic"/>
                <a:ea typeface="Malgun Gothic"/>
                <a:cs typeface="Malgun Gothic"/>
                <a:sym typeface="Malgun Gothic"/>
              </a:rPr>
              <a:t>4차 산업 혁명 의 주요 기술</a:t>
            </a:r>
            <a:endParaRPr/>
          </a:p>
        </p:txBody>
      </p:sp>
      <p:sp>
        <p:nvSpPr>
          <p:cNvPr id="802" name="Google Shape;802;p80"/>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803" name="Google Shape;803;p80"/>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804" name="Google Shape;804;p80"/>
          <p:cNvSpPr/>
          <p:nvPr/>
        </p:nvSpPr>
        <p:spPr>
          <a:xfrm>
            <a:off x="539552" y="1824218"/>
            <a:ext cx="5474047" cy="2973891"/>
          </a:xfrm>
          <a:prstGeom prst="rect">
            <a:avLst/>
          </a:prstGeom>
          <a:noFill/>
          <a:ln>
            <a:noFill/>
          </a:ln>
        </p:spPr>
        <p:txBody>
          <a:bodyPr anchorCtr="0" anchor="t" bIns="45700" lIns="91425" spcFirstLastPara="1" rIns="91425" wrap="square" tIns="45700">
            <a:spAutoFit/>
          </a:bodyPr>
          <a:lstStyle/>
          <a:p>
            <a:pPr indent="-185738" lvl="0" marL="185738" marR="0" rtl="0" algn="l">
              <a:lnSpc>
                <a:spcPct val="110000"/>
              </a:lnSpc>
              <a:spcBef>
                <a:spcPts val="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인공지능</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로봇공학</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사물인터넷 (스마트홈, IoT)</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3D printing</a:t>
            </a:r>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나노기술</a:t>
            </a:r>
            <a:endParaRPr b="1" sz="1800">
              <a:solidFill>
                <a:srgbClr val="0F243E"/>
              </a:solidFill>
              <a:latin typeface="Malgun Gothic"/>
              <a:ea typeface="Malgun Gothic"/>
              <a:cs typeface="Malgun Gothic"/>
              <a:sym typeface="Malgun Gothic"/>
            </a:endParaRPr>
          </a:p>
          <a:p>
            <a:pPr indent="-185738" lvl="0" marL="185738" marR="0" rtl="0" algn="l">
              <a:lnSpc>
                <a:spcPct val="110000"/>
              </a:lnSpc>
              <a:spcBef>
                <a:spcPts val="1200"/>
              </a:spcBef>
              <a:spcAft>
                <a:spcPts val="0"/>
              </a:spcAft>
              <a:buClr>
                <a:srgbClr val="0F243E"/>
              </a:buClr>
              <a:buSzPts val="1800"/>
              <a:buFont typeface="Arial"/>
              <a:buChar char="•"/>
            </a:pPr>
            <a:r>
              <a:rPr b="1" lang="ko-KR" sz="1800">
                <a:solidFill>
                  <a:srgbClr val="0F243E"/>
                </a:solidFill>
                <a:latin typeface="Malgun Gothic"/>
                <a:ea typeface="Malgun Gothic"/>
                <a:cs typeface="Malgun Gothic"/>
                <a:sym typeface="Malgun Gothic"/>
              </a:rPr>
              <a:t>연결 및 표시기술 (증강현실, 가상현실, 5G LTE, Mobile healthcare, UHD-TV)</a:t>
            </a:r>
            <a:endParaRPr/>
          </a:p>
        </p:txBody>
      </p:sp>
      <p:pic>
        <p:nvPicPr>
          <p:cNvPr descr="Z:\180_[KCU]-[2011-2학기 5개 과목]\03.범죄심리학\04_library\00_psd\도식\dt01.png" id="805" name="Google Shape;805;p80"/>
          <p:cNvPicPr preferRelativeResize="0"/>
          <p:nvPr/>
        </p:nvPicPr>
        <p:blipFill rotWithShape="1">
          <a:blip r:embed="rId3">
            <a:alphaModFix/>
          </a:blip>
          <a:srcRect b="0" l="0" r="0" t="0"/>
          <a:stretch/>
        </p:blipFill>
        <p:spPr>
          <a:xfrm>
            <a:off x="413316" y="1479830"/>
            <a:ext cx="241670" cy="252412"/>
          </a:xfrm>
          <a:prstGeom prst="rect">
            <a:avLst/>
          </a:prstGeom>
          <a:noFill/>
          <a:ln>
            <a:noFill/>
          </a:ln>
        </p:spPr>
      </p:pic>
      <p:sp>
        <p:nvSpPr>
          <p:cNvPr id="806" name="Google Shape;806;p80"/>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8) 미래의 여가</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10" name="Shape 810"/>
        <p:cNvGrpSpPr/>
        <p:nvPr/>
      </p:nvGrpSpPr>
      <p:grpSpPr>
        <a:xfrm>
          <a:off x="0" y="0"/>
          <a:ext cx="0" cy="0"/>
          <a:chOff x="0" y="0"/>
          <a:chExt cx="0" cy="0"/>
        </a:xfrm>
      </p:grpSpPr>
      <p:sp>
        <p:nvSpPr>
          <p:cNvPr id="811" name="Google Shape;811;p81"/>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812" name="Google Shape;812;p81"/>
          <p:cNvSpPr/>
          <p:nvPr/>
        </p:nvSpPr>
        <p:spPr>
          <a:xfrm>
            <a:off x="251519" y="1275606"/>
            <a:ext cx="5689353" cy="3644956"/>
          </a:xfrm>
          <a:prstGeom prst="rect">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813" name="Google Shape;813;p81"/>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814" name="Google Shape;814;p81"/>
          <p:cNvSpPr/>
          <p:nvPr/>
        </p:nvSpPr>
        <p:spPr>
          <a:xfrm>
            <a:off x="1268416" y="2016540"/>
            <a:ext cx="4393927" cy="371192"/>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b="1" lang="ko-KR" sz="1800">
                <a:solidFill>
                  <a:srgbClr val="0F243E"/>
                </a:solidFill>
                <a:latin typeface="Malgun Gothic"/>
                <a:ea typeface="Malgun Gothic"/>
                <a:cs typeface="Malgun Gothic"/>
                <a:sym typeface="Malgun Gothic"/>
              </a:rPr>
              <a:t>무엇이 달라질까?</a:t>
            </a:r>
            <a:endParaRPr/>
          </a:p>
        </p:txBody>
      </p:sp>
      <p:pic>
        <p:nvPicPr>
          <p:cNvPr descr="C:\Users\JU\Desktop\새 폴더\2012-03-19_23%3B19%3B32 copy.png" id="815" name="Google Shape;815;p81"/>
          <p:cNvPicPr preferRelativeResize="0"/>
          <p:nvPr/>
        </p:nvPicPr>
        <p:blipFill rotWithShape="1">
          <a:blip r:embed="rId3">
            <a:alphaModFix/>
          </a:blip>
          <a:srcRect b="0" l="0" r="0" t="0"/>
          <a:stretch/>
        </p:blipFill>
        <p:spPr>
          <a:xfrm>
            <a:off x="503671" y="1936445"/>
            <a:ext cx="854521" cy="1139361"/>
          </a:xfrm>
          <a:prstGeom prst="rect">
            <a:avLst/>
          </a:prstGeom>
          <a:noFill/>
          <a:ln>
            <a:noFill/>
          </a:ln>
        </p:spPr>
      </p:pic>
      <p:sp>
        <p:nvSpPr>
          <p:cNvPr id="816" name="Google Shape;816;p81"/>
          <p:cNvSpPr/>
          <p:nvPr/>
        </p:nvSpPr>
        <p:spPr>
          <a:xfrm>
            <a:off x="107504" y="699542"/>
            <a:ext cx="5719912"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8) 미래의 여가</a:t>
            </a:r>
            <a:endParaRPr/>
          </a:p>
        </p:txBody>
      </p:sp>
      <p:sp>
        <p:nvSpPr>
          <p:cNvPr id="817" name="Google Shape;817;p81"/>
          <p:cNvSpPr/>
          <p:nvPr/>
        </p:nvSpPr>
        <p:spPr>
          <a:xfrm>
            <a:off x="372904" y="1426036"/>
            <a:ext cx="5403029" cy="360000"/>
          </a:xfrm>
          <a:prstGeom prst="round1Rect">
            <a:avLst>
              <a:gd fmla="val 0" name="adj"/>
            </a:avLst>
          </a:prstGeom>
          <a:solidFill>
            <a:srgbClr val="CCC0D9"/>
          </a:solidFill>
          <a:ln>
            <a:noFill/>
          </a:ln>
        </p:spPr>
        <p:txBody>
          <a:bodyPr anchorCtr="0" anchor="ctr" bIns="45700" lIns="91425" spcFirstLastPara="1" rIns="91425" wrap="square" tIns="45700">
            <a:noAutofit/>
          </a:bodyPr>
          <a:lstStyle/>
          <a:p>
            <a:pPr indent="0" lvl="0" marL="266700" marR="0" rtl="0" algn="l">
              <a:spcBef>
                <a:spcPts val="0"/>
              </a:spcBef>
              <a:spcAft>
                <a:spcPts val="0"/>
              </a:spcAft>
              <a:buNone/>
            </a:pPr>
            <a:r>
              <a:rPr b="1" lang="ko-KR" sz="1800">
                <a:solidFill>
                  <a:srgbClr val="242424"/>
                </a:solidFill>
                <a:latin typeface="Malgun Gothic"/>
                <a:ea typeface="Malgun Gothic"/>
                <a:cs typeface="Malgun Gothic"/>
                <a:sym typeface="Malgun Gothic"/>
              </a:rPr>
              <a:t>4차 산업 혁명 이후의 여가</a:t>
            </a:r>
            <a:endParaRPr/>
          </a:p>
        </p:txBody>
      </p:sp>
      <p:pic>
        <p:nvPicPr>
          <p:cNvPr descr="Z:\180_[KCU]-[2011-2학기 5개 과목]\03.범죄심리학\04_library\00_psd\도식\dt01.png" id="818" name="Google Shape;818;p81"/>
          <p:cNvPicPr preferRelativeResize="0"/>
          <p:nvPr/>
        </p:nvPicPr>
        <p:blipFill rotWithShape="1">
          <a:blip r:embed="rId4">
            <a:alphaModFix/>
          </a:blip>
          <a:srcRect b="0" l="0" r="0" t="0"/>
          <a:stretch/>
        </p:blipFill>
        <p:spPr>
          <a:xfrm>
            <a:off x="413316" y="1479830"/>
            <a:ext cx="241670" cy="252412"/>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2" name="Shape 822"/>
        <p:cNvGrpSpPr/>
        <p:nvPr/>
      </p:nvGrpSpPr>
      <p:grpSpPr>
        <a:xfrm>
          <a:off x="0" y="0"/>
          <a:ext cx="0" cy="0"/>
          <a:chOff x="0" y="0"/>
          <a:chExt cx="0" cy="0"/>
        </a:xfrm>
      </p:grpSpPr>
      <p:sp>
        <p:nvSpPr>
          <p:cNvPr id="823" name="Google Shape;823;p82"/>
          <p:cNvSpPr/>
          <p:nvPr/>
        </p:nvSpPr>
        <p:spPr>
          <a:xfrm>
            <a:off x="0" y="700259"/>
            <a:ext cx="5938730" cy="432000"/>
          </a:xfrm>
          <a:prstGeom prst="rect">
            <a:avLst/>
          </a:prstGeom>
          <a:solidFill>
            <a:srgbClr val="DAE5F1"/>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171450" lvl="0" marL="285750" marR="0" rtl="0" algn="l">
              <a:lnSpc>
                <a:spcPct val="110000"/>
              </a:lnSpc>
              <a:spcBef>
                <a:spcPts val="0"/>
              </a:spcBef>
              <a:spcAft>
                <a:spcPts val="0"/>
              </a:spcAft>
              <a:buClr>
                <a:schemeClr val="dk1"/>
              </a:buClr>
              <a:buSzPts val="1800"/>
              <a:buFont typeface="Arial"/>
              <a:buNone/>
            </a:pPr>
            <a:r>
              <a:t/>
            </a:r>
            <a:endParaRPr b="1" sz="1800">
              <a:solidFill>
                <a:srgbClr val="004177"/>
              </a:solidFill>
              <a:latin typeface="Malgun Gothic"/>
              <a:ea typeface="Malgun Gothic"/>
              <a:cs typeface="Malgun Gothic"/>
              <a:sym typeface="Malgun Gothic"/>
            </a:endParaRPr>
          </a:p>
        </p:txBody>
      </p:sp>
      <p:sp>
        <p:nvSpPr>
          <p:cNvPr id="824" name="Google Shape;824;p82"/>
          <p:cNvSpPr txBox="1"/>
          <p:nvPr>
            <p:ph type="ctrTitle"/>
          </p:nvPr>
        </p:nvSpPr>
        <p:spPr>
          <a:xfrm>
            <a:off x="35496" y="123478"/>
            <a:ext cx="7631882" cy="432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D1C1C"/>
              </a:buClr>
              <a:buSzPts val="2500"/>
              <a:buFont typeface="Malgun Gothic"/>
              <a:buNone/>
            </a:pPr>
            <a:r>
              <a:rPr lang="ko-KR"/>
              <a:t>1. 여가의 역사적 관점</a:t>
            </a:r>
            <a:endParaRPr/>
          </a:p>
        </p:txBody>
      </p:sp>
      <p:sp>
        <p:nvSpPr>
          <p:cNvPr id="825" name="Google Shape;825;p82"/>
          <p:cNvSpPr/>
          <p:nvPr/>
        </p:nvSpPr>
        <p:spPr>
          <a:xfrm>
            <a:off x="107504" y="699542"/>
            <a:ext cx="5472608" cy="42524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ko-KR" sz="2000">
                <a:solidFill>
                  <a:srgbClr val="08054B"/>
                </a:solidFill>
                <a:latin typeface="Malgun Gothic"/>
                <a:ea typeface="Malgun Gothic"/>
                <a:cs typeface="Malgun Gothic"/>
                <a:sym typeface="Malgun Gothic"/>
              </a:rPr>
              <a:t>8) 미래의 여가</a:t>
            </a:r>
            <a:endParaRPr/>
          </a:p>
        </p:txBody>
      </p:sp>
      <p:sp>
        <p:nvSpPr>
          <p:cNvPr id="826" name="Google Shape;826;p82"/>
          <p:cNvSpPr/>
          <p:nvPr/>
        </p:nvSpPr>
        <p:spPr>
          <a:xfrm>
            <a:off x="251519" y="1275606"/>
            <a:ext cx="8640961" cy="3500940"/>
          </a:xfrm>
          <a:prstGeom prst="rect">
            <a:avLst/>
          </a:prstGeom>
          <a:solidFill>
            <a:schemeClr val="lt1"/>
          </a:solidFill>
          <a:ln cap="flat" cmpd="sng" w="9525">
            <a:solidFill>
              <a:srgbClr val="BFBFBF"/>
            </a:solidFill>
            <a:prstDash val="solid"/>
            <a:round/>
            <a:headEnd len="sm" w="sm" type="none"/>
            <a:tailEnd len="sm" w="sm" type="none"/>
          </a:ln>
          <a:effectLst>
            <a:outerShdw blurRad="114300" rotWithShape="0" algn="t" dir="3000000" dist="63500">
              <a:srgbClr val="000000">
                <a:alpha val="14901"/>
              </a:srgbClr>
            </a:outerShdw>
          </a:effectLst>
        </p:spPr>
        <p:txBody>
          <a:bodyPr anchorCtr="0" anchor="ctr" bIns="45700" lIns="91425" spcFirstLastPara="1" rIns="91425" wrap="square" tIns="45700">
            <a:noAutofit/>
          </a:bodyPr>
          <a:lstStyle/>
          <a:p>
            <a:pPr indent="114300" lvl="0" marL="0" marR="0" rtl="0" algn="ctr">
              <a:lnSpc>
                <a:spcPct val="114000"/>
              </a:lnSpc>
              <a:spcBef>
                <a:spcPts val="0"/>
              </a:spcBef>
              <a:spcAft>
                <a:spcPts val="0"/>
              </a:spcAft>
              <a:buClr>
                <a:schemeClr val="lt1"/>
              </a:buClr>
              <a:buSzPts val="1800"/>
              <a:buFont typeface="Arial"/>
              <a:buNone/>
            </a:pPr>
            <a:r>
              <a:t/>
            </a:r>
            <a:endParaRPr sz="1800">
              <a:solidFill>
                <a:schemeClr val="lt1"/>
              </a:solidFill>
              <a:latin typeface="Malgun Gothic"/>
              <a:ea typeface="Malgun Gothic"/>
              <a:cs typeface="Malgun Gothic"/>
              <a:sym typeface="Malgun Gothic"/>
            </a:endParaRPr>
          </a:p>
        </p:txBody>
      </p:sp>
      <p:pic>
        <p:nvPicPr>
          <p:cNvPr descr="가상현실 게임에 대한 이미지 검색결과" id="827" name="Google Shape;827;p82"/>
          <p:cNvPicPr preferRelativeResize="0"/>
          <p:nvPr/>
        </p:nvPicPr>
        <p:blipFill rotWithShape="1">
          <a:blip r:embed="rId3">
            <a:alphaModFix/>
          </a:blip>
          <a:srcRect b="0" l="0" r="0" t="0"/>
          <a:stretch/>
        </p:blipFill>
        <p:spPr>
          <a:xfrm>
            <a:off x="373210" y="1524774"/>
            <a:ext cx="2982163" cy="2988000"/>
          </a:xfrm>
          <a:prstGeom prst="rect">
            <a:avLst/>
          </a:prstGeom>
          <a:noFill/>
          <a:ln>
            <a:noFill/>
          </a:ln>
        </p:spPr>
      </p:pic>
      <p:pic>
        <p:nvPicPr>
          <p:cNvPr descr="http://www.econovill.com/news/photo/201804/336592_200376_1651.jpg" id="828" name="Google Shape;828;p82"/>
          <p:cNvPicPr preferRelativeResize="0"/>
          <p:nvPr/>
        </p:nvPicPr>
        <p:blipFill rotWithShape="1">
          <a:blip r:embed="rId4">
            <a:alphaModFix/>
          </a:blip>
          <a:srcRect b="0" l="0" r="0" t="0"/>
          <a:stretch/>
        </p:blipFill>
        <p:spPr>
          <a:xfrm>
            <a:off x="3419872" y="1524774"/>
            <a:ext cx="4482000" cy="298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2015-12-23T04:23:14Z</dcterms:created>
  <dc:creator>KCUDNT</dc:creator>
</cp:coreProperties>
</file>